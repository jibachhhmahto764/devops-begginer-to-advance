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1"/>
  </p:sldMasterIdLst>
  <p:sldIdLst>
    <p:sldId id="256" r:id="rId2"/>
    <p:sldId id="257" r:id="rId3"/>
    <p:sldId id="258" r:id="rId4"/>
    <p:sldId id="259" r:id="rId5"/>
    <p:sldId id="260" r:id="rId6"/>
    <p:sldId id="261" r:id="rId7"/>
    <p:sldId id="266" r:id="rId8"/>
    <p:sldId id="262" r:id="rId9"/>
    <p:sldId id="263" r:id="rId10"/>
    <p:sldId id="264" r:id="rId11"/>
    <p:sldId id="265" r:id="rId12"/>
    <p:sldId id="268" r:id="rId13"/>
    <p:sldId id="267" r:id="rId14"/>
    <p:sldId id="269" r:id="rId15"/>
    <p:sldId id="270" r:id="rId16"/>
    <p:sldId id="271" r:id="rId17"/>
    <p:sldId id="272" r:id="rId18"/>
    <p:sldId id="274" r:id="rId19"/>
    <p:sldId id="273"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92" r:id="rId34"/>
    <p:sldId id="293" r:id="rId35"/>
    <p:sldId id="294" r:id="rId36"/>
    <p:sldId id="295" r:id="rId37"/>
    <p:sldId id="297" r:id="rId38"/>
    <p:sldId id="288" r:id="rId39"/>
    <p:sldId id="289" r:id="rId40"/>
    <p:sldId id="290" r:id="rId41"/>
    <p:sldId id="291" r:id="rId42"/>
    <p:sldId id="298" r:id="rId43"/>
    <p:sldId id="299" r:id="rId44"/>
    <p:sldId id="300" r:id="rId45"/>
    <p:sldId id="301" r:id="rId46"/>
    <p:sldId id="302" r:id="rId47"/>
    <p:sldId id="303" r:id="rId48"/>
    <p:sldId id="304" r:id="rId49"/>
    <p:sldId id="305" r:id="rId50"/>
    <p:sldId id="306" r:id="rId5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0E8C47B-BB0C-EFC1-C8D1-F79FEF3E631A}" v="1" dt="2026-04-13T14:22:08.3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5/10/relationships/revisionInfo" Target="revisionInfo.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rishant Maharjan" userId="S::trainer.trishant@broadwayinfosys.edu.np::b07fa52e-3d4f-4886-95bd-6c8d91f6c3f8" providerId="AD" clId="Web-{A0E8C47B-BB0C-EFC1-C8D1-F79FEF3E631A}"/>
    <pc:docChg chg="delSld">
      <pc:chgData name="Trishant Maharjan" userId="S::trainer.trishant@broadwayinfosys.edu.np::b07fa52e-3d4f-4886-95bd-6c8d91f6c3f8" providerId="AD" clId="Web-{A0E8C47B-BB0C-EFC1-C8D1-F79FEF3E631A}" dt="2026-04-13T14:22:08.304" v="0"/>
      <pc:docMkLst>
        <pc:docMk/>
      </pc:docMkLst>
      <pc:sldChg chg="del">
        <pc:chgData name="Trishant Maharjan" userId="S::trainer.trishant@broadwayinfosys.edu.np::b07fa52e-3d4f-4886-95bd-6c8d91f6c3f8" providerId="AD" clId="Web-{A0E8C47B-BB0C-EFC1-C8D1-F79FEF3E631A}" dt="2026-04-13T14:22:08.304" v="0"/>
        <pc:sldMkLst>
          <pc:docMk/>
          <pc:sldMk cId="2436703271" sldId="296"/>
        </pc:sldMkLst>
      </pc:sldChg>
    </pc:docChg>
  </pc:docChgLst>
  <pc:docChgLst>
    <pc:chgData name="Trishant Maharjan" userId="S::trainer.trishant@broadwayinfosys.edu.np::b07fa52e-3d4f-4886-95bd-6c8d91f6c3f8" providerId="AD" clId="Web-{9D918798-E687-64CF-69A1-602E4066F6D7}"/>
    <pc:docChg chg="modSld">
      <pc:chgData name="Trishant Maharjan" userId="S::trainer.trishant@broadwayinfosys.edu.np::b07fa52e-3d4f-4886-95bd-6c8d91f6c3f8" providerId="AD" clId="Web-{9D918798-E687-64CF-69A1-602E4066F6D7}" dt="2026-04-08T15:38:24.619" v="8" actId="20577"/>
      <pc:docMkLst>
        <pc:docMk/>
      </pc:docMkLst>
      <pc:sldChg chg="modSp">
        <pc:chgData name="Trishant Maharjan" userId="S::trainer.trishant@broadwayinfosys.edu.np::b07fa52e-3d4f-4886-95bd-6c8d91f6c3f8" providerId="AD" clId="Web-{9D918798-E687-64CF-69A1-602E4066F6D7}" dt="2026-04-08T15:38:24.619" v="8" actId="20577"/>
        <pc:sldMkLst>
          <pc:docMk/>
          <pc:sldMk cId="851026078" sldId="272"/>
        </pc:sldMkLst>
        <pc:spChg chg="mod">
          <ac:chgData name="Trishant Maharjan" userId="S::trainer.trishant@broadwayinfosys.edu.np::b07fa52e-3d4f-4886-95bd-6c8d91f6c3f8" providerId="AD" clId="Web-{9D918798-E687-64CF-69A1-602E4066F6D7}" dt="2026-04-08T15:38:24.619" v="8" actId="20577"/>
          <ac:spMkLst>
            <pc:docMk/>
            <pc:sldMk cId="851026078" sldId="272"/>
            <ac:spMk id="3" creationId="{8CA58412-D5FB-DBC3-087C-CDD7062515E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8DE6C8-AB1D-4204-BC9C-3366B0BF0435}"/>
              </a:ext>
            </a:extLst>
          </p:cNvPr>
          <p:cNvSpPr>
            <a:spLocks noGrp="1"/>
          </p:cNvSpPr>
          <p:nvPr>
            <p:ph type="ctrTitle"/>
          </p:nvPr>
        </p:nvSpPr>
        <p:spPr>
          <a:xfrm>
            <a:off x="704088" y="889820"/>
            <a:ext cx="9989574" cy="3598606"/>
          </a:xfrm>
        </p:spPr>
        <p:txBody>
          <a:bodyPr anchor="t">
            <a:normAutofit/>
          </a:bodyPr>
          <a:lstStyle>
            <a:lvl1pPr algn="l">
              <a:defRPr sz="5400"/>
            </a:lvl1pPr>
          </a:lstStyle>
          <a:p>
            <a:r>
              <a:rPr lang="en-US"/>
              <a:t>Click to edit Master title style</a:t>
            </a:r>
          </a:p>
        </p:txBody>
      </p:sp>
      <p:sp>
        <p:nvSpPr>
          <p:cNvPr id="3" name="Subtitle 2">
            <a:extLst>
              <a:ext uri="{FF2B5EF4-FFF2-40B4-BE49-F238E27FC236}">
                <a16:creationId xmlns:a16="http://schemas.microsoft.com/office/drawing/2014/main" id="{7A7B9009-EE50-4EE5-B6EB-CD6EC83D3FA3}"/>
              </a:ext>
            </a:extLst>
          </p:cNvPr>
          <p:cNvSpPr>
            <a:spLocks noGrp="1"/>
          </p:cNvSpPr>
          <p:nvPr>
            <p:ph type="subTitle" idx="1"/>
          </p:nvPr>
        </p:nvSpPr>
        <p:spPr>
          <a:xfrm>
            <a:off x="704088" y="4488426"/>
            <a:ext cx="6991776" cy="130277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9C8667E-058A-436F-B8EA-5B3A99D43D09}"/>
              </a:ext>
            </a:extLst>
          </p:cNvPr>
          <p:cNvSpPr>
            <a:spLocks noGrp="1"/>
          </p:cNvSpPr>
          <p:nvPr>
            <p:ph type="dt" sz="half" idx="10"/>
          </p:nvPr>
        </p:nvSpPr>
        <p:spPr/>
        <p:txBody>
          <a:bodyPr/>
          <a:lstStyle/>
          <a:p>
            <a:fld id="{D1D1EADE-8E88-4C7C-8AC5-FB148DE4940E}" type="datetime1">
              <a:rPr lang="en-US" smtClean="0"/>
              <a:t>4/13/2026</a:t>
            </a:fld>
            <a:endParaRPr lang="en-US"/>
          </a:p>
        </p:txBody>
      </p:sp>
      <p:sp>
        <p:nvSpPr>
          <p:cNvPr id="5" name="Footer Placeholder 4">
            <a:extLst>
              <a:ext uri="{FF2B5EF4-FFF2-40B4-BE49-F238E27FC236}">
                <a16:creationId xmlns:a16="http://schemas.microsoft.com/office/drawing/2014/main" id="{52680305-1AD7-482D-BFFD-6CDB83AB39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5762A1-52E9-402D-B65E-DF193E44CE83}"/>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502546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987CA6-BFD9-4CB1-8892-F6B062E824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CDA8C3-9C0C-4E52-9A62-E4DB159E6B0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C3EC35-E02F-41FF-9232-F90692A902FC}"/>
              </a:ext>
            </a:extLst>
          </p:cNvPr>
          <p:cNvSpPr>
            <a:spLocks noGrp="1"/>
          </p:cNvSpPr>
          <p:nvPr>
            <p:ph type="dt" sz="half" idx="10"/>
          </p:nvPr>
        </p:nvSpPr>
        <p:spPr/>
        <p:txBody>
          <a:bodyPr/>
          <a:lstStyle/>
          <a:p>
            <a:fld id="{157B6794-849E-4626-908B-D15793550EFB}" type="datetime1">
              <a:rPr lang="en-US" smtClean="0"/>
              <a:t>4/13/2026</a:t>
            </a:fld>
            <a:endParaRPr lang="en-US"/>
          </a:p>
        </p:txBody>
      </p:sp>
      <p:sp>
        <p:nvSpPr>
          <p:cNvPr id="5" name="Footer Placeholder 4">
            <a:extLst>
              <a:ext uri="{FF2B5EF4-FFF2-40B4-BE49-F238E27FC236}">
                <a16:creationId xmlns:a16="http://schemas.microsoft.com/office/drawing/2014/main" id="{39D13D38-5DF1-443B-8A12-71E834FDC6A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E644A-4A37-4757-9809-5B035E2874E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463878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E6578B-CD85-4BF1-A729-E8E8079B595F}"/>
              </a:ext>
            </a:extLst>
          </p:cNvPr>
          <p:cNvSpPr>
            <a:spLocks noGrp="1"/>
          </p:cNvSpPr>
          <p:nvPr>
            <p:ph type="title"/>
          </p:nvPr>
        </p:nvSpPr>
        <p:spPr>
          <a:xfrm>
            <a:off x="715383" y="1709738"/>
            <a:ext cx="10632067"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58448C1-C13F-4826-8347-EEB00A6643D6}"/>
              </a:ext>
            </a:extLst>
          </p:cNvPr>
          <p:cNvSpPr>
            <a:spLocks noGrp="1"/>
          </p:cNvSpPr>
          <p:nvPr>
            <p:ph type="body" idx="1"/>
          </p:nvPr>
        </p:nvSpPr>
        <p:spPr>
          <a:xfrm>
            <a:off x="715383" y="4589463"/>
            <a:ext cx="10632067"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806546A-957F-4C4D-9744-1177AD258E10}"/>
              </a:ext>
            </a:extLst>
          </p:cNvPr>
          <p:cNvSpPr>
            <a:spLocks noGrp="1"/>
          </p:cNvSpPr>
          <p:nvPr>
            <p:ph type="dt" sz="half" idx="10"/>
          </p:nvPr>
        </p:nvSpPr>
        <p:spPr/>
        <p:txBody>
          <a:bodyPr/>
          <a:lstStyle/>
          <a:p>
            <a:fld id="{63DB64E7-5594-42A3-ADBF-E95A7ACEAD64}" type="datetime1">
              <a:rPr lang="en-US" smtClean="0"/>
              <a:t>4/13/2026</a:t>
            </a:fld>
            <a:endParaRPr lang="en-US"/>
          </a:p>
        </p:txBody>
      </p:sp>
      <p:sp>
        <p:nvSpPr>
          <p:cNvPr id="5" name="Footer Placeholder 4">
            <a:extLst>
              <a:ext uri="{FF2B5EF4-FFF2-40B4-BE49-F238E27FC236}">
                <a16:creationId xmlns:a16="http://schemas.microsoft.com/office/drawing/2014/main" id="{B1DB149C-CC63-4E3A-A83D-EF637EB519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DB94775-7982-41EC-B584-D51224D38F77}"/>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995245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E4BD8-507D-48E4-A624-F16A741C3609}"/>
              </a:ext>
            </a:extLst>
          </p:cNvPr>
          <p:cNvSpPr>
            <a:spLocks noGrp="1"/>
          </p:cNvSpPr>
          <p:nvPr>
            <p:ph type="title"/>
          </p:nvPr>
        </p:nvSpPr>
        <p:spPr>
          <a:xfrm>
            <a:off x="700635" y="914400"/>
            <a:ext cx="10691265" cy="130759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810A07E4-3A39-457C-A059-7DFB6039D947}"/>
              </a:ext>
            </a:extLst>
          </p:cNvPr>
          <p:cNvSpPr>
            <a:spLocks noGrp="1"/>
          </p:cNvSpPr>
          <p:nvPr>
            <p:ph sz="half" idx="1"/>
          </p:nvPr>
        </p:nvSpPr>
        <p:spPr>
          <a:xfrm>
            <a:off x="704088"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B141E17-47CE-4A78-B0FA-0E9786DA67C5}"/>
              </a:ext>
            </a:extLst>
          </p:cNvPr>
          <p:cNvSpPr>
            <a:spLocks noGrp="1"/>
          </p:cNvSpPr>
          <p:nvPr>
            <p:ph sz="half" idx="2"/>
          </p:nvPr>
        </p:nvSpPr>
        <p:spPr>
          <a:xfrm>
            <a:off x="6181344" y="2221992"/>
            <a:ext cx="5212080" cy="373989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F02C13-D3ED-4044-9716-F29D79A184C9}"/>
              </a:ext>
            </a:extLst>
          </p:cNvPr>
          <p:cNvSpPr>
            <a:spLocks noGrp="1"/>
          </p:cNvSpPr>
          <p:nvPr>
            <p:ph type="dt" sz="half" idx="10"/>
          </p:nvPr>
        </p:nvSpPr>
        <p:spPr/>
        <p:txBody>
          <a:bodyPr/>
          <a:lstStyle/>
          <a:p>
            <a:fld id="{18462B0B-D248-4FFB-8695-AD7FA4B1284A}" type="datetime1">
              <a:rPr lang="en-US" smtClean="0"/>
              <a:t>4/13/2026</a:t>
            </a:fld>
            <a:endParaRPr lang="en-US"/>
          </a:p>
        </p:txBody>
      </p:sp>
      <p:sp>
        <p:nvSpPr>
          <p:cNvPr id="6" name="Footer Placeholder 5">
            <a:extLst>
              <a:ext uri="{FF2B5EF4-FFF2-40B4-BE49-F238E27FC236}">
                <a16:creationId xmlns:a16="http://schemas.microsoft.com/office/drawing/2014/main" id="{8AF334AD-FB29-4355-B5CF-85E61B4F340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5AA154-790C-4774-9C21-8C543E733F26}"/>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7759724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07DD35-7673-4F88-86B0-634883B5E345}"/>
              </a:ext>
            </a:extLst>
          </p:cNvPr>
          <p:cNvSpPr>
            <a:spLocks noGrp="1"/>
          </p:cNvSpPr>
          <p:nvPr>
            <p:ph type="title"/>
          </p:nvPr>
        </p:nvSpPr>
        <p:spPr>
          <a:xfrm>
            <a:off x="704087" y="929147"/>
            <a:ext cx="10689336" cy="798451"/>
          </a:xfrm>
        </p:spPr>
        <p:txBody>
          <a:bodyPr/>
          <a:lstStyle/>
          <a:p>
            <a:r>
              <a:rPr lang="en-US"/>
              <a:t>Click to edit Master title style</a:t>
            </a:r>
          </a:p>
        </p:txBody>
      </p:sp>
      <p:sp>
        <p:nvSpPr>
          <p:cNvPr id="3" name="Text Placeholder 2">
            <a:extLst>
              <a:ext uri="{FF2B5EF4-FFF2-40B4-BE49-F238E27FC236}">
                <a16:creationId xmlns:a16="http://schemas.microsoft.com/office/drawing/2014/main" id="{5EC820D7-3E0B-47C6-A583-C4C839C5AF03}"/>
              </a:ext>
            </a:extLst>
          </p:cNvPr>
          <p:cNvSpPr>
            <a:spLocks noGrp="1"/>
          </p:cNvSpPr>
          <p:nvPr>
            <p:ph type="body" idx="1"/>
          </p:nvPr>
        </p:nvSpPr>
        <p:spPr>
          <a:xfrm>
            <a:off x="704088"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A839A7B-97D5-400F-B802-A0FF28FE9F15}"/>
              </a:ext>
            </a:extLst>
          </p:cNvPr>
          <p:cNvSpPr>
            <a:spLocks noGrp="1"/>
          </p:cNvSpPr>
          <p:nvPr>
            <p:ph sz="half" idx="2"/>
          </p:nvPr>
        </p:nvSpPr>
        <p:spPr>
          <a:xfrm>
            <a:off x="704088"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2E0ECA2-DBF1-4681-9DFA-93AFD1B371DB}"/>
              </a:ext>
            </a:extLst>
          </p:cNvPr>
          <p:cNvSpPr>
            <a:spLocks noGrp="1"/>
          </p:cNvSpPr>
          <p:nvPr>
            <p:ph type="body" sz="quarter" idx="3"/>
          </p:nvPr>
        </p:nvSpPr>
        <p:spPr>
          <a:xfrm>
            <a:off x="6181344" y="1756538"/>
            <a:ext cx="5212080" cy="657225"/>
          </a:xfrm>
        </p:spPr>
        <p:txBody>
          <a:bodyPr anchor="b">
            <a:normAutofit/>
          </a:bodyPr>
          <a:lstStyle>
            <a:lvl1pPr marL="0" indent="0">
              <a:buNone/>
              <a:defRPr sz="1600" b="1">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90EBBBB-517F-4ED7-9E51-CF0F7590B4D4}"/>
              </a:ext>
            </a:extLst>
          </p:cNvPr>
          <p:cNvSpPr>
            <a:spLocks noGrp="1"/>
          </p:cNvSpPr>
          <p:nvPr>
            <p:ph sz="quarter" idx="4"/>
          </p:nvPr>
        </p:nvSpPr>
        <p:spPr>
          <a:xfrm>
            <a:off x="6181344" y="2442702"/>
            <a:ext cx="5212080" cy="35191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511B5C7-1E37-478F-B4B0-C7202FFE41B9}"/>
              </a:ext>
            </a:extLst>
          </p:cNvPr>
          <p:cNvSpPr>
            <a:spLocks noGrp="1"/>
          </p:cNvSpPr>
          <p:nvPr>
            <p:ph type="dt" sz="half" idx="10"/>
          </p:nvPr>
        </p:nvSpPr>
        <p:spPr/>
        <p:txBody>
          <a:bodyPr/>
          <a:lstStyle/>
          <a:p>
            <a:fld id="{D0378EFB-9159-4510-B73F-4F0409ADE937}" type="datetime1">
              <a:rPr lang="en-US" smtClean="0"/>
              <a:t>4/13/2026</a:t>
            </a:fld>
            <a:endParaRPr lang="en-US"/>
          </a:p>
        </p:txBody>
      </p:sp>
      <p:sp>
        <p:nvSpPr>
          <p:cNvPr id="8" name="Footer Placeholder 7">
            <a:extLst>
              <a:ext uri="{FF2B5EF4-FFF2-40B4-BE49-F238E27FC236}">
                <a16:creationId xmlns:a16="http://schemas.microsoft.com/office/drawing/2014/main" id="{9153F7EF-507C-4CB3-86C5-8B34FFFC1D8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E3DEA6-E4EB-4C2A-8B4F-55EC965B6219}"/>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48270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032964-A933-4B98-A141-A4B316DAFA9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D684C9D-23DA-42B0-9DD3-7592F72E8DC9}"/>
              </a:ext>
            </a:extLst>
          </p:cNvPr>
          <p:cNvSpPr>
            <a:spLocks noGrp="1"/>
          </p:cNvSpPr>
          <p:nvPr>
            <p:ph type="dt" sz="half" idx="10"/>
          </p:nvPr>
        </p:nvSpPr>
        <p:spPr/>
        <p:txBody>
          <a:bodyPr/>
          <a:lstStyle/>
          <a:p>
            <a:fld id="{89BC9412-2452-4BED-A324-9D8C115361AD}" type="datetime1">
              <a:rPr lang="en-US" smtClean="0"/>
              <a:t>4/13/2026</a:t>
            </a:fld>
            <a:endParaRPr lang="en-US"/>
          </a:p>
        </p:txBody>
      </p:sp>
      <p:sp>
        <p:nvSpPr>
          <p:cNvPr id="4" name="Footer Placeholder 3">
            <a:extLst>
              <a:ext uri="{FF2B5EF4-FFF2-40B4-BE49-F238E27FC236}">
                <a16:creationId xmlns:a16="http://schemas.microsoft.com/office/drawing/2014/main" id="{68BF8F05-876F-49D8-AE30-5BB2A91ECD5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53D20DA-9260-4577-BB51-789570A243A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618974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D2C1F24-E0A1-45A7-8EF5-92CD9799341C}"/>
              </a:ext>
            </a:extLst>
          </p:cNvPr>
          <p:cNvSpPr>
            <a:spLocks noGrp="1"/>
          </p:cNvSpPr>
          <p:nvPr>
            <p:ph type="dt" sz="half" idx="10"/>
          </p:nvPr>
        </p:nvSpPr>
        <p:spPr/>
        <p:txBody>
          <a:bodyPr/>
          <a:lstStyle/>
          <a:p>
            <a:fld id="{F5318F62-D251-40E8-A23C-F4CFE9FEAB41}" type="datetime1">
              <a:rPr lang="en-US" smtClean="0"/>
              <a:t>4/13/2026</a:t>
            </a:fld>
            <a:endParaRPr lang="en-US"/>
          </a:p>
        </p:txBody>
      </p:sp>
      <p:sp>
        <p:nvSpPr>
          <p:cNvPr id="3" name="Footer Placeholder 2">
            <a:extLst>
              <a:ext uri="{FF2B5EF4-FFF2-40B4-BE49-F238E27FC236}">
                <a16:creationId xmlns:a16="http://schemas.microsoft.com/office/drawing/2014/main" id="{3E021C19-210E-46B0-9036-5D8AECC9260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A880FEF-487E-44DF-8615-DF2210419602}"/>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699982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568EE-74C8-43A6-90BC-2DDD965CF64A}"/>
              </a:ext>
            </a:extLst>
          </p:cNvPr>
          <p:cNvSpPr>
            <a:spLocks noGrp="1"/>
          </p:cNvSpPr>
          <p:nvPr>
            <p:ph type="title"/>
          </p:nvPr>
        </p:nvSpPr>
        <p:spPr>
          <a:xfrm>
            <a:off x="704088" y="1069848"/>
            <a:ext cx="4093599" cy="1316736"/>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71C35AC-CAE3-48CF-A3E4-A075C9FDD71B}"/>
              </a:ext>
            </a:extLst>
          </p:cNvPr>
          <p:cNvSpPr>
            <a:spLocks noGrp="1"/>
          </p:cNvSpPr>
          <p:nvPr>
            <p:ph idx="1"/>
          </p:nvPr>
        </p:nvSpPr>
        <p:spPr>
          <a:xfrm>
            <a:off x="5183188" y="1069848"/>
            <a:ext cx="6172200" cy="479120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D9D03EA-5FAD-4609-A2B8-624E426847E3}"/>
              </a:ext>
            </a:extLst>
          </p:cNvPr>
          <p:cNvSpPr>
            <a:spLocks noGrp="1"/>
          </p:cNvSpPr>
          <p:nvPr>
            <p:ph type="body" sz="half" idx="2"/>
          </p:nvPr>
        </p:nvSpPr>
        <p:spPr>
          <a:xfrm>
            <a:off x="704088" y="2551176"/>
            <a:ext cx="4093599" cy="331927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B58D2EA-2191-4216-B64D-067BDFE12375}"/>
              </a:ext>
            </a:extLst>
          </p:cNvPr>
          <p:cNvSpPr>
            <a:spLocks noGrp="1"/>
          </p:cNvSpPr>
          <p:nvPr>
            <p:ph type="dt" sz="half" idx="10"/>
          </p:nvPr>
        </p:nvSpPr>
        <p:spPr/>
        <p:txBody>
          <a:bodyPr/>
          <a:lstStyle/>
          <a:p>
            <a:fld id="{44F76144-149E-4874-93A5-554A0357CF82}" type="datetime1">
              <a:rPr lang="en-US" smtClean="0"/>
              <a:t>4/13/2026</a:t>
            </a:fld>
            <a:endParaRPr lang="en-US"/>
          </a:p>
        </p:txBody>
      </p:sp>
      <p:sp>
        <p:nvSpPr>
          <p:cNvPr id="6" name="Footer Placeholder 5">
            <a:extLst>
              <a:ext uri="{FF2B5EF4-FFF2-40B4-BE49-F238E27FC236}">
                <a16:creationId xmlns:a16="http://schemas.microsoft.com/office/drawing/2014/main" id="{78042128-DAB4-481C-BEE6-3523E8E88B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50E382-C500-4A4C-A7C6-43860383AB91}"/>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340327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9FE98B-EACF-4251-A8AF-0D9EDD17C664}"/>
              </a:ext>
            </a:extLst>
          </p:cNvPr>
          <p:cNvSpPr>
            <a:spLocks noGrp="1"/>
          </p:cNvSpPr>
          <p:nvPr>
            <p:ph type="title"/>
          </p:nvPr>
        </p:nvSpPr>
        <p:spPr>
          <a:xfrm>
            <a:off x="704088" y="1066800"/>
            <a:ext cx="4103431" cy="1317523"/>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905F473-761A-4002-AF70-9FF878D0139E}"/>
              </a:ext>
            </a:extLst>
          </p:cNvPr>
          <p:cNvSpPr>
            <a:spLocks noGrp="1"/>
          </p:cNvSpPr>
          <p:nvPr>
            <p:ph type="pic" idx="1"/>
          </p:nvPr>
        </p:nvSpPr>
        <p:spPr>
          <a:xfrm>
            <a:off x="5183188" y="1066800"/>
            <a:ext cx="6172200" cy="479425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A0C2E6A-F834-4540-BB00-E13CB45DC362}"/>
              </a:ext>
            </a:extLst>
          </p:cNvPr>
          <p:cNvSpPr>
            <a:spLocks noGrp="1"/>
          </p:cNvSpPr>
          <p:nvPr>
            <p:ph type="body" sz="half" idx="2"/>
          </p:nvPr>
        </p:nvSpPr>
        <p:spPr>
          <a:xfrm>
            <a:off x="704088" y="2552700"/>
            <a:ext cx="4103431" cy="33162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C38EAB-AD63-415C-B263-BA1D8FBE3CB0}"/>
              </a:ext>
            </a:extLst>
          </p:cNvPr>
          <p:cNvSpPr>
            <a:spLocks noGrp="1"/>
          </p:cNvSpPr>
          <p:nvPr>
            <p:ph type="dt" sz="half" idx="10"/>
          </p:nvPr>
        </p:nvSpPr>
        <p:spPr/>
        <p:txBody>
          <a:bodyPr/>
          <a:lstStyle/>
          <a:p>
            <a:fld id="{50BA65D8-0540-4835-AE5C-25D29DBA01BE}" type="datetime1">
              <a:rPr lang="en-US" smtClean="0"/>
              <a:t>4/13/2026</a:t>
            </a:fld>
            <a:endParaRPr lang="en-US"/>
          </a:p>
        </p:txBody>
      </p:sp>
      <p:sp>
        <p:nvSpPr>
          <p:cNvPr id="6" name="Footer Placeholder 5">
            <a:extLst>
              <a:ext uri="{FF2B5EF4-FFF2-40B4-BE49-F238E27FC236}">
                <a16:creationId xmlns:a16="http://schemas.microsoft.com/office/drawing/2014/main" id="{422E5541-B6DE-45E8-BCFE-0DFC4F5740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B78D45-289B-46AF-8CB9-E6150BEA17ED}"/>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798794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6359C1-C098-4BF4-A55D-782F4E606B8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343C7E-1E8B-4D38-9B81-1AA2A8978ED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A70B00-53AE-4D3F-91BE-A8D789ED9864}"/>
              </a:ext>
            </a:extLst>
          </p:cNvPr>
          <p:cNvSpPr>
            <a:spLocks noGrp="1"/>
          </p:cNvSpPr>
          <p:nvPr>
            <p:ph type="dt" sz="half" idx="10"/>
          </p:nvPr>
        </p:nvSpPr>
        <p:spPr/>
        <p:txBody>
          <a:bodyPr/>
          <a:lstStyle/>
          <a:p>
            <a:fld id="{EC3C8B9C-477D-492A-96AD-1FC2CC997A73}" type="datetime1">
              <a:rPr lang="en-US" smtClean="0"/>
              <a:t>4/13/2026</a:t>
            </a:fld>
            <a:endParaRPr lang="en-US"/>
          </a:p>
        </p:txBody>
      </p:sp>
      <p:sp>
        <p:nvSpPr>
          <p:cNvPr id="5" name="Footer Placeholder 4">
            <a:extLst>
              <a:ext uri="{FF2B5EF4-FFF2-40B4-BE49-F238E27FC236}">
                <a16:creationId xmlns:a16="http://schemas.microsoft.com/office/drawing/2014/main" id="{06647FC7-8124-4F70-A849-B6BCC5189C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7CEBE4-50DC-47DB-B699-CCC024336C9F}"/>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7149576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B418279-D3B8-4C6A-AB74-9DE377771270}"/>
              </a:ext>
            </a:extLst>
          </p:cNvPr>
          <p:cNvSpPr>
            <a:spLocks noGrp="1"/>
          </p:cNvSpPr>
          <p:nvPr>
            <p:ph type="title" orient="vert"/>
          </p:nvPr>
        </p:nvSpPr>
        <p:spPr>
          <a:xfrm>
            <a:off x="9242322" y="997974"/>
            <a:ext cx="2349043" cy="498495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28F733C-9309-4197-BACA-207CDC8935C9}"/>
              </a:ext>
            </a:extLst>
          </p:cNvPr>
          <p:cNvSpPr>
            <a:spLocks noGrp="1"/>
          </p:cNvSpPr>
          <p:nvPr>
            <p:ph type="body" orient="vert" idx="1"/>
          </p:nvPr>
        </p:nvSpPr>
        <p:spPr>
          <a:xfrm>
            <a:off x="768927" y="997973"/>
            <a:ext cx="8473395" cy="498495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6ACD4D0-5BE6-412D-B08B-5DFFD593513E}"/>
              </a:ext>
            </a:extLst>
          </p:cNvPr>
          <p:cNvSpPr>
            <a:spLocks noGrp="1"/>
          </p:cNvSpPr>
          <p:nvPr>
            <p:ph type="dt" sz="half" idx="10"/>
          </p:nvPr>
        </p:nvSpPr>
        <p:spPr/>
        <p:txBody>
          <a:bodyPr/>
          <a:lstStyle/>
          <a:p>
            <a:fld id="{42D3AED5-E26D-4E29-B1B3-7847B6779594}" type="datetime1">
              <a:rPr lang="en-US" smtClean="0"/>
              <a:t>4/13/2026</a:t>
            </a:fld>
            <a:endParaRPr lang="en-US"/>
          </a:p>
        </p:txBody>
      </p:sp>
      <p:sp>
        <p:nvSpPr>
          <p:cNvPr id="5" name="Footer Placeholder 4">
            <a:extLst>
              <a:ext uri="{FF2B5EF4-FFF2-40B4-BE49-F238E27FC236}">
                <a16:creationId xmlns:a16="http://schemas.microsoft.com/office/drawing/2014/main" id="{55021651-B786-4A39-A10F-F5231D0A2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4504D2D-9379-40DE-9F45-3004BE54F16B}"/>
              </a:ext>
            </a:extLst>
          </p:cNvPr>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054236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A362AC-B59F-4AC7-B279-57DDD5336BCA}"/>
              </a:ext>
            </a:extLst>
          </p:cNvPr>
          <p:cNvSpPr>
            <a:spLocks noGrp="1"/>
          </p:cNvSpPr>
          <p:nvPr>
            <p:ph type="title"/>
          </p:nvPr>
        </p:nvSpPr>
        <p:spPr>
          <a:xfrm>
            <a:off x="700635" y="914400"/>
            <a:ext cx="10691265" cy="1307592"/>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0E6042DB-75BD-4EC1-B6D9-8A72EF940CAA}"/>
              </a:ext>
            </a:extLst>
          </p:cNvPr>
          <p:cNvSpPr>
            <a:spLocks noGrp="1"/>
          </p:cNvSpPr>
          <p:nvPr>
            <p:ph type="body" idx="1"/>
          </p:nvPr>
        </p:nvSpPr>
        <p:spPr>
          <a:xfrm>
            <a:off x="700635" y="2221992"/>
            <a:ext cx="10691265" cy="373989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DD1378-7C96-4079-B44C-3D86B4657596}"/>
              </a:ext>
            </a:extLst>
          </p:cNvPr>
          <p:cNvSpPr>
            <a:spLocks noGrp="1"/>
          </p:cNvSpPr>
          <p:nvPr>
            <p:ph type="dt" sz="half" idx="2"/>
          </p:nvPr>
        </p:nvSpPr>
        <p:spPr>
          <a:xfrm>
            <a:off x="8369448" y="6356350"/>
            <a:ext cx="2549564" cy="365125"/>
          </a:xfrm>
          <a:prstGeom prst="rect">
            <a:avLst/>
          </a:prstGeom>
        </p:spPr>
        <p:txBody>
          <a:bodyPr vert="horz" lIns="91440" tIns="45720" rIns="91440" bIns="45720" rtlCol="0" anchor="ctr"/>
          <a:lstStyle>
            <a:lvl1pPr algn="r">
              <a:defRPr sz="1050">
                <a:solidFill>
                  <a:schemeClr val="tx1"/>
                </a:solidFill>
                <a:latin typeface="+mj-lt"/>
              </a:defRPr>
            </a:lvl1pPr>
          </a:lstStyle>
          <a:p>
            <a:fld id="{E31BA835-12AC-4E8F-955A-EA3F4DE2791F}" type="datetime1">
              <a:rPr lang="en-US" smtClean="0"/>
              <a:t>4/13/2026</a:t>
            </a:fld>
            <a:endParaRPr lang="en-US"/>
          </a:p>
        </p:txBody>
      </p:sp>
      <p:sp>
        <p:nvSpPr>
          <p:cNvPr id="5" name="Footer Placeholder 4">
            <a:extLst>
              <a:ext uri="{FF2B5EF4-FFF2-40B4-BE49-F238E27FC236}">
                <a16:creationId xmlns:a16="http://schemas.microsoft.com/office/drawing/2014/main" id="{D19B6B78-577F-43F5-BAEE-BF72484C9850}"/>
              </a:ext>
            </a:extLst>
          </p:cNvPr>
          <p:cNvSpPr>
            <a:spLocks noGrp="1"/>
          </p:cNvSpPr>
          <p:nvPr>
            <p:ph type="ftr" sz="quarter" idx="3"/>
          </p:nvPr>
        </p:nvSpPr>
        <p:spPr>
          <a:xfrm>
            <a:off x="704088" y="6356350"/>
            <a:ext cx="4539727" cy="365125"/>
          </a:xfrm>
          <a:prstGeom prst="rect">
            <a:avLst/>
          </a:prstGeom>
        </p:spPr>
        <p:txBody>
          <a:bodyPr vert="horz" lIns="91440" tIns="45720" rIns="91440" bIns="45720" rtlCol="0" anchor="ctr"/>
          <a:lstStyle>
            <a:lvl1pPr algn="l">
              <a:defRPr sz="1050">
                <a:solidFill>
                  <a:schemeClr val="tx1"/>
                </a:solidFill>
                <a:latin typeface="+mj-lt"/>
              </a:defRPr>
            </a:lvl1pPr>
          </a:lstStyle>
          <a:p>
            <a:endParaRPr lang="en-US"/>
          </a:p>
        </p:txBody>
      </p:sp>
      <p:sp>
        <p:nvSpPr>
          <p:cNvPr id="6" name="Slide Number Placeholder 5">
            <a:extLst>
              <a:ext uri="{FF2B5EF4-FFF2-40B4-BE49-F238E27FC236}">
                <a16:creationId xmlns:a16="http://schemas.microsoft.com/office/drawing/2014/main" id="{A8CC75B8-AF8F-4D8A-9B3D-D1951A64BADB}"/>
              </a:ext>
            </a:extLst>
          </p:cNvPr>
          <p:cNvSpPr>
            <a:spLocks noGrp="1"/>
          </p:cNvSpPr>
          <p:nvPr>
            <p:ph type="sldNum" sz="quarter" idx="4"/>
          </p:nvPr>
        </p:nvSpPr>
        <p:spPr>
          <a:xfrm>
            <a:off x="10919012" y="6356350"/>
            <a:ext cx="672354" cy="365125"/>
          </a:xfrm>
          <a:prstGeom prst="rect">
            <a:avLst/>
          </a:prstGeom>
        </p:spPr>
        <p:txBody>
          <a:bodyPr vert="horz" lIns="91440" tIns="45720" rIns="91440" bIns="45720" rtlCol="0" anchor="ctr"/>
          <a:lstStyle>
            <a:lvl1pPr algn="r">
              <a:defRPr sz="1800">
                <a:solidFill>
                  <a:schemeClr val="tx1"/>
                </a:solidFill>
              </a:defRPr>
            </a:lvl1pPr>
          </a:lstStyle>
          <a:p>
            <a:fld id="{87E7843D-FF13-4365-9478-9625B70A2705}" type="slidenum">
              <a:rPr lang="en-US" smtClean="0"/>
              <a:t>‹#›</a:t>
            </a:fld>
            <a:endParaRPr lang="en-US"/>
          </a:p>
        </p:txBody>
      </p:sp>
      <p:cxnSp>
        <p:nvCxnSpPr>
          <p:cNvPr id="7" name="Straight Connector 6">
            <a:extLst>
              <a:ext uri="{FF2B5EF4-FFF2-40B4-BE49-F238E27FC236}">
                <a16:creationId xmlns:a16="http://schemas.microsoft.com/office/drawing/2014/main" id="{F64F9B95-9045-48D2-B9F3-2927E98F54AA}"/>
              </a:ext>
            </a:extLst>
          </p:cNvPr>
          <p:cNvCxnSpPr>
            <a:cxnSpLocks/>
          </p:cNvCxnSpPr>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085AA86F-6A4D-4BCB-A045-D992CDC2959B}"/>
              </a:ext>
            </a:extLst>
          </p:cNvPr>
          <p:cNvCxnSpPr>
            <a:cxnSpLocks/>
          </p:cNvCxnSpPr>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282038"/>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hf sldNum="0" hdr="0" ftr="0" dt="0"/>
  <p:txStyles>
    <p:titleStyle>
      <a:lvl1pPr algn="l" defTabSz="914400" rtl="0" eaLnBrk="1" latinLnBrk="0" hangingPunct="1">
        <a:lnSpc>
          <a:spcPct val="100000"/>
        </a:lnSpc>
        <a:spcBef>
          <a:spcPct val="0"/>
        </a:spcBef>
        <a:buNone/>
        <a:defRPr sz="4000" kern="1200" cap="all" spc="30" baseline="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20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eeksforgeeks.org/linux-unix/what-are-linux-distributions/" TargetMode="External"/><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hyperlink" Target="https://crontab.guru/"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03400" y="871758"/>
            <a:ext cx="5227171" cy="3871143"/>
          </a:xfrm>
        </p:spPr>
        <p:txBody>
          <a:bodyPr>
            <a:normAutofit/>
          </a:bodyPr>
          <a:lstStyle/>
          <a:p>
            <a:r>
              <a:rPr lang="en-US"/>
              <a:t>Linux Fundamentals</a:t>
            </a:r>
          </a:p>
        </p:txBody>
      </p:sp>
      <p:sp>
        <p:nvSpPr>
          <p:cNvPr id="3" name="Subtitle 2"/>
          <p:cNvSpPr>
            <a:spLocks noGrp="1"/>
          </p:cNvSpPr>
          <p:nvPr>
            <p:ph type="subTitle" idx="1"/>
          </p:nvPr>
        </p:nvSpPr>
        <p:spPr>
          <a:xfrm>
            <a:off x="721688" y="4785543"/>
            <a:ext cx="4857857" cy="1005657"/>
          </a:xfrm>
        </p:spPr>
        <p:txBody>
          <a:bodyPr vert="horz" lIns="91440" tIns="45720" rIns="91440" bIns="45720" rtlCol="0">
            <a:normAutofit/>
          </a:bodyPr>
          <a:lstStyle/>
          <a:p>
            <a:r>
              <a:rPr lang="en-US" err="1"/>
              <a:t>Trishant</a:t>
            </a:r>
            <a:r>
              <a:rPr lang="en-US"/>
              <a:t> Maharjan</a:t>
            </a:r>
          </a:p>
        </p:txBody>
      </p:sp>
      <p:cxnSp>
        <p:nvCxnSpPr>
          <p:cNvPr id="16" name="Straight Connector 15">
            <a:extLst>
              <a:ext uri="{FF2B5EF4-FFF2-40B4-BE49-F238E27FC236}">
                <a16:creationId xmlns:a16="http://schemas.microsoft.com/office/drawing/2014/main" id="{EE2E603F-4A95-4FE8-BB06-211DFD75DBE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49149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D7CC41EB-2D81-4303-9171-6401B388BA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4914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8" name="Picture 17" descr="101010 data lines to infinity">
            <a:extLst>
              <a:ext uri="{FF2B5EF4-FFF2-40B4-BE49-F238E27FC236}">
                <a16:creationId xmlns:a16="http://schemas.microsoft.com/office/drawing/2014/main" id="{EF1800D9-04AA-0A69-D53F-C611F6464F8C}"/>
              </a:ext>
            </a:extLst>
          </p:cNvPr>
          <p:cNvPicPr>
            <a:picLocks noChangeAspect="1"/>
          </p:cNvPicPr>
          <p:nvPr/>
        </p:nvPicPr>
        <p:blipFill>
          <a:blip r:embed="rId2"/>
          <a:srcRect l="25117" r="21330" b="3"/>
          <a:stretch>
            <a:fillRect/>
          </a:stretch>
        </p:blipFill>
        <p:spPr>
          <a:xfrm>
            <a:off x="6515100" y="10"/>
            <a:ext cx="5676900" cy="6857990"/>
          </a:xfrm>
          <a:prstGeom prst="rect">
            <a:avLst/>
          </a:prstGeom>
        </p:spPr>
      </p:pic>
    </p:spTree>
    <p:extLst>
      <p:ext uri="{BB962C8B-B14F-4D97-AF65-F5344CB8AC3E}">
        <p14:creationId xmlns:p14="http://schemas.microsoft.com/office/powerpoint/2010/main" val="109857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B188B-2F70-CCBC-20DA-515EC35C16FD}"/>
              </a:ext>
            </a:extLst>
          </p:cNvPr>
          <p:cNvSpPr>
            <a:spLocks noGrp="1"/>
          </p:cNvSpPr>
          <p:nvPr>
            <p:ph type="title"/>
          </p:nvPr>
        </p:nvSpPr>
        <p:spPr/>
        <p:txBody>
          <a:bodyPr/>
          <a:lstStyle/>
          <a:p>
            <a:r>
              <a:rPr lang="en-US"/>
              <a:t>Operating System</a:t>
            </a:r>
          </a:p>
        </p:txBody>
      </p:sp>
      <p:sp>
        <p:nvSpPr>
          <p:cNvPr id="3" name="Content Placeholder 2">
            <a:extLst>
              <a:ext uri="{FF2B5EF4-FFF2-40B4-BE49-F238E27FC236}">
                <a16:creationId xmlns:a16="http://schemas.microsoft.com/office/drawing/2014/main" id="{478087C0-AA52-E98F-DFDC-2925DB93CEF4}"/>
              </a:ext>
            </a:extLst>
          </p:cNvPr>
          <p:cNvSpPr>
            <a:spLocks noGrp="1"/>
          </p:cNvSpPr>
          <p:nvPr>
            <p:ph idx="1"/>
          </p:nvPr>
        </p:nvSpPr>
        <p:spPr/>
        <p:txBody>
          <a:bodyPr vert="horz" lIns="91440" tIns="45720" rIns="91440" bIns="45720" rtlCol="0" anchor="t">
            <a:normAutofit/>
          </a:bodyPr>
          <a:lstStyle/>
          <a:p>
            <a:r>
              <a:rPr lang="en-US">
                <a:ea typeface="+mn-lt"/>
                <a:cs typeface="+mn-lt"/>
              </a:rPr>
              <a:t>Collection of software that manages a computer's hardware and applications by allocating resources, including memory, CPU, input/output devices and file storage.</a:t>
            </a:r>
            <a:endParaRPr lang="en-US"/>
          </a:p>
        </p:txBody>
      </p:sp>
    </p:spTree>
    <p:extLst>
      <p:ext uri="{BB962C8B-B14F-4D97-AF65-F5344CB8AC3E}">
        <p14:creationId xmlns:p14="http://schemas.microsoft.com/office/powerpoint/2010/main" val="11617633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5855D-DE71-A46C-EF2B-673F916125CE}"/>
              </a:ext>
            </a:extLst>
          </p:cNvPr>
          <p:cNvSpPr>
            <a:spLocks noGrp="1"/>
          </p:cNvSpPr>
          <p:nvPr>
            <p:ph type="title"/>
          </p:nvPr>
        </p:nvSpPr>
        <p:spPr/>
        <p:txBody>
          <a:bodyPr/>
          <a:lstStyle/>
          <a:p>
            <a:r>
              <a:rPr lang="en-US"/>
              <a:t>Linux operating system</a:t>
            </a:r>
          </a:p>
        </p:txBody>
      </p:sp>
      <p:sp>
        <p:nvSpPr>
          <p:cNvPr id="3" name="Content Placeholder 2">
            <a:extLst>
              <a:ext uri="{FF2B5EF4-FFF2-40B4-BE49-F238E27FC236}">
                <a16:creationId xmlns:a16="http://schemas.microsoft.com/office/drawing/2014/main" id="{E6E2B57D-EFE6-CBCF-B211-5BA375EF0102}"/>
              </a:ext>
            </a:extLst>
          </p:cNvPr>
          <p:cNvSpPr>
            <a:spLocks noGrp="1"/>
          </p:cNvSpPr>
          <p:nvPr>
            <p:ph idx="1"/>
          </p:nvPr>
        </p:nvSpPr>
        <p:spPr/>
        <p:txBody>
          <a:bodyPr vert="horz" lIns="91440" tIns="45720" rIns="91440" bIns="45720" rtlCol="0" anchor="t">
            <a:normAutofit/>
          </a:bodyPr>
          <a:lstStyle/>
          <a:p>
            <a:r>
              <a:rPr lang="en-US">
                <a:ea typeface="+mn-lt"/>
                <a:cs typeface="+mn-lt"/>
              </a:rPr>
              <a:t>Linux is based on the UNIX operating system. UNIX is a powerful, multi-user, multitasking operating system originally developed in the 1970s at AT&amp;T Bell Labs. It laid the foundation for many modern operating systems, including Linux.</a:t>
            </a:r>
            <a:endParaRPr lang="en-US"/>
          </a:p>
          <a:p>
            <a:r>
              <a:rPr lang="en-US">
                <a:ea typeface="+mn-lt"/>
                <a:cs typeface="+mn-lt"/>
              </a:rPr>
              <a:t>Linux is free and open-source, accessible to everyone.</a:t>
            </a:r>
            <a:endParaRPr lang="en-US"/>
          </a:p>
          <a:p>
            <a:r>
              <a:rPr lang="en-US">
                <a:ea typeface="+mn-lt"/>
                <a:cs typeface="+mn-lt"/>
              </a:rPr>
              <a:t>This promotes global collaboration and innovation.</a:t>
            </a:r>
            <a:endParaRPr lang="en-US"/>
          </a:p>
          <a:p>
            <a:r>
              <a:rPr lang="en-US">
                <a:ea typeface="+mn-lt"/>
                <a:cs typeface="+mn-lt"/>
              </a:rPr>
              <a:t>Linux offers efficient performance and strong security.</a:t>
            </a:r>
            <a:endParaRPr lang="en-US"/>
          </a:p>
          <a:p>
            <a:r>
              <a:rPr lang="en-US">
                <a:ea typeface="+mn-lt"/>
                <a:cs typeface="+mn-lt"/>
              </a:rPr>
              <a:t>It works well across many devices and industries.</a:t>
            </a:r>
            <a:endParaRPr lang="en-US"/>
          </a:p>
        </p:txBody>
      </p:sp>
    </p:spTree>
    <p:extLst>
      <p:ext uri="{BB962C8B-B14F-4D97-AF65-F5344CB8AC3E}">
        <p14:creationId xmlns:p14="http://schemas.microsoft.com/office/powerpoint/2010/main" val="25613261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4B198-290F-ED6E-2842-88BB3632597F}"/>
              </a:ext>
            </a:extLst>
          </p:cNvPr>
          <p:cNvSpPr>
            <a:spLocks noGrp="1"/>
          </p:cNvSpPr>
          <p:nvPr>
            <p:ph type="title"/>
          </p:nvPr>
        </p:nvSpPr>
        <p:spPr/>
        <p:txBody>
          <a:bodyPr/>
          <a:lstStyle/>
          <a:p>
            <a:r>
              <a:rPr lang="en-US"/>
              <a:t>Linux distributions</a:t>
            </a:r>
          </a:p>
        </p:txBody>
      </p:sp>
      <p:sp>
        <p:nvSpPr>
          <p:cNvPr id="3" name="Content Placeholder 2">
            <a:extLst>
              <a:ext uri="{FF2B5EF4-FFF2-40B4-BE49-F238E27FC236}">
                <a16:creationId xmlns:a16="http://schemas.microsoft.com/office/drawing/2014/main" id="{6C659B24-C94E-7F35-7A64-3C1F71C42699}"/>
              </a:ext>
            </a:extLst>
          </p:cNvPr>
          <p:cNvSpPr>
            <a:spLocks noGrp="1"/>
          </p:cNvSpPr>
          <p:nvPr>
            <p:ph idx="1"/>
          </p:nvPr>
        </p:nvSpPr>
        <p:spPr/>
        <p:txBody>
          <a:bodyPr vert="horz" lIns="91440" tIns="45720" rIns="91440" bIns="45720" rtlCol="0" anchor="t">
            <a:normAutofit/>
          </a:bodyPr>
          <a:lstStyle/>
          <a:p>
            <a:r>
              <a:rPr lang="en-US">
                <a:ea typeface="+mn-lt"/>
                <a:cs typeface="+mn-lt"/>
              </a:rPr>
              <a:t>A Linux distribution is an operating system built on the Linux kernel, bundled with essential software, tools, and package managers, customized to serve different users like developers, enterprises, cybersecurity professionals, and general users.</a:t>
            </a:r>
            <a:endParaRPr lang="en-US"/>
          </a:p>
          <a:p>
            <a:r>
              <a:rPr lang="en-US">
                <a:ea typeface="+mn-lt"/>
                <a:cs typeface="+mn-lt"/>
              </a:rPr>
              <a:t>Includes the Linux kernel, system tools, package manager, and optional desktop environment.</a:t>
            </a:r>
            <a:endParaRPr lang="en-US"/>
          </a:p>
          <a:p>
            <a:r>
              <a:rPr lang="en-US">
                <a:ea typeface="+mn-lt"/>
                <a:cs typeface="+mn-lt"/>
              </a:rPr>
              <a:t>Comes with pre-installed tools, reducing manual setup.</a:t>
            </a:r>
            <a:endParaRPr lang="en-US"/>
          </a:p>
          <a:p>
            <a:r>
              <a:rPr lang="en-US">
                <a:ea typeface="+mn-lt"/>
                <a:cs typeface="+mn-lt"/>
              </a:rPr>
              <a:t>Built for different purposes like hacking, servers, development, or desktop use.</a:t>
            </a:r>
            <a:endParaRPr lang="en-US"/>
          </a:p>
          <a:p>
            <a:r>
              <a:rPr lang="en-US">
                <a:ea typeface="+mn-lt"/>
                <a:cs typeface="+mn-lt"/>
              </a:rPr>
              <a:t>Offers flexibility and customization based on user needs.</a:t>
            </a:r>
            <a:endParaRPr lang="en-US"/>
          </a:p>
        </p:txBody>
      </p:sp>
    </p:spTree>
    <p:extLst>
      <p:ext uri="{BB962C8B-B14F-4D97-AF65-F5344CB8AC3E}">
        <p14:creationId xmlns:p14="http://schemas.microsoft.com/office/powerpoint/2010/main" val="228299774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22" name="Straight Connector 21">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8C048611-791A-466A-A5C1-B0415D43DD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ABE7C0B-A2D9-4202-A524-532DA2E2D5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1EB68332-A40D-D32D-1B59-E428BD20D89E}"/>
              </a:ext>
            </a:extLst>
          </p:cNvPr>
          <p:cNvPicPr>
            <a:picLocks noChangeAspect="1"/>
          </p:cNvPicPr>
          <p:nvPr/>
        </p:nvPicPr>
        <p:blipFill>
          <a:blip r:embed="rId2"/>
          <a:srcRect l="522" r="9699" b="-1"/>
          <a:stretch>
            <a:fillRect/>
          </a:stretch>
        </p:blipFill>
        <p:spPr>
          <a:xfrm>
            <a:off x="387478" y="10"/>
            <a:ext cx="11404150" cy="5721449"/>
          </a:xfrm>
          <a:prstGeom prst="rect">
            <a:avLst/>
          </a:prstGeom>
        </p:spPr>
      </p:pic>
      <p:cxnSp>
        <p:nvCxnSpPr>
          <p:cNvPr id="26" name="Straight Connector 25">
            <a:extLst>
              <a:ext uri="{FF2B5EF4-FFF2-40B4-BE49-F238E27FC236}">
                <a16:creationId xmlns:a16="http://schemas.microsoft.com/office/drawing/2014/main" id="{DD0E884A-93C9-44E4-842F-5B6C251F8C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476" y="723900"/>
            <a:ext cx="10610474" cy="0"/>
          </a:xfrm>
          <a:prstGeom prst="line">
            <a:avLst/>
          </a:prstGeom>
          <a:ln w="44450">
            <a:solidFill>
              <a:srgbClr val="FFFFFF"/>
            </a:solidFill>
          </a:ln>
          <a:effectLst>
            <a:outerShdw blurRad="50800" dist="25400" dir="2700000" sx="99000" sy="99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10EB31C-CD53-48C2-A9BE-DFB0681AE3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34100"/>
            <a:ext cx="10591800" cy="0"/>
          </a:xfrm>
          <a:prstGeom prst="line">
            <a:avLst/>
          </a:prstGeom>
          <a:ln w="12700">
            <a:solidFill>
              <a:srgbClr val="FFFFFF"/>
            </a:solidFill>
          </a:ln>
          <a:effectLst>
            <a:outerShdw blurRad="50800" dist="25400" dir="2700000" sx="99000" sy="99000" algn="tl" rotWithShape="0">
              <a:prstClr val="black">
                <a:alpha val="2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AAB5F415-A680-0AD0-B019-45552CDF7478}"/>
              </a:ext>
            </a:extLst>
          </p:cNvPr>
          <p:cNvSpPr txBox="1"/>
          <p:nvPr/>
        </p:nvSpPr>
        <p:spPr>
          <a:xfrm>
            <a:off x="3665510" y="5705402"/>
            <a:ext cx="48422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Source: </a:t>
            </a:r>
            <a:r>
              <a:rPr lang="en-US">
                <a:ea typeface="+mn-lt"/>
                <a:cs typeface="+mn-lt"/>
                <a:hlinkClick r:id="rId3"/>
              </a:rPr>
              <a:t>Linux Distributions - GeeksforGeeks</a:t>
            </a:r>
            <a:endParaRPr lang="en-US"/>
          </a:p>
        </p:txBody>
      </p:sp>
    </p:spTree>
    <p:extLst>
      <p:ext uri="{BB962C8B-B14F-4D97-AF65-F5344CB8AC3E}">
        <p14:creationId xmlns:p14="http://schemas.microsoft.com/office/powerpoint/2010/main" val="24024182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8E7D0-15E5-85DF-7C86-C6F6491CBB65}"/>
              </a:ext>
            </a:extLst>
          </p:cNvPr>
          <p:cNvSpPr>
            <a:spLocks noGrp="1"/>
          </p:cNvSpPr>
          <p:nvPr>
            <p:ph type="title"/>
          </p:nvPr>
        </p:nvSpPr>
        <p:spPr/>
        <p:txBody>
          <a:bodyPr>
            <a:normAutofit fontScale="90000"/>
          </a:bodyPr>
          <a:lstStyle/>
          <a:p>
            <a:r>
              <a:rPr lang="en-US">
                <a:ea typeface="+mj-lt"/>
                <a:cs typeface="+mj-lt"/>
              </a:rPr>
              <a:t>Comparison of Linux / Windows Operating systems</a:t>
            </a:r>
            <a:endParaRPr lang="en-US"/>
          </a:p>
        </p:txBody>
      </p:sp>
      <p:graphicFrame>
        <p:nvGraphicFramePr>
          <p:cNvPr id="5" name="Content Placeholder 4">
            <a:extLst>
              <a:ext uri="{FF2B5EF4-FFF2-40B4-BE49-F238E27FC236}">
                <a16:creationId xmlns:a16="http://schemas.microsoft.com/office/drawing/2014/main" id="{5ABF4713-1462-3B8B-4279-38DD745815DE}"/>
              </a:ext>
            </a:extLst>
          </p:cNvPr>
          <p:cNvGraphicFramePr>
            <a:graphicFrameLocks noGrp="1"/>
          </p:cNvGraphicFramePr>
          <p:nvPr>
            <p:ph idx="1"/>
            <p:extLst>
              <p:ext uri="{D42A27DB-BD31-4B8C-83A1-F6EECF244321}">
                <p14:modId xmlns:p14="http://schemas.microsoft.com/office/powerpoint/2010/main" val="4094643182"/>
              </p:ext>
            </p:extLst>
          </p:nvPr>
        </p:nvGraphicFramePr>
        <p:xfrm>
          <a:off x="700088" y="2222500"/>
          <a:ext cx="10691811" cy="2595880"/>
        </p:xfrm>
        <a:graphic>
          <a:graphicData uri="http://schemas.openxmlformats.org/drawingml/2006/table">
            <a:tbl>
              <a:tblPr firstRow="1" bandRow="1">
                <a:tableStyleId>{5C22544A-7EE6-4342-B048-85BDC9FD1C3A}</a:tableStyleId>
              </a:tblPr>
              <a:tblGrid>
                <a:gridCol w="3563937">
                  <a:extLst>
                    <a:ext uri="{9D8B030D-6E8A-4147-A177-3AD203B41FA5}">
                      <a16:colId xmlns:a16="http://schemas.microsoft.com/office/drawing/2014/main" val="3165841913"/>
                    </a:ext>
                  </a:extLst>
                </a:gridCol>
                <a:gridCol w="3563937">
                  <a:extLst>
                    <a:ext uri="{9D8B030D-6E8A-4147-A177-3AD203B41FA5}">
                      <a16:colId xmlns:a16="http://schemas.microsoft.com/office/drawing/2014/main" val="3764648820"/>
                    </a:ext>
                  </a:extLst>
                </a:gridCol>
                <a:gridCol w="3563937">
                  <a:extLst>
                    <a:ext uri="{9D8B030D-6E8A-4147-A177-3AD203B41FA5}">
                      <a16:colId xmlns:a16="http://schemas.microsoft.com/office/drawing/2014/main" val="177024481"/>
                    </a:ext>
                  </a:extLst>
                </a:gridCol>
              </a:tblGrid>
              <a:tr h="370840">
                <a:tc>
                  <a:txBody>
                    <a:bodyPr/>
                    <a:lstStyle/>
                    <a:p>
                      <a:pPr lvl="0">
                        <a:buNone/>
                      </a:pPr>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533580295"/>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81477933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44282066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25159620"/>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72004991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657538898"/>
                  </a:ext>
                </a:extLst>
              </a:tr>
              <a:tr h="370840">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615774262"/>
                  </a:ext>
                </a:extLst>
              </a:tr>
            </a:tbl>
          </a:graphicData>
        </a:graphic>
      </p:graphicFrame>
      <p:graphicFrame>
        <p:nvGraphicFramePr>
          <p:cNvPr id="7" name="Table 6">
            <a:extLst>
              <a:ext uri="{FF2B5EF4-FFF2-40B4-BE49-F238E27FC236}">
                <a16:creationId xmlns:a16="http://schemas.microsoft.com/office/drawing/2014/main" id="{F047B00F-2053-F4BF-68F9-7F688B3EF5B5}"/>
              </a:ext>
            </a:extLst>
          </p:cNvPr>
          <p:cNvGraphicFramePr>
            <a:graphicFrameLocks noGrp="1"/>
          </p:cNvGraphicFramePr>
          <p:nvPr>
            <p:extLst>
              <p:ext uri="{D42A27DB-BD31-4B8C-83A1-F6EECF244321}">
                <p14:modId xmlns:p14="http://schemas.microsoft.com/office/powerpoint/2010/main" val="2643484752"/>
              </p:ext>
            </p:extLst>
          </p:nvPr>
        </p:nvGraphicFramePr>
        <p:xfrm>
          <a:off x="0" y="140970"/>
          <a:ext cx="12191994" cy="6427382"/>
        </p:xfrm>
        <a:graphic>
          <a:graphicData uri="http://schemas.openxmlformats.org/drawingml/2006/table">
            <a:tbl>
              <a:tblPr bandRow="1">
                <a:tableStyleId>{5C22544A-7EE6-4342-B048-85BDC9FD1C3A}</a:tableStyleId>
              </a:tblPr>
              <a:tblGrid>
                <a:gridCol w="1065768">
                  <a:extLst>
                    <a:ext uri="{9D8B030D-6E8A-4147-A177-3AD203B41FA5}">
                      <a16:colId xmlns:a16="http://schemas.microsoft.com/office/drawing/2014/main" val="2553824098"/>
                    </a:ext>
                  </a:extLst>
                </a:gridCol>
                <a:gridCol w="5406081">
                  <a:extLst>
                    <a:ext uri="{9D8B030D-6E8A-4147-A177-3AD203B41FA5}">
                      <a16:colId xmlns:a16="http://schemas.microsoft.com/office/drawing/2014/main" val="839442865"/>
                    </a:ext>
                  </a:extLst>
                </a:gridCol>
                <a:gridCol w="5720145">
                  <a:extLst>
                    <a:ext uri="{9D8B030D-6E8A-4147-A177-3AD203B41FA5}">
                      <a16:colId xmlns:a16="http://schemas.microsoft.com/office/drawing/2014/main" val="2878937963"/>
                    </a:ext>
                  </a:extLst>
                </a:gridCol>
              </a:tblGrid>
              <a:tr h="363596">
                <a:tc>
                  <a:txBody>
                    <a:bodyPr/>
                    <a:lstStyle/>
                    <a:p>
                      <a:pPr algn="ctr" fontAlgn="base">
                        <a:buNone/>
                      </a:pPr>
                      <a:r>
                        <a:rPr lang="en-US" sz="1400" b="1">
                          <a:effectLst/>
                        </a:rPr>
                        <a:t>S. No</a:t>
                      </a:r>
                    </a:p>
                  </a:txBody>
                  <a:tcPr marL="38100" marR="3810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a:effectLst/>
                        </a:rPr>
                        <a:t>Linux</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buNone/>
                      </a:pPr>
                      <a:r>
                        <a:rPr lang="en-US" sz="1400" b="1">
                          <a:effectLst/>
                        </a:rPr>
                        <a:t>Windows</a:t>
                      </a:r>
                    </a:p>
                  </a:txBody>
                  <a:tcPr marL="95250" marR="95250" marT="95250" marB="952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57527013"/>
                  </a:ext>
                </a:extLst>
              </a:tr>
              <a:tr h="405548">
                <a:tc>
                  <a:txBody>
                    <a:bodyPr/>
                    <a:lstStyle/>
                    <a:p>
                      <a:pPr algn="ctr" fontAlgn="ctr">
                        <a:buNone/>
                      </a:pPr>
                      <a:r>
                        <a:rPr lang="en-US" sz="1250" b="0">
                          <a:effectLst/>
                        </a:rPr>
                        <a:t>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Linux is an </a:t>
                      </a:r>
                      <a:r>
                        <a:rPr lang="en-US" sz="1250" b="1">
                          <a:effectLst/>
                        </a:rPr>
                        <a:t>open-source</a:t>
                      </a:r>
                      <a:r>
                        <a:rPr lang="en-US" sz="1250" b="0">
                          <a:effectLst/>
                        </a:rPr>
                        <a:t> operating system.</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Windows is </a:t>
                      </a:r>
                      <a:r>
                        <a:rPr lang="en-US" sz="1250" b="1">
                          <a:effectLst/>
                        </a:rPr>
                        <a:t>not</a:t>
                      </a:r>
                      <a:r>
                        <a:rPr lang="en-US" sz="1250" b="0">
                          <a:effectLst/>
                        </a:rPr>
                        <a:t> an open-source operating system.</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0059586"/>
                  </a:ext>
                </a:extLst>
              </a:tr>
              <a:tr h="405548">
                <a:tc>
                  <a:txBody>
                    <a:bodyPr/>
                    <a:lstStyle/>
                    <a:p>
                      <a:pPr algn="ctr" fontAlgn="ctr">
                        <a:buNone/>
                      </a:pPr>
                      <a:r>
                        <a:rPr lang="en-US" sz="1250" b="0">
                          <a:effectLst/>
                        </a:rPr>
                        <a:t>2.</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Linux is </a:t>
                      </a:r>
                      <a:r>
                        <a:rPr lang="en-US" sz="1250" b="1">
                          <a:effectLst/>
                        </a:rPr>
                        <a:t>free of cost</a:t>
                      </a:r>
                      <a:r>
                        <a:rPr lang="en-US" sz="1250" b="0">
                          <a:effectLst/>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Windows is </a:t>
                      </a:r>
                      <a:r>
                        <a:rPr lang="en-US" sz="1250" b="1">
                          <a:effectLst/>
                        </a:rPr>
                        <a:t>paid</a:t>
                      </a:r>
                      <a:r>
                        <a:rPr lang="en-US" sz="1250" b="0">
                          <a:effectLst/>
                        </a:rPr>
                        <a:t> and requires a license.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39702771"/>
                  </a:ext>
                </a:extLst>
              </a:tr>
              <a:tr h="587345">
                <a:tc>
                  <a:txBody>
                    <a:bodyPr/>
                    <a:lstStyle/>
                    <a:p>
                      <a:pPr algn="ctr" fontAlgn="ctr">
                        <a:buNone/>
                      </a:pPr>
                      <a:r>
                        <a:rPr lang="en-US" sz="1250" b="0">
                          <a:effectLst/>
                        </a:rPr>
                        <a:t>3.</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File names are case-sensitive</a:t>
                      </a:r>
                      <a:r>
                        <a:rPr lang="en-US" sz="1250" b="0">
                          <a:effectLst/>
                        </a:rPr>
                        <a:t>, meaning </a:t>
                      </a:r>
                      <a:r>
                        <a:rPr lang="en-US" sz="1100" b="0">
                          <a:effectLst/>
                          <a:latin typeface="Courier New"/>
                        </a:rPr>
                        <a:t>file.txt</a:t>
                      </a:r>
                      <a:r>
                        <a:rPr lang="en-US" sz="1250" b="0">
                          <a:effectLst/>
                        </a:rPr>
                        <a:t> and </a:t>
                      </a:r>
                      <a:r>
                        <a:rPr lang="en-US" sz="1100" b="0">
                          <a:effectLst/>
                          <a:latin typeface="Courier New"/>
                        </a:rPr>
                        <a:t>File.txt</a:t>
                      </a:r>
                      <a:r>
                        <a:rPr lang="en-US" sz="1250" b="0">
                          <a:effectLst/>
                        </a:rPr>
                        <a:t> are different.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File names are case-insensitive</a:t>
                      </a:r>
                      <a:r>
                        <a:rPr lang="en-US" sz="1250" b="0">
                          <a:effectLst/>
                        </a:rPr>
                        <a:t>, meaning </a:t>
                      </a:r>
                      <a:r>
                        <a:rPr lang="en-US" sz="1100" b="0">
                          <a:effectLst/>
                          <a:latin typeface="Courier New"/>
                        </a:rPr>
                        <a:t>file.txt</a:t>
                      </a:r>
                      <a:r>
                        <a:rPr lang="en-US" sz="1250" b="0">
                          <a:effectLst/>
                        </a:rPr>
                        <a:t> and </a:t>
                      </a:r>
                      <a:r>
                        <a:rPr lang="en-US" sz="1100" b="0">
                          <a:effectLst/>
                          <a:latin typeface="Courier New"/>
                        </a:rPr>
                        <a:t>File.txt</a:t>
                      </a:r>
                      <a:r>
                        <a:rPr lang="en-US" sz="1250" b="0">
                          <a:effectLst/>
                        </a:rPr>
                        <a:t> are treated the same.</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237300011"/>
                  </a:ext>
                </a:extLst>
              </a:tr>
              <a:tr h="405548">
                <a:tc>
                  <a:txBody>
                    <a:bodyPr/>
                    <a:lstStyle/>
                    <a:p>
                      <a:pPr algn="ctr" fontAlgn="ctr">
                        <a:buNone/>
                      </a:pPr>
                      <a:r>
                        <a:rPr lang="en-US" sz="1250" b="0">
                          <a:effectLst/>
                        </a:rPr>
                        <a:t>4.</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Uses a </a:t>
                      </a:r>
                      <a:r>
                        <a:rPr lang="en-US" sz="1250" b="1">
                          <a:effectLst/>
                        </a:rPr>
                        <a:t>monolithic kernel</a:t>
                      </a:r>
                      <a:r>
                        <a:rPr lang="en-US" sz="1250" b="0">
                          <a:effectLst/>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Uses a </a:t>
                      </a:r>
                      <a:r>
                        <a:rPr lang="en-US" sz="1250" b="1">
                          <a:effectLst/>
                        </a:rPr>
                        <a:t>hybrid kernel</a:t>
                      </a:r>
                      <a:r>
                        <a:rPr lang="en-US" sz="1250" b="0">
                          <a:effectLst/>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3632857784"/>
                  </a:ext>
                </a:extLst>
              </a:tr>
              <a:tr h="573361">
                <a:tc>
                  <a:txBody>
                    <a:bodyPr/>
                    <a:lstStyle/>
                    <a:p>
                      <a:pPr algn="ctr" fontAlgn="ctr">
                        <a:buNone/>
                      </a:pPr>
                      <a:r>
                        <a:rPr lang="en-US" sz="1250" b="0">
                          <a:effectLst/>
                        </a:rPr>
                        <a:t>5.</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More efficient and stable</a:t>
                      </a:r>
                      <a:r>
                        <a:rPr lang="en-US" sz="1250" b="0">
                          <a:effectLst/>
                        </a:rPr>
                        <a:t>, especially for servers and developers.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Less efficient</a:t>
                      </a:r>
                      <a:r>
                        <a:rPr lang="en-US" sz="1250" b="0">
                          <a:effectLst/>
                        </a:rPr>
                        <a:t> due to resource-intensive processes.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09375525"/>
                  </a:ext>
                </a:extLst>
              </a:tr>
              <a:tr h="419533">
                <a:tc>
                  <a:txBody>
                    <a:bodyPr/>
                    <a:lstStyle/>
                    <a:p>
                      <a:pPr algn="ctr" fontAlgn="ctr">
                        <a:buNone/>
                      </a:pPr>
                      <a:r>
                        <a:rPr lang="en-US" sz="1250" b="0">
                          <a:effectLst/>
                        </a:rPr>
                        <a:t>6.</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Uses </a:t>
                      </a:r>
                      <a:r>
                        <a:rPr lang="en-US" sz="1250" b="1">
                          <a:effectLst/>
                        </a:rPr>
                        <a:t>forward slash (</a:t>
                      </a:r>
                      <a:r>
                        <a:rPr lang="en-US" sz="1100" b="1">
                          <a:effectLst/>
                          <a:latin typeface="Courier New"/>
                        </a:rPr>
                        <a:t>/</a:t>
                      </a:r>
                      <a:r>
                        <a:rPr lang="en-US" sz="1250" b="1">
                          <a:effectLst/>
                        </a:rPr>
                        <a:t>)</a:t>
                      </a:r>
                      <a:r>
                        <a:rPr lang="en-US" sz="1250" b="0">
                          <a:effectLst/>
                        </a:rPr>
                        <a:t> for directory separation.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Uses </a:t>
                      </a:r>
                      <a:r>
                        <a:rPr lang="en-US" sz="1250" b="1">
                          <a:effectLst/>
                        </a:rPr>
                        <a:t>backslash (</a:t>
                      </a:r>
                      <a:r>
                        <a:rPr lang="en-US" sz="1100" b="1">
                          <a:effectLst/>
                          <a:latin typeface="Courier New"/>
                        </a:rPr>
                        <a:t>\</a:t>
                      </a:r>
                      <a:r>
                        <a:rPr lang="en-US" sz="1250" b="1">
                          <a:effectLst/>
                        </a:rPr>
                        <a:t>)</a:t>
                      </a:r>
                      <a:r>
                        <a:rPr lang="en-US" sz="1250" b="0">
                          <a:effectLst/>
                        </a:rPr>
                        <a:t> for directory separation.</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2947988002"/>
                  </a:ext>
                </a:extLst>
              </a:tr>
              <a:tr h="573361">
                <a:tc>
                  <a:txBody>
                    <a:bodyPr/>
                    <a:lstStyle/>
                    <a:p>
                      <a:pPr algn="ctr" fontAlgn="ctr">
                        <a:buNone/>
                      </a:pPr>
                      <a:r>
                        <a:rPr lang="en-US" sz="1250" b="0">
                          <a:effectLst/>
                        </a:rPr>
                        <a:t>7.</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More secure</a:t>
                      </a:r>
                      <a:r>
                        <a:rPr lang="en-US" sz="1250" b="0">
                          <a:effectLst/>
                        </a:rPr>
                        <a:t> with better user control and fewer vulnerabilities.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Less secure</a:t>
                      </a:r>
                      <a:r>
                        <a:rPr lang="en-US" sz="1250" b="0">
                          <a:effectLst/>
                        </a:rPr>
                        <a:t> due to higher susceptibility to malware and viruses.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19381182"/>
                  </a:ext>
                </a:extLst>
              </a:tr>
              <a:tr h="573361">
                <a:tc>
                  <a:txBody>
                    <a:bodyPr/>
                    <a:lstStyle/>
                    <a:p>
                      <a:pPr algn="ctr" fontAlgn="ctr">
                        <a:buNone/>
                      </a:pPr>
                      <a:r>
                        <a:rPr lang="en-US" sz="1250" b="0">
                          <a:effectLst/>
                        </a:rPr>
                        <a:t>8.</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Preferred by </a:t>
                      </a:r>
                      <a:r>
                        <a:rPr lang="en-US" sz="1250" b="1">
                          <a:effectLst/>
                        </a:rPr>
                        <a:t>hackers and security experts</a:t>
                      </a:r>
                      <a:r>
                        <a:rPr lang="en-US" sz="1250" b="0">
                          <a:effectLst/>
                        </a:rPr>
                        <a:t> due to its open-source nature and control.</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Not widely used for hacking</a:t>
                      </a:r>
                      <a:r>
                        <a:rPr lang="en-US" sz="1250" b="0">
                          <a:effectLst/>
                        </a:rPr>
                        <a:t> as it lacks built-in security tools.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988732179"/>
                  </a:ext>
                </a:extLst>
              </a:tr>
              <a:tr h="573361">
                <a:tc>
                  <a:txBody>
                    <a:bodyPr/>
                    <a:lstStyle/>
                    <a:p>
                      <a:pPr algn="ctr" fontAlgn="ctr">
                        <a:buNone/>
                      </a:pPr>
                      <a:r>
                        <a:rPr lang="en-US" sz="1250" b="0">
                          <a:effectLst/>
                        </a:rPr>
                        <a:t>9.</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Has </a:t>
                      </a:r>
                      <a:r>
                        <a:rPr lang="en-US" sz="1250" b="1">
                          <a:effectLst/>
                        </a:rPr>
                        <a:t>3 types of user accounts</a:t>
                      </a:r>
                      <a:r>
                        <a:rPr lang="en-US" sz="1250" b="0">
                          <a:effectLst/>
                        </a:rPr>
                        <a:t>: (1) Regular, (2) Root, (3) Service Account.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Has </a:t>
                      </a:r>
                      <a:r>
                        <a:rPr lang="en-US" sz="1250" b="1">
                          <a:effectLst/>
                        </a:rPr>
                        <a:t>4 types of user accounts</a:t>
                      </a:r>
                      <a:r>
                        <a:rPr lang="en-US" sz="1250" b="0">
                          <a:effectLst/>
                        </a:rPr>
                        <a:t>: (1) Administrator, (2) Standard, (3) Child, (4) Guest.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875276864"/>
                  </a:ext>
                </a:extLst>
              </a:tr>
              <a:tr h="405548">
                <a:tc>
                  <a:txBody>
                    <a:bodyPr/>
                    <a:lstStyle/>
                    <a:p>
                      <a:pPr algn="ctr" fontAlgn="ctr">
                        <a:buNone/>
                      </a:pPr>
                      <a:r>
                        <a:rPr lang="en-US" sz="1250" b="0">
                          <a:effectLst/>
                        </a:rPr>
                        <a:t>10.</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Root user</a:t>
                      </a:r>
                      <a:r>
                        <a:rPr lang="en-US" sz="1250" b="0">
                          <a:effectLst/>
                        </a:rPr>
                        <a:t> has all administrative privileges.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1">
                          <a:effectLst/>
                        </a:rPr>
                        <a:t>Administrator user</a:t>
                      </a:r>
                      <a:r>
                        <a:rPr lang="en-US" sz="1250" b="0">
                          <a:effectLst/>
                        </a:rPr>
                        <a:t> has all administrative privileges.</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552435233"/>
                  </a:ext>
                </a:extLst>
              </a:tr>
              <a:tr h="587345">
                <a:tc>
                  <a:txBody>
                    <a:bodyPr/>
                    <a:lstStyle/>
                    <a:p>
                      <a:pPr algn="ctr" fontAlgn="ctr">
                        <a:buNone/>
                      </a:pPr>
                      <a:r>
                        <a:rPr lang="en-US" sz="1250" b="0">
                          <a:effectLst/>
                        </a:rPr>
                        <a:t>11.</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In Linux, you </a:t>
                      </a:r>
                      <a:r>
                        <a:rPr lang="en-US" sz="1250" b="1">
                          <a:effectLst/>
                        </a:rPr>
                        <a:t>can have two files with the same name</a:t>
                      </a:r>
                      <a:r>
                        <a:rPr lang="en-US" sz="1250" b="0">
                          <a:effectLst/>
                        </a:rPr>
                        <a:t> but different cases (</a:t>
                      </a:r>
                      <a:r>
                        <a:rPr lang="en-US" sz="1100" b="0">
                          <a:effectLst/>
                          <a:latin typeface="Courier New"/>
                        </a:rPr>
                        <a:t>File.txt</a:t>
                      </a:r>
                      <a:r>
                        <a:rPr lang="en-US" sz="1250" b="0">
                          <a:effectLst/>
                        </a:rPr>
                        <a:t> and </a:t>
                      </a:r>
                      <a:r>
                        <a:rPr lang="en-US" sz="1100" b="0">
                          <a:effectLst/>
                          <a:latin typeface="Courier New"/>
                        </a:rPr>
                        <a:t>file.txt</a:t>
                      </a:r>
                      <a:r>
                        <a:rPr lang="en-US" sz="1250" b="0">
                          <a:effectLst/>
                        </a:rPr>
                        <a:t>).</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tc>
                  <a:txBody>
                    <a:bodyPr/>
                    <a:lstStyle/>
                    <a:p>
                      <a:pPr algn="ctr" fontAlgn="ctr">
                        <a:buNone/>
                      </a:pPr>
                      <a:r>
                        <a:rPr lang="en-US" sz="1250" b="0">
                          <a:effectLst/>
                        </a:rPr>
                        <a:t>In Windows, </a:t>
                      </a:r>
                      <a:r>
                        <a:rPr lang="en-US" sz="1250" b="1">
                          <a:effectLst/>
                        </a:rPr>
                        <a:t>you cannot have two files with the same name</a:t>
                      </a:r>
                      <a:r>
                        <a:rPr lang="en-US" sz="1250" b="0">
                          <a:effectLst/>
                        </a:rPr>
                        <a:t> in the same folder.</a:t>
                      </a:r>
                    </a:p>
                  </a:txBody>
                  <a:tcPr marL="95250" marR="95250" marT="133350" marB="133350"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FFFFF"/>
                    </a:solidFill>
                  </a:tcPr>
                </a:tc>
                <a:extLst>
                  <a:ext uri="{0D108BD9-81ED-4DB2-BD59-A6C34878D82A}">
                    <a16:rowId xmlns:a16="http://schemas.microsoft.com/office/drawing/2014/main" val="1002488972"/>
                  </a:ext>
                </a:extLst>
              </a:tr>
            </a:tbl>
          </a:graphicData>
        </a:graphic>
      </p:graphicFrame>
    </p:spTree>
    <p:extLst>
      <p:ext uri="{BB962C8B-B14F-4D97-AF65-F5344CB8AC3E}">
        <p14:creationId xmlns:p14="http://schemas.microsoft.com/office/powerpoint/2010/main" val="26927395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93F92F-3537-9242-BD2F-0C257A12A7BC}"/>
              </a:ext>
            </a:extLst>
          </p:cNvPr>
          <p:cNvSpPr>
            <a:spLocks noGrp="1"/>
          </p:cNvSpPr>
          <p:nvPr>
            <p:ph type="title"/>
          </p:nvPr>
        </p:nvSpPr>
        <p:spPr/>
        <p:txBody>
          <a:bodyPr/>
          <a:lstStyle/>
          <a:p>
            <a:r>
              <a:rPr lang="en-US"/>
              <a:t>Install </a:t>
            </a:r>
            <a:r>
              <a:rPr lang="en-US" err="1"/>
              <a:t>linux</a:t>
            </a:r>
            <a:r>
              <a:rPr lang="en-US"/>
              <a:t> </a:t>
            </a:r>
            <a:r>
              <a:rPr lang="en-US" err="1"/>
              <a:t>os</a:t>
            </a:r>
            <a:endParaRPr lang="en-US"/>
          </a:p>
        </p:txBody>
      </p:sp>
      <p:sp>
        <p:nvSpPr>
          <p:cNvPr id="3" name="Content Placeholder 2">
            <a:extLst>
              <a:ext uri="{FF2B5EF4-FFF2-40B4-BE49-F238E27FC236}">
                <a16:creationId xmlns:a16="http://schemas.microsoft.com/office/drawing/2014/main" id="{0849D995-E57E-E078-A96A-CDAB04035911}"/>
              </a:ext>
            </a:extLst>
          </p:cNvPr>
          <p:cNvSpPr>
            <a:spLocks noGrp="1"/>
          </p:cNvSpPr>
          <p:nvPr>
            <p:ph idx="1"/>
          </p:nvPr>
        </p:nvSpPr>
        <p:spPr/>
        <p:txBody>
          <a:bodyPr vert="horz" lIns="91440" tIns="45720" rIns="91440" bIns="45720" rtlCol="0" anchor="t">
            <a:normAutofit/>
          </a:bodyPr>
          <a:lstStyle/>
          <a:p>
            <a:r>
              <a:rPr lang="en-US"/>
              <a:t>Rocky Linux</a:t>
            </a:r>
          </a:p>
          <a:p>
            <a:r>
              <a:rPr lang="en-US"/>
              <a:t>Alma Linux</a:t>
            </a:r>
          </a:p>
          <a:p>
            <a:r>
              <a:rPr lang="en-US"/>
              <a:t>Ubuntu Linux</a:t>
            </a:r>
          </a:p>
        </p:txBody>
      </p:sp>
    </p:spTree>
    <p:extLst>
      <p:ext uri="{BB962C8B-B14F-4D97-AF65-F5344CB8AC3E}">
        <p14:creationId xmlns:p14="http://schemas.microsoft.com/office/powerpoint/2010/main" val="848070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4F625-18D1-ED28-B404-049BF9897776}"/>
              </a:ext>
            </a:extLst>
          </p:cNvPr>
          <p:cNvSpPr>
            <a:spLocks noGrp="1"/>
          </p:cNvSpPr>
          <p:nvPr>
            <p:ph type="title"/>
          </p:nvPr>
        </p:nvSpPr>
        <p:spPr/>
        <p:txBody>
          <a:bodyPr>
            <a:normAutofit/>
          </a:bodyPr>
          <a:lstStyle/>
          <a:p>
            <a:r>
              <a:rPr lang="en-US">
                <a:ea typeface="+mj-lt"/>
                <a:cs typeface="+mj-lt"/>
              </a:rPr>
              <a:t>Operating System Concepts</a:t>
            </a:r>
          </a:p>
        </p:txBody>
      </p:sp>
      <p:sp>
        <p:nvSpPr>
          <p:cNvPr id="3" name="Content Placeholder 2">
            <a:extLst>
              <a:ext uri="{FF2B5EF4-FFF2-40B4-BE49-F238E27FC236}">
                <a16:creationId xmlns:a16="http://schemas.microsoft.com/office/drawing/2014/main" id="{7708AAFA-2712-0DE3-6883-F0DF09E312D1}"/>
              </a:ext>
            </a:extLst>
          </p:cNvPr>
          <p:cNvSpPr>
            <a:spLocks noGrp="1"/>
          </p:cNvSpPr>
          <p:nvPr>
            <p:ph idx="1"/>
          </p:nvPr>
        </p:nvSpPr>
        <p:spPr/>
        <p:txBody>
          <a:bodyPr vert="horz" lIns="91440" tIns="45720" rIns="91440" bIns="45720" rtlCol="0" anchor="t">
            <a:normAutofit/>
          </a:bodyPr>
          <a:lstStyle/>
          <a:p>
            <a:r>
              <a:rPr lang="en-US">
                <a:ea typeface="+mn-lt"/>
                <a:cs typeface="+mn-lt"/>
              </a:rPr>
              <a:t>I/O Management</a:t>
            </a:r>
          </a:p>
          <a:p>
            <a:r>
              <a:rPr lang="en-US">
                <a:ea typeface="+mn-lt"/>
                <a:cs typeface="+mn-lt"/>
              </a:rPr>
              <a:t>File System</a:t>
            </a:r>
          </a:p>
          <a:p>
            <a:r>
              <a:rPr lang="en-US">
                <a:ea typeface="+mn-lt"/>
                <a:cs typeface="+mn-lt"/>
              </a:rPr>
              <a:t>Users and Groups</a:t>
            </a:r>
          </a:p>
          <a:p>
            <a:r>
              <a:rPr lang="en-US">
                <a:ea typeface="+mn-lt"/>
                <a:cs typeface="+mn-lt"/>
              </a:rPr>
              <a:t>File Permission and ownership</a:t>
            </a:r>
          </a:p>
          <a:p>
            <a:r>
              <a:rPr lang="en-US">
                <a:ea typeface="+mn-lt"/>
                <a:cs typeface="+mn-lt"/>
              </a:rPr>
              <a:t>Memory / Storage</a:t>
            </a:r>
          </a:p>
          <a:p>
            <a:r>
              <a:rPr lang="en-US">
                <a:ea typeface="+mn-lt"/>
                <a:cs typeface="+mn-lt"/>
              </a:rPr>
              <a:t>Processes</a:t>
            </a:r>
          </a:p>
          <a:p>
            <a:r>
              <a:rPr lang="en-US">
                <a:ea typeface="+mn-lt"/>
                <a:cs typeface="+mn-lt"/>
              </a:rPr>
              <a:t>POSIX Standard</a:t>
            </a:r>
          </a:p>
          <a:p>
            <a:r>
              <a:rPr lang="en-US">
                <a:ea typeface="+mn-lt"/>
                <a:cs typeface="+mn-lt"/>
              </a:rPr>
              <a:t>Systems and Services</a:t>
            </a:r>
          </a:p>
        </p:txBody>
      </p:sp>
    </p:spTree>
    <p:extLst>
      <p:ext uri="{BB962C8B-B14F-4D97-AF65-F5344CB8AC3E}">
        <p14:creationId xmlns:p14="http://schemas.microsoft.com/office/powerpoint/2010/main" val="32793884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B53789-2166-3914-A37D-2B75D8B9CC2E}"/>
              </a:ext>
            </a:extLst>
          </p:cNvPr>
          <p:cNvSpPr>
            <a:spLocks noGrp="1"/>
          </p:cNvSpPr>
          <p:nvPr>
            <p:ph type="title"/>
          </p:nvPr>
        </p:nvSpPr>
        <p:spPr/>
        <p:txBody>
          <a:bodyPr/>
          <a:lstStyle/>
          <a:p>
            <a:r>
              <a:rPr lang="en-US">
                <a:ea typeface="+mj-lt"/>
                <a:cs typeface="+mj-lt"/>
              </a:rPr>
              <a:t>I/O Management</a:t>
            </a:r>
            <a:endParaRPr lang="en-US"/>
          </a:p>
        </p:txBody>
      </p:sp>
      <p:sp>
        <p:nvSpPr>
          <p:cNvPr id="3" name="Content Placeholder 2">
            <a:extLst>
              <a:ext uri="{FF2B5EF4-FFF2-40B4-BE49-F238E27FC236}">
                <a16:creationId xmlns:a16="http://schemas.microsoft.com/office/drawing/2014/main" id="{F5CC7648-2297-61BA-1FA9-B87F18A4BE8C}"/>
              </a:ext>
            </a:extLst>
          </p:cNvPr>
          <p:cNvSpPr>
            <a:spLocks noGrp="1"/>
          </p:cNvSpPr>
          <p:nvPr>
            <p:ph idx="1"/>
          </p:nvPr>
        </p:nvSpPr>
        <p:spPr/>
        <p:txBody>
          <a:bodyPr vert="horz" lIns="91440" tIns="45720" rIns="91440" bIns="45720" rtlCol="0" anchor="t">
            <a:normAutofit/>
          </a:bodyPr>
          <a:lstStyle/>
          <a:p>
            <a:r>
              <a:rPr lang="en-US">
                <a:ea typeface="+mn-lt"/>
                <a:cs typeface="+mn-lt"/>
              </a:rPr>
              <a:t>Input/Output (IO) management is a crucial component of any operating system (OS). It encompasses the techniques and mechanisms an OS uses to manage the input and output operations of the computer system, ensuring efficient and effective communication between hardware and software components.</a:t>
            </a:r>
          </a:p>
        </p:txBody>
      </p:sp>
    </p:spTree>
    <p:extLst>
      <p:ext uri="{BB962C8B-B14F-4D97-AF65-F5344CB8AC3E}">
        <p14:creationId xmlns:p14="http://schemas.microsoft.com/office/powerpoint/2010/main" val="259717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E700B2-EFB9-F8AA-6780-EE64A17EF254}"/>
              </a:ext>
            </a:extLst>
          </p:cNvPr>
          <p:cNvSpPr>
            <a:spLocks noGrp="1"/>
          </p:cNvSpPr>
          <p:nvPr>
            <p:ph type="title"/>
          </p:nvPr>
        </p:nvSpPr>
        <p:spPr/>
        <p:txBody>
          <a:bodyPr/>
          <a:lstStyle/>
          <a:p>
            <a:r>
              <a:rPr lang="en-US"/>
              <a:t>Principles of I/o management</a:t>
            </a:r>
          </a:p>
        </p:txBody>
      </p:sp>
      <p:sp>
        <p:nvSpPr>
          <p:cNvPr id="3" name="Content Placeholder 2">
            <a:extLst>
              <a:ext uri="{FF2B5EF4-FFF2-40B4-BE49-F238E27FC236}">
                <a16:creationId xmlns:a16="http://schemas.microsoft.com/office/drawing/2014/main" id="{697A1BB2-D5BD-894D-4F50-08AE72A2A8D3}"/>
              </a:ext>
            </a:extLst>
          </p:cNvPr>
          <p:cNvSpPr>
            <a:spLocks noGrp="1"/>
          </p:cNvSpPr>
          <p:nvPr>
            <p:ph idx="1"/>
          </p:nvPr>
        </p:nvSpPr>
        <p:spPr/>
        <p:txBody>
          <a:bodyPr vert="horz" lIns="91440" tIns="45720" rIns="91440" bIns="45720" rtlCol="0" anchor="t">
            <a:normAutofit/>
          </a:bodyPr>
          <a:lstStyle/>
          <a:p>
            <a:r>
              <a:rPr lang="en-US">
                <a:ea typeface="+mn-lt"/>
                <a:cs typeface="+mn-lt"/>
              </a:rPr>
              <a:t>IO devices, such as keyboards, storage devices, interact with the computer through device controllers. These controllers act as intermediaries, converting signals from the devices into a format the computer can understand and vice versa.</a:t>
            </a:r>
          </a:p>
          <a:p>
            <a:r>
              <a:rPr lang="en-US">
                <a:ea typeface="+mn-lt"/>
                <a:cs typeface="+mn-lt"/>
              </a:rPr>
              <a:t>IO operations can be categorized into three main types:</a:t>
            </a:r>
            <a:endParaRPr lang="en-US"/>
          </a:p>
          <a:p>
            <a:pPr lvl="1">
              <a:buFont typeface="Courier New" panose="020B0604020202020204" pitchFamily="34" charset="0"/>
              <a:buChar char="o"/>
            </a:pPr>
            <a:r>
              <a:rPr lang="en-US">
                <a:ea typeface="+mn-lt"/>
                <a:cs typeface="+mn-lt"/>
              </a:rPr>
              <a:t>Character IO: Involves reading and writing one character at a time (e.g., keyboards).</a:t>
            </a:r>
            <a:endParaRPr lang="en-US"/>
          </a:p>
          <a:p>
            <a:pPr lvl="1">
              <a:buFont typeface="Courier New" panose="020B0604020202020204" pitchFamily="34" charset="0"/>
              <a:buChar char="o"/>
            </a:pPr>
            <a:r>
              <a:rPr lang="en-US">
                <a:ea typeface="+mn-lt"/>
                <a:cs typeface="+mn-lt"/>
              </a:rPr>
              <a:t>Block IO: Involves reading and writing large blocks of data (e.g., disk drives).</a:t>
            </a:r>
            <a:endParaRPr lang="en-US"/>
          </a:p>
          <a:p>
            <a:pPr lvl="1">
              <a:buFont typeface="Courier New" panose="020B0604020202020204" pitchFamily="34" charset="0"/>
              <a:buChar char="o"/>
            </a:pPr>
            <a:r>
              <a:rPr lang="en-US">
                <a:ea typeface="+mn-lt"/>
                <a:cs typeface="+mn-lt"/>
              </a:rPr>
              <a:t>Network IO: Involves data transfer over a network.</a:t>
            </a:r>
          </a:p>
          <a:p>
            <a:r>
              <a:rPr lang="en-US">
                <a:ea typeface="+mn-lt"/>
                <a:cs typeface="+mn-lt"/>
              </a:rPr>
              <a:t>Buffering is a technique where data is temporarily stored in a buffer while being transferred between two locations.</a:t>
            </a:r>
          </a:p>
        </p:txBody>
      </p:sp>
    </p:spTree>
    <p:extLst>
      <p:ext uri="{BB962C8B-B14F-4D97-AF65-F5344CB8AC3E}">
        <p14:creationId xmlns:p14="http://schemas.microsoft.com/office/powerpoint/2010/main" val="19599396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ECF99A-C600-2E15-315B-2BE8892D9D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2A60E3-27F8-C3FD-AA6C-6079F0AB88F4}"/>
              </a:ext>
            </a:extLst>
          </p:cNvPr>
          <p:cNvSpPr>
            <a:spLocks noGrp="1"/>
          </p:cNvSpPr>
          <p:nvPr>
            <p:ph type="title"/>
          </p:nvPr>
        </p:nvSpPr>
        <p:spPr/>
        <p:txBody>
          <a:bodyPr/>
          <a:lstStyle/>
          <a:p>
            <a:r>
              <a:rPr lang="en-US"/>
              <a:t>Principles of I/o management</a:t>
            </a:r>
          </a:p>
        </p:txBody>
      </p:sp>
      <p:sp>
        <p:nvSpPr>
          <p:cNvPr id="3" name="Content Placeholder 2">
            <a:extLst>
              <a:ext uri="{FF2B5EF4-FFF2-40B4-BE49-F238E27FC236}">
                <a16:creationId xmlns:a16="http://schemas.microsoft.com/office/drawing/2014/main" id="{B3052528-F619-798B-0449-4E6500059221}"/>
              </a:ext>
            </a:extLst>
          </p:cNvPr>
          <p:cNvSpPr>
            <a:spLocks noGrp="1"/>
          </p:cNvSpPr>
          <p:nvPr>
            <p:ph idx="1"/>
          </p:nvPr>
        </p:nvSpPr>
        <p:spPr/>
        <p:txBody>
          <a:bodyPr vert="horz" lIns="91440" tIns="45720" rIns="91440" bIns="45720" rtlCol="0" anchor="t">
            <a:normAutofit/>
          </a:bodyPr>
          <a:lstStyle/>
          <a:p>
            <a:r>
              <a:rPr lang="en-US">
                <a:ea typeface="+mn-lt"/>
                <a:cs typeface="+mn-lt"/>
              </a:rPr>
              <a:t>Caching involves storing copies of data in a high-speed storage (cache) to reduce access time.</a:t>
            </a:r>
          </a:p>
          <a:p>
            <a:r>
              <a:rPr lang="en-US">
                <a:ea typeface="+mn-lt"/>
                <a:cs typeface="+mn-lt"/>
              </a:rPr>
              <a:t>Spooling (Simultaneous Peripheral Operations On-Line) is a method where data is temporarily held in a buffer (spool) until the device is ready to process it.</a:t>
            </a:r>
          </a:p>
          <a:p>
            <a:r>
              <a:rPr lang="en-US">
                <a:ea typeface="+mn-lt"/>
                <a:cs typeface="+mn-lt"/>
              </a:rPr>
              <a:t>Device drivers are specialized software modules that enable the OS to communicate with hardware devices.</a:t>
            </a:r>
          </a:p>
          <a:p>
            <a:r>
              <a:rPr lang="en-US">
                <a:ea typeface="+mn-lt"/>
                <a:cs typeface="+mn-lt"/>
              </a:rPr>
              <a:t>DMA allows certain hardware subsystems to access main system memory independently of the CPU. This enhances performance by offloading IO operations from the CPU.</a:t>
            </a:r>
          </a:p>
        </p:txBody>
      </p:sp>
    </p:spTree>
    <p:extLst>
      <p:ext uri="{BB962C8B-B14F-4D97-AF65-F5344CB8AC3E}">
        <p14:creationId xmlns:p14="http://schemas.microsoft.com/office/powerpoint/2010/main" val="23501141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4F08-A2AC-D77B-589C-9C4DAA14A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455CF9-ECF6-F609-014A-318CCB8051D9}"/>
              </a:ext>
            </a:extLst>
          </p:cNvPr>
          <p:cNvSpPr>
            <a:spLocks noGrp="1"/>
          </p:cNvSpPr>
          <p:nvPr>
            <p:ph type="title"/>
          </p:nvPr>
        </p:nvSpPr>
        <p:spPr/>
        <p:txBody>
          <a:bodyPr/>
          <a:lstStyle/>
          <a:p>
            <a:r>
              <a:rPr lang="en-US"/>
              <a:t>File system</a:t>
            </a:r>
          </a:p>
        </p:txBody>
      </p:sp>
      <p:sp>
        <p:nvSpPr>
          <p:cNvPr id="3" name="Content Placeholder 2">
            <a:extLst>
              <a:ext uri="{FF2B5EF4-FFF2-40B4-BE49-F238E27FC236}">
                <a16:creationId xmlns:a16="http://schemas.microsoft.com/office/drawing/2014/main" id="{79BD2841-F3E2-F2B2-54B1-CC0AF8311F13}"/>
              </a:ext>
            </a:extLst>
          </p:cNvPr>
          <p:cNvSpPr>
            <a:spLocks noGrp="1"/>
          </p:cNvSpPr>
          <p:nvPr>
            <p:ph idx="1"/>
          </p:nvPr>
        </p:nvSpPr>
        <p:spPr/>
        <p:txBody>
          <a:bodyPr vert="horz" lIns="91440" tIns="45720" rIns="91440" bIns="45720" rtlCol="0" anchor="t">
            <a:noAutofit/>
          </a:bodyPr>
          <a:lstStyle/>
          <a:p>
            <a:r>
              <a:rPr lang="en-US" sz="1800"/>
              <a:t>Install tree in </a:t>
            </a:r>
            <a:r>
              <a:rPr lang="en-US" sz="1800" err="1"/>
              <a:t>linux</a:t>
            </a:r>
            <a:r>
              <a:rPr lang="en-US" sz="1800"/>
              <a:t>: </a:t>
            </a:r>
            <a:r>
              <a:rPr lang="en-US" sz="1800" err="1"/>
              <a:t>sudo</a:t>
            </a:r>
            <a:r>
              <a:rPr lang="en-US" sz="1800"/>
              <a:t> </a:t>
            </a:r>
            <a:r>
              <a:rPr lang="en-US" sz="1800" err="1"/>
              <a:t>dnf</a:t>
            </a:r>
            <a:r>
              <a:rPr lang="en-US" sz="1800"/>
              <a:t> install tree</a:t>
            </a:r>
          </a:p>
          <a:p>
            <a:r>
              <a:rPr lang="en-US" sz="1800"/>
              <a:t>Try "cd / &amp;&amp; tree" and "cd / &amp;&amp; tree –L 1 /"</a:t>
            </a:r>
          </a:p>
          <a:p>
            <a:r>
              <a:rPr lang="en-US" sz="1800"/>
              <a:t>Directories</a:t>
            </a:r>
          </a:p>
          <a:p>
            <a:pPr lvl="1">
              <a:buFont typeface="Courier New" panose="020B0604020202020204" pitchFamily="34" charset="0"/>
              <a:buChar char="o"/>
            </a:pPr>
            <a:r>
              <a:rPr lang="en-US"/>
              <a:t>/bin - Directory that contains binaries.</a:t>
            </a:r>
          </a:p>
          <a:p>
            <a:pPr lvl="1">
              <a:buFont typeface="Courier New" panose="020B0604020202020204" pitchFamily="34" charset="0"/>
              <a:buChar char="o"/>
            </a:pPr>
            <a:r>
              <a:rPr lang="en-US"/>
              <a:t>/boot - Directory that contains files to start your system. Do not touch.</a:t>
            </a:r>
          </a:p>
          <a:p>
            <a:pPr lvl="1">
              <a:buFont typeface="Courier New" panose="020B0604020202020204" pitchFamily="34" charset="0"/>
              <a:buChar char="o"/>
            </a:pPr>
            <a:r>
              <a:rPr lang="en-US"/>
              <a:t>/dev - Directory that contains device files (Virtual directory).</a:t>
            </a:r>
          </a:p>
          <a:p>
            <a:pPr lvl="1">
              <a:buFont typeface="Courier New" panose="020B0604020202020204" pitchFamily="34" charset="0"/>
              <a:buChar char="o"/>
            </a:pPr>
            <a:r>
              <a:rPr lang="en-US"/>
              <a:t>/</a:t>
            </a:r>
            <a:r>
              <a:rPr lang="en-US" err="1"/>
              <a:t>etc</a:t>
            </a:r>
            <a:r>
              <a:rPr lang="en-US"/>
              <a:t> - Directory that contains most, if not all, system-wide configuration files.</a:t>
            </a:r>
          </a:p>
          <a:p>
            <a:pPr lvl="1">
              <a:buFont typeface="Courier New" panose="020B0604020202020204" pitchFamily="34" charset="0"/>
              <a:buChar char="o"/>
            </a:pPr>
            <a:r>
              <a:rPr lang="en-US"/>
              <a:t>/home - Directory that contains users' personal directories.</a:t>
            </a:r>
          </a:p>
          <a:p>
            <a:pPr lvl="1">
              <a:buFont typeface="Courier New" panose="020B0604020202020204" pitchFamily="34" charset="0"/>
              <a:buChar char="o"/>
            </a:pPr>
            <a:r>
              <a:rPr lang="en-US"/>
              <a:t>/lib - Directory that contains libraries, dependencies used by binaries</a:t>
            </a:r>
          </a:p>
          <a:p>
            <a:pPr lvl="1">
              <a:buFont typeface="Courier New" panose="020B0604020202020204" pitchFamily="34" charset="0"/>
              <a:buChar char="o"/>
            </a:pPr>
            <a:r>
              <a:rPr lang="en-US"/>
              <a:t>/media - Directory where external storage are mounted automatically.</a:t>
            </a:r>
          </a:p>
        </p:txBody>
      </p:sp>
    </p:spTree>
    <p:extLst>
      <p:ext uri="{BB962C8B-B14F-4D97-AF65-F5344CB8AC3E}">
        <p14:creationId xmlns:p14="http://schemas.microsoft.com/office/powerpoint/2010/main" val="13572164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94669D-8651-87B2-8E21-05BFB8B3D08C}"/>
              </a:ext>
            </a:extLst>
          </p:cNvPr>
          <p:cNvSpPr>
            <a:spLocks noGrp="1"/>
          </p:cNvSpPr>
          <p:nvPr>
            <p:ph type="title"/>
          </p:nvPr>
        </p:nvSpPr>
        <p:spPr/>
        <p:txBody>
          <a:bodyPr/>
          <a:lstStyle/>
          <a:p>
            <a:r>
              <a:rPr lang="en-US"/>
              <a:t>File system</a:t>
            </a:r>
          </a:p>
        </p:txBody>
      </p:sp>
      <p:sp>
        <p:nvSpPr>
          <p:cNvPr id="3" name="Content Placeholder 2">
            <a:extLst>
              <a:ext uri="{FF2B5EF4-FFF2-40B4-BE49-F238E27FC236}">
                <a16:creationId xmlns:a16="http://schemas.microsoft.com/office/drawing/2014/main" id="{A7CEDB9D-6BCE-4DB0-F74B-7A690B330FBA}"/>
              </a:ext>
            </a:extLst>
          </p:cNvPr>
          <p:cNvSpPr>
            <a:spLocks noGrp="1"/>
          </p:cNvSpPr>
          <p:nvPr>
            <p:ph idx="1"/>
          </p:nvPr>
        </p:nvSpPr>
        <p:spPr/>
        <p:txBody>
          <a:bodyPr vert="horz" lIns="91440" tIns="45720" rIns="91440" bIns="45720" rtlCol="0" anchor="t">
            <a:normAutofit fontScale="92500" lnSpcReduction="20000"/>
          </a:bodyPr>
          <a:lstStyle/>
          <a:p>
            <a:pPr lvl="1">
              <a:buFont typeface="Courier New" panose="020B0604020202020204" pitchFamily="34" charset="0"/>
              <a:buChar char="o"/>
            </a:pPr>
            <a:r>
              <a:rPr lang="en-US"/>
              <a:t>/media - Directory where external storage are mounted automatically.</a:t>
            </a:r>
          </a:p>
          <a:p>
            <a:pPr lvl="1">
              <a:buFont typeface="Courier New" panose="020B0604020202020204" pitchFamily="34" charset="0"/>
              <a:buChar char="o"/>
            </a:pPr>
            <a:r>
              <a:rPr lang="en-US"/>
              <a:t>/</a:t>
            </a:r>
            <a:r>
              <a:rPr lang="en-US" err="1"/>
              <a:t>mnt</a:t>
            </a:r>
            <a:r>
              <a:rPr lang="en-US"/>
              <a:t> - Directory where you manually mount storage devices. Not used often.</a:t>
            </a:r>
          </a:p>
          <a:p>
            <a:pPr lvl="1">
              <a:buFont typeface="Courier New" panose="020B0604020202020204" pitchFamily="34" charset="0"/>
              <a:buChar char="o"/>
            </a:pPr>
            <a:r>
              <a:rPr lang="en-US"/>
              <a:t>/opt - Directory that contains software compiled by user. Binaries in /opt/bin and libraries in /opt/lib.</a:t>
            </a:r>
          </a:p>
          <a:p>
            <a:pPr lvl="1">
              <a:buFont typeface="Courier New" panose="020B0604020202020204" pitchFamily="34" charset="0"/>
              <a:buChar char="o"/>
            </a:pPr>
            <a:r>
              <a:rPr lang="en-US"/>
              <a:t>/proc - Directory that contains information such as CPU and the kernel used (Virtual directory).</a:t>
            </a:r>
          </a:p>
          <a:p>
            <a:pPr lvl="1">
              <a:buFont typeface="Courier New" panose="020B0604020202020204" pitchFamily="34" charset="0"/>
              <a:buChar char="o"/>
            </a:pPr>
            <a:r>
              <a:rPr lang="en-US"/>
              <a:t>/root - Home directory of superuser.</a:t>
            </a:r>
          </a:p>
          <a:p>
            <a:pPr lvl="1">
              <a:buFont typeface="Courier New" panose="020B0604020202020204" pitchFamily="34" charset="0"/>
              <a:buChar char="o"/>
            </a:pPr>
            <a:r>
              <a:rPr lang="en-US"/>
              <a:t>/run - Directory used by system processes to store temporary data.</a:t>
            </a:r>
          </a:p>
          <a:p>
            <a:pPr lvl="1">
              <a:buFont typeface="Courier New" panose="020B0604020202020204" pitchFamily="34" charset="0"/>
              <a:buChar char="o"/>
            </a:pPr>
            <a:r>
              <a:rPr lang="en-US"/>
              <a:t>/</a:t>
            </a:r>
            <a:r>
              <a:rPr lang="en-US" err="1"/>
              <a:t>sbin</a:t>
            </a:r>
            <a:r>
              <a:rPr lang="en-US"/>
              <a:t> - Directory containing binaries used by superuser, therefore (s)bin</a:t>
            </a:r>
          </a:p>
          <a:p>
            <a:pPr lvl="1">
              <a:buFont typeface="Courier New" panose="020B0604020202020204" pitchFamily="34" charset="0"/>
              <a:buChar char="o"/>
            </a:pPr>
            <a:r>
              <a:rPr lang="en-US"/>
              <a:t>/</a:t>
            </a:r>
            <a:r>
              <a:rPr lang="en-US" err="1"/>
              <a:t>usr</a:t>
            </a:r>
            <a:r>
              <a:rPr lang="en-US"/>
              <a:t> - Previously user directory, now binaries in other path are liked to /</a:t>
            </a:r>
            <a:r>
              <a:rPr lang="en-US" err="1"/>
              <a:t>usr</a:t>
            </a:r>
            <a:r>
              <a:rPr lang="en-US"/>
              <a:t>/bin, or /</a:t>
            </a:r>
            <a:r>
              <a:rPr lang="en-US" err="1"/>
              <a:t>usr</a:t>
            </a:r>
            <a:r>
              <a:rPr lang="en-US"/>
              <a:t>/local/bin.</a:t>
            </a:r>
          </a:p>
          <a:p>
            <a:pPr lvl="1">
              <a:buFont typeface="Courier New" panose="020B0604020202020204" pitchFamily="34" charset="0"/>
              <a:buChar char="o"/>
            </a:pPr>
            <a:r>
              <a:rPr lang="en-US"/>
              <a:t>/</a:t>
            </a:r>
            <a:r>
              <a:rPr lang="en-US" err="1"/>
              <a:t>srv</a:t>
            </a:r>
            <a:r>
              <a:rPr lang="en-US"/>
              <a:t> - Directory that contains data of web servers.</a:t>
            </a:r>
          </a:p>
          <a:p>
            <a:pPr lvl="1">
              <a:buFont typeface="Courier New" panose="020B0604020202020204" pitchFamily="34" charset="0"/>
              <a:buChar char="o"/>
            </a:pPr>
            <a:r>
              <a:rPr lang="en-US"/>
              <a:t>/sys - Contains information of devices connected to PC. Do not touch.(Virtual directory).</a:t>
            </a:r>
          </a:p>
          <a:p>
            <a:pPr lvl="1">
              <a:buFont typeface="Courier New" panose="020B0604020202020204" pitchFamily="34" charset="0"/>
              <a:buChar char="o"/>
            </a:pPr>
            <a:r>
              <a:rPr lang="en-US"/>
              <a:t>/</a:t>
            </a:r>
            <a:r>
              <a:rPr lang="en-US" err="1"/>
              <a:t>tmp</a:t>
            </a:r>
            <a:r>
              <a:rPr lang="en-US"/>
              <a:t> - Contains temporary files.</a:t>
            </a:r>
          </a:p>
          <a:p>
            <a:pPr lvl="1">
              <a:buFont typeface="Courier New" panose="020B0604020202020204" pitchFamily="34" charset="0"/>
              <a:buChar char="o"/>
            </a:pPr>
            <a:r>
              <a:rPr lang="en-US"/>
              <a:t>/var - Contains mostly logs or state information and persistent data for running applications.</a:t>
            </a:r>
          </a:p>
          <a:p>
            <a:pPr lvl="1">
              <a:buFont typeface="Courier New" panose="020B0604020202020204" pitchFamily="34" charset="0"/>
              <a:buChar char="o"/>
            </a:pPr>
            <a:endParaRPr lang="en-US"/>
          </a:p>
        </p:txBody>
      </p:sp>
    </p:spTree>
    <p:extLst>
      <p:ext uri="{BB962C8B-B14F-4D97-AF65-F5344CB8AC3E}">
        <p14:creationId xmlns:p14="http://schemas.microsoft.com/office/powerpoint/2010/main" val="6481555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F64F9B95-9045-48D2-B9F3-2927E98F54A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085AA86F-6A4D-4BCB-A045-D992CDC2959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useBgFill="1">
        <p:nvSpPr>
          <p:cNvPr id="13" name="Rectangle 12">
            <a:extLst>
              <a:ext uri="{FF2B5EF4-FFF2-40B4-BE49-F238E27FC236}">
                <a16:creationId xmlns:a16="http://schemas.microsoft.com/office/drawing/2014/main" id="{33E93247-6229-44AB-A550-739E971E6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descr="A diagram of a computer program&#10;&#10;AI-generated content may be incorrect.">
            <a:extLst>
              <a:ext uri="{FF2B5EF4-FFF2-40B4-BE49-F238E27FC236}">
                <a16:creationId xmlns:a16="http://schemas.microsoft.com/office/drawing/2014/main" id="{9FF42F4F-AE12-43F9-355E-739735AF954C}"/>
              </a:ext>
            </a:extLst>
          </p:cNvPr>
          <p:cNvPicPr>
            <a:picLocks noGrp="1" noChangeAspect="1"/>
          </p:cNvPicPr>
          <p:nvPr>
            <p:ph idx="1"/>
          </p:nvPr>
        </p:nvPicPr>
        <p:blipFill>
          <a:blip r:embed="rId2"/>
          <a:srcRect l="2222" r="1" b="1"/>
          <a:stretch>
            <a:fillRect/>
          </a:stretch>
        </p:blipFill>
        <p:spPr>
          <a:xfrm>
            <a:off x="20" y="10"/>
            <a:ext cx="12191980" cy="6857990"/>
          </a:xfrm>
          <a:prstGeom prst="rect">
            <a:avLst/>
          </a:prstGeom>
        </p:spPr>
      </p:pic>
      <p:sp>
        <p:nvSpPr>
          <p:cNvPr id="15" name="Rectangle 14">
            <a:extLst>
              <a:ext uri="{FF2B5EF4-FFF2-40B4-BE49-F238E27FC236}">
                <a16:creationId xmlns:a16="http://schemas.microsoft.com/office/drawing/2014/main" id="{612349FF-7742-42ED-ADF3-238B5DDD17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307" y="4237318"/>
            <a:ext cx="12188952" cy="2620682"/>
          </a:xfrm>
          <a:prstGeom prst="rect">
            <a:avLst/>
          </a:prstGeom>
          <a:gradFill>
            <a:gsLst>
              <a:gs pos="42000">
                <a:srgbClr val="000000">
                  <a:alpha val="14000"/>
                </a:srgbClr>
              </a:gs>
              <a:gs pos="0">
                <a:srgbClr val="000000">
                  <a:alpha val="0"/>
                </a:srgbClr>
              </a:gs>
              <a:gs pos="100000">
                <a:srgbClr val="000000">
                  <a:alpha val="31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B05A24-CDC8-7DF4-C68B-2BB8EDCD22FE}"/>
              </a:ext>
            </a:extLst>
          </p:cNvPr>
          <p:cNvSpPr>
            <a:spLocks noGrp="1"/>
          </p:cNvSpPr>
          <p:nvPr>
            <p:ph type="title"/>
          </p:nvPr>
        </p:nvSpPr>
        <p:spPr>
          <a:xfrm>
            <a:off x="705158" y="5528235"/>
            <a:ext cx="10696574" cy="770964"/>
          </a:xfrm>
        </p:spPr>
        <p:txBody>
          <a:bodyPr vert="horz" lIns="91440" tIns="45720" rIns="91440" bIns="45720" rtlCol="0" anchor="b">
            <a:normAutofit fontScale="90000"/>
          </a:bodyPr>
          <a:lstStyle/>
          <a:p>
            <a:r>
              <a:rPr lang="en-US">
                <a:solidFill>
                  <a:srgbClr val="FFFFFF"/>
                </a:solidFill>
              </a:rPr>
              <a:t>File system</a:t>
            </a:r>
            <a:br>
              <a:rPr lang="en-US">
                <a:solidFill>
                  <a:srgbClr val="FFFFFF"/>
                </a:solidFill>
              </a:rPr>
            </a:br>
            <a:r>
              <a:rPr lang="en-US" sz="1200">
                <a:ea typeface="+mj-lt"/>
                <a:cs typeface="+mj-lt"/>
              </a:rPr>
              <a:t>https://www.linuxfoundation.org/blog/blog/classic-sysadmin-the-linux-filesystem-explained</a:t>
            </a:r>
            <a:endParaRPr lang="en-US" sz="1200">
              <a:solidFill>
                <a:srgbClr val="FFFFFF"/>
              </a:solidFill>
            </a:endParaRPr>
          </a:p>
        </p:txBody>
      </p:sp>
    </p:spTree>
    <p:extLst>
      <p:ext uri="{BB962C8B-B14F-4D97-AF65-F5344CB8AC3E}">
        <p14:creationId xmlns:p14="http://schemas.microsoft.com/office/powerpoint/2010/main" val="4098124576"/>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BDB5A-C38C-1591-1144-248BDC233CED}"/>
              </a:ext>
            </a:extLst>
          </p:cNvPr>
          <p:cNvSpPr>
            <a:spLocks noGrp="1"/>
          </p:cNvSpPr>
          <p:nvPr>
            <p:ph type="title"/>
          </p:nvPr>
        </p:nvSpPr>
        <p:spPr/>
        <p:txBody>
          <a:bodyPr/>
          <a:lstStyle/>
          <a:p>
            <a:r>
              <a:rPr lang="en-US"/>
              <a:t>Users and groups</a:t>
            </a:r>
          </a:p>
        </p:txBody>
      </p:sp>
      <p:sp>
        <p:nvSpPr>
          <p:cNvPr id="3" name="Content Placeholder 2">
            <a:extLst>
              <a:ext uri="{FF2B5EF4-FFF2-40B4-BE49-F238E27FC236}">
                <a16:creationId xmlns:a16="http://schemas.microsoft.com/office/drawing/2014/main" id="{E8D8873B-36A8-CB8D-0888-E728445D3D59}"/>
              </a:ext>
            </a:extLst>
          </p:cNvPr>
          <p:cNvSpPr>
            <a:spLocks noGrp="1"/>
          </p:cNvSpPr>
          <p:nvPr>
            <p:ph idx="1"/>
          </p:nvPr>
        </p:nvSpPr>
        <p:spPr/>
        <p:txBody>
          <a:bodyPr vert="horz" lIns="91440" tIns="45720" rIns="91440" bIns="45720" rtlCol="0" anchor="t">
            <a:normAutofit/>
          </a:bodyPr>
          <a:lstStyle/>
          <a:p>
            <a:r>
              <a:rPr lang="en-US"/>
              <a:t>Users and Groups – Used to control access to files and resources.</a:t>
            </a:r>
          </a:p>
          <a:p>
            <a:r>
              <a:rPr lang="en-US"/>
              <a:t>Permissions - Rules to determine who can read, write, or execute files or directories.</a:t>
            </a:r>
          </a:p>
        </p:txBody>
      </p:sp>
    </p:spTree>
    <p:extLst>
      <p:ext uri="{BB962C8B-B14F-4D97-AF65-F5344CB8AC3E}">
        <p14:creationId xmlns:p14="http://schemas.microsoft.com/office/powerpoint/2010/main" val="936645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FAD6F2-F34A-AC16-56B3-D6F31479EB9D}"/>
              </a:ext>
            </a:extLst>
          </p:cNvPr>
          <p:cNvSpPr>
            <a:spLocks noGrp="1"/>
          </p:cNvSpPr>
          <p:nvPr>
            <p:ph type="title"/>
          </p:nvPr>
        </p:nvSpPr>
        <p:spPr/>
        <p:txBody>
          <a:bodyPr/>
          <a:lstStyle/>
          <a:p>
            <a:r>
              <a:rPr lang="en-US"/>
              <a:t>Main and secondary groups</a:t>
            </a:r>
          </a:p>
        </p:txBody>
      </p:sp>
      <p:sp>
        <p:nvSpPr>
          <p:cNvPr id="3" name="Content Placeholder 2">
            <a:extLst>
              <a:ext uri="{FF2B5EF4-FFF2-40B4-BE49-F238E27FC236}">
                <a16:creationId xmlns:a16="http://schemas.microsoft.com/office/drawing/2014/main" id="{72ADC1C5-724C-3EDC-0DE3-485EA830F1FF}"/>
              </a:ext>
            </a:extLst>
          </p:cNvPr>
          <p:cNvSpPr>
            <a:spLocks noGrp="1"/>
          </p:cNvSpPr>
          <p:nvPr>
            <p:ph idx="1"/>
          </p:nvPr>
        </p:nvSpPr>
        <p:spPr/>
        <p:txBody>
          <a:bodyPr vert="horz" lIns="91440" tIns="45720" rIns="91440" bIns="45720" rtlCol="0" anchor="t">
            <a:normAutofit/>
          </a:bodyPr>
          <a:lstStyle/>
          <a:p>
            <a:r>
              <a:rPr lang="en-US"/>
              <a:t>Primary/Main group – Default group a user gets when their account is created.</a:t>
            </a:r>
          </a:p>
          <a:p>
            <a:r>
              <a:rPr lang="en-US"/>
              <a:t>Secondary group - Secondary groups a user can join, up to 15 in total.</a:t>
            </a:r>
          </a:p>
          <a:p>
            <a:pPr marL="0" indent="0">
              <a:buNone/>
            </a:pPr>
            <a:endParaRPr lang="en-US"/>
          </a:p>
          <a:p>
            <a:pPr marL="0" indent="0">
              <a:buNone/>
            </a:pPr>
            <a:r>
              <a:rPr lang="en-US"/>
              <a:t>When a user is created, a group with same name is created automatically.</a:t>
            </a:r>
          </a:p>
          <a:p>
            <a:pPr marL="0" indent="0">
              <a:buNone/>
            </a:pPr>
            <a:r>
              <a:rPr lang="en-US"/>
              <a:t>$ </a:t>
            </a:r>
            <a:r>
              <a:rPr lang="en-US" err="1"/>
              <a:t>sudo</a:t>
            </a:r>
            <a:r>
              <a:rPr lang="en-US"/>
              <a:t> </a:t>
            </a:r>
            <a:r>
              <a:rPr lang="en-US" err="1"/>
              <a:t>useradd</a:t>
            </a:r>
            <a:r>
              <a:rPr lang="en-US"/>
              <a:t> –create-home user-test</a:t>
            </a:r>
          </a:p>
          <a:p>
            <a:pPr marL="0" indent="0">
              <a:buNone/>
            </a:pPr>
            <a:r>
              <a:rPr lang="en-US"/>
              <a:t>$ grep user-test /</a:t>
            </a:r>
            <a:r>
              <a:rPr lang="en-US" err="1"/>
              <a:t>etc</a:t>
            </a:r>
            <a:r>
              <a:rPr lang="en-US"/>
              <a:t>/passwd</a:t>
            </a:r>
          </a:p>
          <a:p>
            <a:pPr marL="0" indent="0">
              <a:buNone/>
            </a:pPr>
            <a:r>
              <a:rPr lang="en-US"/>
              <a:t> </a:t>
            </a:r>
          </a:p>
        </p:txBody>
      </p:sp>
    </p:spTree>
    <p:extLst>
      <p:ext uri="{BB962C8B-B14F-4D97-AF65-F5344CB8AC3E}">
        <p14:creationId xmlns:p14="http://schemas.microsoft.com/office/powerpoint/2010/main" val="21181451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7A41D5-F254-F920-C89E-8814E8655CF5}"/>
              </a:ext>
            </a:extLst>
          </p:cNvPr>
          <p:cNvSpPr>
            <a:spLocks noGrp="1"/>
          </p:cNvSpPr>
          <p:nvPr>
            <p:ph type="title"/>
          </p:nvPr>
        </p:nvSpPr>
        <p:spPr/>
        <p:txBody>
          <a:bodyPr/>
          <a:lstStyle/>
          <a:p>
            <a:r>
              <a:rPr lang="en-US"/>
              <a:t>Managing group members</a:t>
            </a:r>
          </a:p>
        </p:txBody>
      </p:sp>
      <p:sp>
        <p:nvSpPr>
          <p:cNvPr id="3" name="Content Placeholder 2">
            <a:extLst>
              <a:ext uri="{FF2B5EF4-FFF2-40B4-BE49-F238E27FC236}">
                <a16:creationId xmlns:a16="http://schemas.microsoft.com/office/drawing/2014/main" id="{8CA58412-D5FB-DBC3-087C-CDD7062515E9}"/>
              </a:ext>
            </a:extLst>
          </p:cNvPr>
          <p:cNvSpPr>
            <a:spLocks noGrp="1"/>
          </p:cNvSpPr>
          <p:nvPr>
            <p:ph idx="1"/>
          </p:nvPr>
        </p:nvSpPr>
        <p:spPr/>
        <p:txBody>
          <a:bodyPr vert="horz" lIns="91440" tIns="45720" rIns="91440" bIns="45720" rtlCol="0" anchor="t">
            <a:normAutofit/>
          </a:bodyPr>
          <a:lstStyle/>
          <a:p>
            <a:r>
              <a:rPr lang="en-US"/>
              <a:t>To add user to a group/s:</a:t>
            </a:r>
          </a:p>
          <a:p>
            <a:pPr marL="457200" lvl="1" indent="0">
              <a:buNone/>
            </a:pPr>
            <a:r>
              <a:rPr lang="en-US" dirty="0">
                <a:ea typeface="+mn-lt"/>
                <a:cs typeface="+mn-lt"/>
              </a:rPr>
              <a:t>$ </a:t>
            </a:r>
            <a:r>
              <a:rPr lang="en-US" err="1">
                <a:ea typeface="+mn-lt"/>
                <a:cs typeface="+mn-lt"/>
              </a:rPr>
              <a:t>sudo</a:t>
            </a:r>
            <a:r>
              <a:rPr lang="en-US" dirty="0">
                <a:ea typeface="+mn-lt"/>
                <a:cs typeface="+mn-lt"/>
              </a:rPr>
              <a:t> </a:t>
            </a:r>
            <a:r>
              <a:rPr lang="en-US" err="1">
                <a:ea typeface="+mn-lt"/>
                <a:cs typeface="+mn-lt"/>
              </a:rPr>
              <a:t>gpasswd</a:t>
            </a:r>
            <a:r>
              <a:rPr lang="en-US" dirty="0">
                <a:ea typeface="+mn-lt"/>
                <a:cs typeface="+mn-lt"/>
              </a:rPr>
              <a:t> -a username </a:t>
            </a:r>
            <a:r>
              <a:rPr lang="en-US" err="1">
                <a:ea typeface="+mn-lt"/>
                <a:cs typeface="+mn-lt"/>
              </a:rPr>
              <a:t>groupname</a:t>
            </a:r>
            <a:r>
              <a:rPr lang="en-US" dirty="0">
                <a:ea typeface="+mn-lt"/>
                <a:cs typeface="+mn-lt"/>
              </a:rPr>
              <a:t> or $ </a:t>
            </a:r>
            <a:r>
              <a:rPr lang="en-US" err="1">
                <a:ea typeface="+mn-lt"/>
                <a:cs typeface="+mn-lt"/>
              </a:rPr>
              <a:t>sudo</a:t>
            </a:r>
            <a:r>
              <a:rPr lang="en-US" dirty="0">
                <a:ea typeface="+mn-lt"/>
                <a:cs typeface="+mn-lt"/>
              </a:rPr>
              <a:t> usermod -</a:t>
            </a:r>
            <a:r>
              <a:rPr lang="en-US" err="1">
                <a:ea typeface="+mn-lt"/>
                <a:cs typeface="+mn-lt"/>
              </a:rPr>
              <a:t>aG</a:t>
            </a:r>
            <a:r>
              <a:rPr lang="en-US">
                <a:ea typeface="+mn-lt"/>
                <a:cs typeface="+mn-lt"/>
              </a:rPr>
              <a:t> groupname1, groupname2, .. username</a:t>
            </a:r>
            <a:endParaRPr lang="en-US"/>
          </a:p>
          <a:p>
            <a:r>
              <a:rPr lang="en-US"/>
              <a:t>To remove a user from a group:</a:t>
            </a:r>
          </a:p>
          <a:p>
            <a:pPr marL="457200" lvl="1" indent="0">
              <a:buNone/>
            </a:pPr>
            <a:r>
              <a:rPr lang="en-US" dirty="0">
                <a:ea typeface="+mn-lt"/>
                <a:cs typeface="+mn-lt"/>
              </a:rPr>
              <a:t>$ </a:t>
            </a:r>
            <a:r>
              <a:rPr lang="en-US" dirty="0" err="1">
                <a:ea typeface="+mn-lt"/>
                <a:cs typeface="+mn-lt"/>
              </a:rPr>
              <a:t>sudo</a:t>
            </a:r>
            <a:r>
              <a:rPr lang="en-US" dirty="0">
                <a:ea typeface="+mn-lt"/>
                <a:cs typeface="+mn-lt"/>
              </a:rPr>
              <a:t> </a:t>
            </a:r>
            <a:r>
              <a:rPr lang="en-US" dirty="0" err="1">
                <a:ea typeface="+mn-lt"/>
                <a:cs typeface="+mn-lt"/>
              </a:rPr>
              <a:t>gpasswd</a:t>
            </a:r>
            <a:r>
              <a:rPr lang="en-US" dirty="0">
                <a:ea typeface="+mn-lt"/>
                <a:cs typeface="+mn-lt"/>
              </a:rPr>
              <a:t> -d username </a:t>
            </a:r>
            <a:r>
              <a:rPr lang="en-US" dirty="0" err="1">
                <a:ea typeface="+mn-lt"/>
                <a:cs typeface="+mn-lt"/>
              </a:rPr>
              <a:t>groupname</a:t>
            </a:r>
            <a:endParaRPr lang="en-US" dirty="0" err="1"/>
          </a:p>
          <a:p>
            <a:r>
              <a:rPr lang="en-US"/>
              <a:t>To create a new group:</a:t>
            </a:r>
          </a:p>
          <a:p>
            <a:pPr marL="457200" lvl="1" indent="0">
              <a:buNone/>
            </a:pPr>
            <a:r>
              <a:rPr lang="en-US" dirty="0">
                <a:ea typeface="+mn-lt"/>
                <a:cs typeface="+mn-lt"/>
              </a:rPr>
              <a:t>$ </a:t>
            </a:r>
            <a:r>
              <a:rPr lang="en-US" dirty="0" err="1">
                <a:ea typeface="+mn-lt"/>
                <a:cs typeface="+mn-lt"/>
              </a:rPr>
              <a:t>sudo</a:t>
            </a:r>
            <a:r>
              <a:rPr lang="en-US" dirty="0">
                <a:ea typeface="+mn-lt"/>
                <a:cs typeface="+mn-lt"/>
              </a:rPr>
              <a:t> </a:t>
            </a:r>
            <a:r>
              <a:rPr lang="en-US" dirty="0" err="1">
                <a:ea typeface="+mn-lt"/>
                <a:cs typeface="+mn-lt"/>
              </a:rPr>
              <a:t>groupadd</a:t>
            </a:r>
            <a:r>
              <a:rPr lang="en-US" dirty="0">
                <a:ea typeface="+mn-lt"/>
                <a:cs typeface="+mn-lt"/>
              </a:rPr>
              <a:t> </a:t>
            </a:r>
            <a:r>
              <a:rPr lang="en-US" dirty="0" err="1">
                <a:ea typeface="+mn-lt"/>
                <a:cs typeface="+mn-lt"/>
              </a:rPr>
              <a:t>groupname</a:t>
            </a:r>
            <a:endParaRPr lang="en-US" dirty="0" err="1"/>
          </a:p>
          <a:p>
            <a:r>
              <a:rPr lang="en-US"/>
              <a:t>To change a user's primary group:</a:t>
            </a:r>
          </a:p>
          <a:p>
            <a:pPr marL="457200" lvl="1" indent="0">
              <a:buNone/>
            </a:pPr>
            <a:r>
              <a:rPr lang="en-US" dirty="0">
                <a:ea typeface="+mn-lt"/>
                <a:cs typeface="+mn-lt"/>
              </a:rPr>
              <a:t>$ </a:t>
            </a:r>
            <a:r>
              <a:rPr lang="en-US" dirty="0" err="1">
                <a:ea typeface="+mn-lt"/>
                <a:cs typeface="+mn-lt"/>
              </a:rPr>
              <a:t>sudo</a:t>
            </a:r>
            <a:r>
              <a:rPr lang="en-US" dirty="0">
                <a:ea typeface="+mn-lt"/>
                <a:cs typeface="+mn-lt"/>
              </a:rPr>
              <a:t> </a:t>
            </a:r>
            <a:r>
              <a:rPr lang="en-US" dirty="0" err="1">
                <a:ea typeface="+mn-lt"/>
                <a:cs typeface="+mn-lt"/>
              </a:rPr>
              <a:t>usermod</a:t>
            </a:r>
            <a:r>
              <a:rPr lang="en-US" dirty="0">
                <a:ea typeface="+mn-lt"/>
                <a:cs typeface="+mn-lt"/>
              </a:rPr>
              <a:t> -g newgroup username</a:t>
            </a:r>
            <a:endParaRPr lang="en-US" dirty="0"/>
          </a:p>
        </p:txBody>
      </p:sp>
    </p:spTree>
    <p:extLst>
      <p:ext uri="{BB962C8B-B14F-4D97-AF65-F5344CB8AC3E}">
        <p14:creationId xmlns:p14="http://schemas.microsoft.com/office/powerpoint/2010/main" val="85102607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7E998-0DE2-2F99-39D6-19D72E0596F2}"/>
              </a:ext>
            </a:extLst>
          </p:cNvPr>
          <p:cNvSpPr>
            <a:spLocks noGrp="1"/>
          </p:cNvSpPr>
          <p:nvPr>
            <p:ph type="title"/>
          </p:nvPr>
        </p:nvSpPr>
        <p:spPr/>
        <p:txBody>
          <a:bodyPr/>
          <a:lstStyle/>
          <a:p>
            <a:r>
              <a:rPr lang="en-US"/>
              <a:t>Deleting users and groups</a:t>
            </a:r>
          </a:p>
        </p:txBody>
      </p:sp>
      <p:sp>
        <p:nvSpPr>
          <p:cNvPr id="3" name="Content Placeholder 2">
            <a:extLst>
              <a:ext uri="{FF2B5EF4-FFF2-40B4-BE49-F238E27FC236}">
                <a16:creationId xmlns:a16="http://schemas.microsoft.com/office/drawing/2014/main" id="{E105A25B-7369-74D7-0C52-CC3EACAD1FD1}"/>
              </a:ext>
            </a:extLst>
          </p:cNvPr>
          <p:cNvSpPr>
            <a:spLocks noGrp="1"/>
          </p:cNvSpPr>
          <p:nvPr>
            <p:ph idx="1"/>
          </p:nvPr>
        </p:nvSpPr>
        <p:spPr/>
        <p:txBody>
          <a:bodyPr vert="horz" lIns="91440" tIns="45720" rIns="91440" bIns="45720" rtlCol="0" anchor="t">
            <a:normAutofit/>
          </a:bodyPr>
          <a:lstStyle/>
          <a:p>
            <a:r>
              <a:rPr lang="en-US">
                <a:ea typeface="+mn-lt"/>
                <a:cs typeface="+mn-lt"/>
              </a:rPr>
              <a:t>To remove a user from a group.</a:t>
            </a:r>
          </a:p>
          <a:p>
            <a:pPr lvl="1">
              <a:buFont typeface="Courier New" panose="020B0604020202020204" pitchFamily="34" charset="0"/>
              <a:buChar char="o"/>
            </a:pPr>
            <a:r>
              <a:rPr lang="en-US" err="1">
                <a:ea typeface="+mn-lt"/>
                <a:cs typeface="+mn-lt"/>
              </a:rPr>
              <a:t>sudo</a:t>
            </a:r>
            <a:r>
              <a:rPr lang="en-US">
                <a:ea typeface="+mn-lt"/>
                <a:cs typeface="+mn-lt"/>
              </a:rPr>
              <a:t> </a:t>
            </a:r>
            <a:r>
              <a:rPr lang="en-US" err="1">
                <a:ea typeface="+mn-lt"/>
                <a:cs typeface="+mn-lt"/>
              </a:rPr>
              <a:t>gpasswd</a:t>
            </a:r>
            <a:r>
              <a:rPr lang="en-US">
                <a:ea typeface="+mn-lt"/>
                <a:cs typeface="+mn-lt"/>
              </a:rPr>
              <a:t> -d username </a:t>
            </a:r>
            <a:r>
              <a:rPr lang="en-US" err="1">
                <a:ea typeface="+mn-lt"/>
                <a:cs typeface="+mn-lt"/>
              </a:rPr>
              <a:t>group_name</a:t>
            </a:r>
          </a:p>
          <a:p>
            <a:r>
              <a:rPr lang="en-US">
                <a:ea typeface="+mn-lt"/>
                <a:cs typeface="+mn-lt"/>
              </a:rPr>
              <a:t>To delete a group:</a:t>
            </a:r>
          </a:p>
          <a:p>
            <a:pPr lvl="1">
              <a:buFont typeface="Courier New" panose="020B0604020202020204" pitchFamily="34" charset="0"/>
              <a:buChar char="o"/>
            </a:pPr>
            <a:r>
              <a:rPr lang="en-US" err="1">
                <a:ea typeface="+mn-lt"/>
                <a:cs typeface="+mn-lt"/>
              </a:rPr>
              <a:t>sudo</a:t>
            </a:r>
            <a:r>
              <a:rPr lang="en-US">
                <a:ea typeface="+mn-lt"/>
                <a:cs typeface="+mn-lt"/>
              </a:rPr>
              <a:t> </a:t>
            </a:r>
            <a:r>
              <a:rPr lang="en-US" err="1">
                <a:ea typeface="+mn-lt"/>
                <a:cs typeface="+mn-lt"/>
              </a:rPr>
              <a:t>groupdel</a:t>
            </a:r>
            <a:r>
              <a:rPr lang="en-US">
                <a:ea typeface="+mn-lt"/>
                <a:cs typeface="+mn-lt"/>
              </a:rPr>
              <a:t> </a:t>
            </a:r>
            <a:r>
              <a:rPr lang="en-US" err="1">
                <a:ea typeface="+mn-lt"/>
                <a:cs typeface="+mn-lt"/>
              </a:rPr>
              <a:t>group_name</a:t>
            </a:r>
          </a:p>
          <a:p>
            <a:r>
              <a:rPr lang="en-US">
                <a:ea typeface="+mn-lt"/>
                <a:cs typeface="+mn-lt"/>
              </a:rPr>
              <a:t>To delete a user:</a:t>
            </a:r>
          </a:p>
          <a:p>
            <a:pPr lvl="1">
              <a:buFont typeface="Courier New" panose="020B0604020202020204" pitchFamily="34" charset="0"/>
              <a:buChar char="o"/>
            </a:pPr>
            <a:r>
              <a:rPr lang="en-US" err="1">
                <a:ea typeface="+mn-lt"/>
                <a:cs typeface="+mn-lt"/>
              </a:rPr>
              <a:t>sudo</a:t>
            </a:r>
            <a:r>
              <a:rPr lang="en-US">
                <a:ea typeface="+mn-lt"/>
                <a:cs typeface="+mn-lt"/>
              </a:rPr>
              <a:t> </a:t>
            </a:r>
            <a:r>
              <a:rPr lang="en-US" err="1">
                <a:ea typeface="+mn-lt"/>
                <a:cs typeface="+mn-lt"/>
              </a:rPr>
              <a:t>userdel</a:t>
            </a:r>
            <a:r>
              <a:rPr lang="en-US">
                <a:ea typeface="+mn-lt"/>
                <a:cs typeface="+mn-lt"/>
              </a:rPr>
              <a:t> username</a:t>
            </a:r>
          </a:p>
          <a:p>
            <a:r>
              <a:rPr lang="en-US">
                <a:ea typeface="+mn-lt"/>
                <a:cs typeface="+mn-lt"/>
              </a:rPr>
              <a:t>To delete a user and their home folder:</a:t>
            </a:r>
          </a:p>
          <a:p>
            <a:pPr lvl="1">
              <a:buFont typeface="Courier New" panose="020B0604020202020204" pitchFamily="34" charset="0"/>
              <a:buChar char="o"/>
            </a:pPr>
            <a:r>
              <a:rPr lang="en-US" err="1">
                <a:ea typeface="+mn-lt"/>
                <a:cs typeface="+mn-lt"/>
              </a:rPr>
              <a:t>sudo</a:t>
            </a:r>
            <a:r>
              <a:rPr lang="en-US">
                <a:ea typeface="+mn-lt"/>
                <a:cs typeface="+mn-lt"/>
              </a:rPr>
              <a:t> </a:t>
            </a:r>
            <a:r>
              <a:rPr lang="en-US" err="1">
                <a:ea typeface="+mn-lt"/>
                <a:cs typeface="+mn-lt"/>
              </a:rPr>
              <a:t>userdel</a:t>
            </a:r>
            <a:r>
              <a:rPr lang="en-US">
                <a:ea typeface="+mn-lt"/>
                <a:cs typeface="+mn-lt"/>
              </a:rPr>
              <a:t> -r username</a:t>
            </a:r>
          </a:p>
        </p:txBody>
      </p:sp>
    </p:spTree>
    <p:extLst>
      <p:ext uri="{BB962C8B-B14F-4D97-AF65-F5344CB8AC3E}">
        <p14:creationId xmlns:p14="http://schemas.microsoft.com/office/powerpoint/2010/main" val="28326093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EC5CF-E8FA-99BF-E8E5-9930E6CFC8E8}"/>
              </a:ext>
            </a:extLst>
          </p:cNvPr>
          <p:cNvSpPr>
            <a:spLocks noGrp="1"/>
          </p:cNvSpPr>
          <p:nvPr>
            <p:ph type="title"/>
          </p:nvPr>
        </p:nvSpPr>
        <p:spPr/>
        <p:txBody>
          <a:bodyPr/>
          <a:lstStyle/>
          <a:p>
            <a:r>
              <a:rPr lang="en-US"/>
              <a:t>File permissions and ownership</a:t>
            </a:r>
          </a:p>
        </p:txBody>
      </p:sp>
      <p:graphicFrame>
        <p:nvGraphicFramePr>
          <p:cNvPr id="4" name="Content Placeholder 3">
            <a:extLst>
              <a:ext uri="{FF2B5EF4-FFF2-40B4-BE49-F238E27FC236}">
                <a16:creationId xmlns:a16="http://schemas.microsoft.com/office/drawing/2014/main" id="{AD14F035-C59D-F9E8-00B4-4C5674B35ABD}"/>
              </a:ext>
            </a:extLst>
          </p:cNvPr>
          <p:cNvGraphicFramePr>
            <a:graphicFrameLocks noGrp="1"/>
          </p:cNvGraphicFramePr>
          <p:nvPr>
            <p:ph idx="1"/>
            <p:extLst>
              <p:ext uri="{D42A27DB-BD31-4B8C-83A1-F6EECF244321}">
                <p14:modId xmlns:p14="http://schemas.microsoft.com/office/powerpoint/2010/main" val="4259696005"/>
              </p:ext>
            </p:extLst>
          </p:nvPr>
        </p:nvGraphicFramePr>
        <p:xfrm>
          <a:off x="1287034" y="3870068"/>
          <a:ext cx="9622629" cy="1112381"/>
        </p:xfrm>
        <a:graphic>
          <a:graphicData uri="http://schemas.openxmlformats.org/drawingml/2006/table">
            <a:tbl>
              <a:tblPr firstRow="1" bandRow="1">
                <a:tableStyleId>{5C22544A-7EE6-4342-B048-85BDC9FD1C3A}</a:tableStyleId>
              </a:tblPr>
              <a:tblGrid>
                <a:gridCol w="1069181">
                  <a:extLst>
                    <a:ext uri="{9D8B030D-6E8A-4147-A177-3AD203B41FA5}">
                      <a16:colId xmlns:a16="http://schemas.microsoft.com/office/drawing/2014/main" val="2173242342"/>
                    </a:ext>
                  </a:extLst>
                </a:gridCol>
                <a:gridCol w="1069181">
                  <a:extLst>
                    <a:ext uri="{9D8B030D-6E8A-4147-A177-3AD203B41FA5}">
                      <a16:colId xmlns:a16="http://schemas.microsoft.com/office/drawing/2014/main" val="567846294"/>
                    </a:ext>
                  </a:extLst>
                </a:gridCol>
                <a:gridCol w="1069181">
                  <a:extLst>
                    <a:ext uri="{9D8B030D-6E8A-4147-A177-3AD203B41FA5}">
                      <a16:colId xmlns:a16="http://schemas.microsoft.com/office/drawing/2014/main" val="3400417531"/>
                    </a:ext>
                  </a:extLst>
                </a:gridCol>
                <a:gridCol w="1069181">
                  <a:extLst>
                    <a:ext uri="{9D8B030D-6E8A-4147-A177-3AD203B41FA5}">
                      <a16:colId xmlns:a16="http://schemas.microsoft.com/office/drawing/2014/main" val="992165706"/>
                    </a:ext>
                  </a:extLst>
                </a:gridCol>
                <a:gridCol w="1069181">
                  <a:extLst>
                    <a:ext uri="{9D8B030D-6E8A-4147-A177-3AD203B41FA5}">
                      <a16:colId xmlns:a16="http://schemas.microsoft.com/office/drawing/2014/main" val="2319107890"/>
                    </a:ext>
                  </a:extLst>
                </a:gridCol>
                <a:gridCol w="1069181">
                  <a:extLst>
                    <a:ext uri="{9D8B030D-6E8A-4147-A177-3AD203B41FA5}">
                      <a16:colId xmlns:a16="http://schemas.microsoft.com/office/drawing/2014/main" val="2340831616"/>
                    </a:ext>
                  </a:extLst>
                </a:gridCol>
                <a:gridCol w="1069181">
                  <a:extLst>
                    <a:ext uri="{9D8B030D-6E8A-4147-A177-3AD203B41FA5}">
                      <a16:colId xmlns:a16="http://schemas.microsoft.com/office/drawing/2014/main" val="1090618645"/>
                    </a:ext>
                  </a:extLst>
                </a:gridCol>
                <a:gridCol w="1069181">
                  <a:extLst>
                    <a:ext uri="{9D8B030D-6E8A-4147-A177-3AD203B41FA5}">
                      <a16:colId xmlns:a16="http://schemas.microsoft.com/office/drawing/2014/main" val="4018008724"/>
                    </a:ext>
                  </a:extLst>
                </a:gridCol>
                <a:gridCol w="1069181">
                  <a:extLst>
                    <a:ext uri="{9D8B030D-6E8A-4147-A177-3AD203B41FA5}">
                      <a16:colId xmlns:a16="http://schemas.microsoft.com/office/drawing/2014/main" val="1051279989"/>
                    </a:ext>
                  </a:extLst>
                </a:gridCol>
              </a:tblGrid>
              <a:tr h="370702">
                <a:tc>
                  <a:txBody>
                    <a:bodyPr/>
                    <a:lstStyle/>
                    <a:p>
                      <a:pPr algn="ctr"/>
                      <a:r>
                        <a:rPr lang="en-US"/>
                        <a:t>Read</a:t>
                      </a:r>
                    </a:p>
                  </a:txBody>
                  <a:tcPr/>
                </a:tc>
                <a:tc>
                  <a:txBody>
                    <a:bodyPr/>
                    <a:lstStyle/>
                    <a:p>
                      <a:pPr algn="ctr"/>
                      <a:r>
                        <a:rPr lang="en-US"/>
                        <a:t>Write</a:t>
                      </a:r>
                    </a:p>
                  </a:txBody>
                  <a:tcPr/>
                </a:tc>
                <a:tc>
                  <a:txBody>
                    <a:bodyPr/>
                    <a:lstStyle/>
                    <a:p>
                      <a:pPr algn="ctr"/>
                      <a:r>
                        <a:rPr lang="en-US"/>
                        <a:t>Execute</a:t>
                      </a:r>
                    </a:p>
                  </a:txBody>
                  <a:tcPr/>
                </a:tc>
                <a:tc>
                  <a:txBody>
                    <a:bodyPr/>
                    <a:lstStyle/>
                    <a:p>
                      <a:pPr lvl="0" algn="ctr">
                        <a:buNone/>
                      </a:pPr>
                      <a:r>
                        <a:rPr lang="en-US"/>
                        <a:t>Read</a:t>
                      </a:r>
                    </a:p>
                  </a:txBody>
                  <a:tcPr/>
                </a:tc>
                <a:tc>
                  <a:txBody>
                    <a:bodyPr/>
                    <a:lstStyle/>
                    <a:p>
                      <a:pPr lvl="0" algn="ctr">
                        <a:buNone/>
                      </a:pPr>
                      <a:r>
                        <a:rPr lang="en-US"/>
                        <a:t>Write</a:t>
                      </a:r>
                    </a:p>
                  </a:txBody>
                  <a:tcPr/>
                </a:tc>
                <a:tc>
                  <a:txBody>
                    <a:bodyPr/>
                    <a:lstStyle/>
                    <a:p>
                      <a:pPr lvl="0" algn="ctr">
                        <a:buNone/>
                      </a:pPr>
                      <a:r>
                        <a:rPr lang="en-US"/>
                        <a:t>Execute</a:t>
                      </a:r>
                    </a:p>
                  </a:txBody>
                  <a:tcPr/>
                </a:tc>
                <a:tc>
                  <a:txBody>
                    <a:bodyPr/>
                    <a:lstStyle/>
                    <a:p>
                      <a:pPr lvl="0" algn="ctr">
                        <a:buNone/>
                      </a:pPr>
                      <a:r>
                        <a:rPr lang="en-US"/>
                        <a:t>Read</a:t>
                      </a:r>
                    </a:p>
                  </a:txBody>
                  <a:tcPr/>
                </a:tc>
                <a:tc>
                  <a:txBody>
                    <a:bodyPr/>
                    <a:lstStyle/>
                    <a:p>
                      <a:pPr lvl="0" algn="ctr">
                        <a:buNone/>
                      </a:pPr>
                      <a:r>
                        <a:rPr lang="en-US"/>
                        <a:t>Write</a:t>
                      </a:r>
                    </a:p>
                  </a:txBody>
                  <a:tcPr/>
                </a:tc>
                <a:tc>
                  <a:txBody>
                    <a:bodyPr/>
                    <a:lstStyle/>
                    <a:p>
                      <a:pPr lvl="0">
                        <a:buNone/>
                      </a:pPr>
                      <a:r>
                        <a:rPr lang="en-US"/>
                        <a:t>Execute</a:t>
                      </a:r>
                    </a:p>
                  </a:txBody>
                  <a:tcPr/>
                </a:tc>
                <a:extLst>
                  <a:ext uri="{0D108BD9-81ED-4DB2-BD59-A6C34878D82A}">
                    <a16:rowId xmlns:a16="http://schemas.microsoft.com/office/drawing/2014/main" val="2851340897"/>
                  </a:ext>
                </a:extLst>
              </a:tr>
              <a:tr h="370840">
                <a:tc>
                  <a:txBody>
                    <a:bodyPr/>
                    <a:lstStyle/>
                    <a:p>
                      <a:pPr algn="ctr"/>
                      <a:r>
                        <a:rPr lang="en-US"/>
                        <a:t>0</a:t>
                      </a:r>
                    </a:p>
                  </a:txBody>
                  <a:tcPr/>
                </a:tc>
                <a:tc>
                  <a:txBody>
                    <a:bodyPr/>
                    <a:lstStyle/>
                    <a:p>
                      <a:pPr algn="ctr"/>
                      <a:r>
                        <a:rPr lang="en-US"/>
                        <a:t>1</a:t>
                      </a:r>
                    </a:p>
                  </a:txBody>
                  <a:tcPr/>
                </a:tc>
                <a:tc>
                  <a:txBody>
                    <a:bodyPr/>
                    <a:lstStyle/>
                    <a:p>
                      <a:pPr algn="ctr"/>
                      <a:r>
                        <a:rPr lang="en-US"/>
                        <a:t>1</a:t>
                      </a:r>
                    </a:p>
                  </a:txBody>
                  <a:tcPr/>
                </a:tc>
                <a:tc>
                  <a:txBody>
                    <a:bodyPr/>
                    <a:lstStyle/>
                    <a:p>
                      <a:pPr algn="ctr"/>
                      <a:r>
                        <a:rPr lang="en-US"/>
                        <a:t>1</a:t>
                      </a:r>
                    </a:p>
                  </a:txBody>
                  <a:tcPr/>
                </a:tc>
                <a:tc>
                  <a:txBody>
                    <a:bodyPr/>
                    <a:lstStyle/>
                    <a:p>
                      <a:pPr algn="ctr"/>
                      <a:r>
                        <a:rPr lang="en-US"/>
                        <a:t>0</a:t>
                      </a:r>
                    </a:p>
                  </a:txBody>
                  <a:tcPr/>
                </a:tc>
                <a:tc>
                  <a:txBody>
                    <a:bodyPr/>
                    <a:lstStyle/>
                    <a:p>
                      <a:pPr algn="ctr"/>
                      <a:r>
                        <a:rPr lang="en-US"/>
                        <a:t>0</a:t>
                      </a:r>
                    </a:p>
                  </a:txBody>
                  <a:tcPr/>
                </a:tc>
                <a:tc>
                  <a:txBody>
                    <a:bodyPr/>
                    <a:lstStyle/>
                    <a:p>
                      <a:pPr algn="ctr"/>
                      <a:r>
                        <a:rPr lang="en-US"/>
                        <a:t>1</a:t>
                      </a:r>
                    </a:p>
                  </a:txBody>
                  <a:tcPr/>
                </a:tc>
                <a:tc>
                  <a:txBody>
                    <a:bodyPr/>
                    <a:lstStyle/>
                    <a:p>
                      <a:pPr algn="ctr"/>
                      <a:r>
                        <a:rPr lang="en-US"/>
                        <a:t>0</a:t>
                      </a:r>
                    </a:p>
                  </a:txBody>
                  <a:tcPr/>
                </a:tc>
                <a:tc>
                  <a:txBody>
                    <a:bodyPr/>
                    <a:lstStyle/>
                    <a:p>
                      <a:pPr algn="ctr"/>
                      <a:r>
                        <a:rPr lang="en-US"/>
                        <a:t>0</a:t>
                      </a:r>
                    </a:p>
                  </a:txBody>
                  <a:tcPr/>
                </a:tc>
                <a:extLst>
                  <a:ext uri="{0D108BD9-81ED-4DB2-BD59-A6C34878D82A}">
                    <a16:rowId xmlns:a16="http://schemas.microsoft.com/office/drawing/2014/main" val="1884922904"/>
                  </a:ext>
                </a:extLst>
              </a:tr>
              <a:tr h="370839">
                <a:tc gridSpan="3">
                  <a:txBody>
                    <a:bodyPr/>
                    <a:lstStyle/>
                    <a:p>
                      <a:pPr lvl="0" algn="ctr">
                        <a:buNone/>
                      </a:pPr>
                      <a:r>
                        <a:rPr lang="en-US"/>
                        <a:t>Owner</a:t>
                      </a:r>
                    </a:p>
                  </a:txBody>
                  <a:tcPr/>
                </a:tc>
                <a:tc hMerge="1">
                  <a:txBody>
                    <a:bodyPr/>
                    <a:lstStyle/>
                    <a:p>
                      <a:endParaRPr lang="en-US"/>
                    </a:p>
                  </a:txBody>
                  <a:tcPr/>
                </a:tc>
                <a:tc hMerge="1">
                  <a:txBody>
                    <a:bodyPr/>
                    <a:lstStyle/>
                    <a:p>
                      <a:endParaRPr lang="en-US"/>
                    </a:p>
                  </a:txBody>
                  <a:tcPr/>
                </a:tc>
                <a:tc gridSpan="3">
                  <a:txBody>
                    <a:bodyPr/>
                    <a:lstStyle/>
                    <a:p>
                      <a:pPr lvl="0" algn="ctr">
                        <a:buNone/>
                      </a:pPr>
                      <a:r>
                        <a:rPr lang="en-US"/>
                        <a:t>Group</a:t>
                      </a:r>
                    </a:p>
                  </a:txBody>
                  <a:tcPr/>
                </a:tc>
                <a:tc hMerge="1">
                  <a:txBody>
                    <a:bodyPr/>
                    <a:lstStyle/>
                    <a:p>
                      <a:endParaRPr lang="en-US"/>
                    </a:p>
                  </a:txBody>
                  <a:tcPr/>
                </a:tc>
                <a:tc hMerge="1">
                  <a:txBody>
                    <a:bodyPr/>
                    <a:lstStyle/>
                    <a:p>
                      <a:endParaRPr lang="en-US"/>
                    </a:p>
                  </a:txBody>
                  <a:tcPr/>
                </a:tc>
                <a:tc gridSpan="3">
                  <a:txBody>
                    <a:bodyPr/>
                    <a:lstStyle/>
                    <a:p>
                      <a:pPr lvl="0" algn="ctr">
                        <a:buNone/>
                      </a:pPr>
                      <a:r>
                        <a:rPr lang="en-US"/>
                        <a:t>Others</a:t>
                      </a:r>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493565938"/>
                  </a:ext>
                </a:extLst>
              </a:tr>
            </a:tbl>
          </a:graphicData>
        </a:graphic>
      </p:graphicFrame>
      <p:sp>
        <p:nvSpPr>
          <p:cNvPr id="8" name="TextBox 7">
            <a:extLst>
              <a:ext uri="{FF2B5EF4-FFF2-40B4-BE49-F238E27FC236}">
                <a16:creationId xmlns:a16="http://schemas.microsoft.com/office/drawing/2014/main" id="{BD46C1E7-65CA-0DE0-A0A3-733FD3E78B04}"/>
              </a:ext>
            </a:extLst>
          </p:cNvPr>
          <p:cNvSpPr txBox="1"/>
          <p:nvPr/>
        </p:nvSpPr>
        <p:spPr>
          <a:xfrm>
            <a:off x="704888" y="2223367"/>
            <a:ext cx="4421443" cy="12106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Set of permissions:</a:t>
            </a:r>
          </a:p>
          <a:p>
            <a:pPr marL="285750" indent="-285750">
              <a:buFont typeface="Arial"/>
              <a:buChar char="•"/>
            </a:pPr>
            <a:r>
              <a:rPr lang="en-US"/>
              <a:t>Owner: Person who created the file.</a:t>
            </a:r>
          </a:p>
          <a:p>
            <a:pPr marL="285750" indent="-285750">
              <a:buFont typeface="Arial"/>
              <a:buChar char="•"/>
            </a:pPr>
            <a:r>
              <a:rPr lang="en-US"/>
              <a:t>Group: Users in the file's assigned group.</a:t>
            </a:r>
          </a:p>
          <a:p>
            <a:pPr marL="285750" indent="-285750">
              <a:buFont typeface="Arial"/>
              <a:buChar char="•"/>
            </a:pPr>
            <a:r>
              <a:rPr lang="en-US"/>
              <a:t>Others: Everyone else in the system</a:t>
            </a:r>
          </a:p>
        </p:txBody>
      </p:sp>
      <p:sp>
        <p:nvSpPr>
          <p:cNvPr id="11" name="TextBox 10">
            <a:extLst>
              <a:ext uri="{FF2B5EF4-FFF2-40B4-BE49-F238E27FC236}">
                <a16:creationId xmlns:a16="http://schemas.microsoft.com/office/drawing/2014/main" id="{AC3D524F-7C66-0462-92C7-4796F62CBE66}"/>
              </a:ext>
            </a:extLst>
          </p:cNvPr>
          <p:cNvSpPr txBox="1"/>
          <p:nvPr/>
        </p:nvSpPr>
        <p:spPr>
          <a:xfrm>
            <a:off x="5390159" y="2223367"/>
            <a:ext cx="6769225"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Each user category has 3 possible permissions:</a:t>
            </a:r>
          </a:p>
          <a:p>
            <a:pPr marL="285750" indent="-285750">
              <a:buFont typeface="Arial"/>
              <a:buChar char="•"/>
            </a:pPr>
            <a:r>
              <a:rPr lang="en-US"/>
              <a:t>Read (r): See file contents or see in folder.</a:t>
            </a:r>
          </a:p>
          <a:p>
            <a:pPr marL="285750" indent="-285750">
              <a:buFont typeface="Arial"/>
              <a:buChar char="•"/>
            </a:pPr>
            <a:r>
              <a:rPr lang="en-US"/>
              <a:t>Write (w): </a:t>
            </a:r>
            <a:r>
              <a:rPr lang="en-US">
                <a:ea typeface="+mn-lt"/>
                <a:cs typeface="+mn-lt"/>
              </a:rPr>
              <a:t>Change file contents or add/remove files in a folder.</a:t>
            </a:r>
          </a:p>
          <a:p>
            <a:pPr marL="285750" indent="-285750">
              <a:buFont typeface="Arial"/>
              <a:buChar char="•"/>
            </a:pPr>
            <a:r>
              <a:rPr lang="en-US"/>
              <a:t>Execute (e): </a:t>
            </a:r>
            <a:r>
              <a:rPr lang="en-US">
                <a:ea typeface="+mn-lt"/>
                <a:cs typeface="+mn-lt"/>
              </a:rPr>
              <a:t>Run a file as a program or open a folder</a:t>
            </a:r>
            <a:endParaRPr lang="en-US"/>
          </a:p>
        </p:txBody>
      </p:sp>
    </p:spTree>
    <p:extLst>
      <p:ext uri="{BB962C8B-B14F-4D97-AF65-F5344CB8AC3E}">
        <p14:creationId xmlns:p14="http://schemas.microsoft.com/office/powerpoint/2010/main" val="2101243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8F49F-341D-D033-2325-BE91C58E47EC}"/>
              </a:ext>
            </a:extLst>
          </p:cNvPr>
          <p:cNvSpPr>
            <a:spLocks noGrp="1"/>
          </p:cNvSpPr>
          <p:nvPr>
            <p:ph type="title"/>
          </p:nvPr>
        </p:nvSpPr>
        <p:spPr/>
        <p:txBody>
          <a:bodyPr/>
          <a:lstStyle/>
          <a:p>
            <a:r>
              <a:rPr lang="en-US"/>
              <a:t>Chown and </a:t>
            </a:r>
            <a:r>
              <a:rPr lang="en-US" err="1"/>
              <a:t>chgrp</a:t>
            </a:r>
          </a:p>
        </p:txBody>
      </p:sp>
      <p:sp>
        <p:nvSpPr>
          <p:cNvPr id="3" name="Content Placeholder 2">
            <a:extLst>
              <a:ext uri="{FF2B5EF4-FFF2-40B4-BE49-F238E27FC236}">
                <a16:creationId xmlns:a16="http://schemas.microsoft.com/office/drawing/2014/main" id="{7120E5C5-4BE5-78D9-5D70-1C5FB02E1726}"/>
              </a:ext>
            </a:extLst>
          </p:cNvPr>
          <p:cNvSpPr>
            <a:spLocks noGrp="1"/>
          </p:cNvSpPr>
          <p:nvPr>
            <p:ph idx="1"/>
          </p:nvPr>
        </p:nvSpPr>
        <p:spPr/>
        <p:txBody>
          <a:bodyPr vert="horz" lIns="91440" tIns="45720" rIns="91440" bIns="45720" rtlCol="0" anchor="t">
            <a:normAutofit/>
          </a:bodyPr>
          <a:lstStyle/>
          <a:p>
            <a:r>
              <a:rPr lang="en-US"/>
              <a:t>Change user and group ownership:</a:t>
            </a:r>
          </a:p>
          <a:p>
            <a:pPr lvl="1">
              <a:buFont typeface="Courier New" panose="020B0604020202020204" pitchFamily="34" charset="0"/>
              <a:buChar char="o"/>
            </a:pPr>
            <a:r>
              <a:rPr lang="en-US" err="1">
                <a:ea typeface="+mn-lt"/>
                <a:cs typeface="+mn-lt"/>
              </a:rPr>
              <a:t>chown</a:t>
            </a:r>
            <a:r>
              <a:rPr lang="en-US">
                <a:ea typeface="+mn-lt"/>
                <a:cs typeface="+mn-lt"/>
              </a:rPr>
              <a:t> </a:t>
            </a:r>
            <a:r>
              <a:rPr lang="en-US" err="1">
                <a:ea typeface="+mn-lt"/>
                <a:cs typeface="+mn-lt"/>
              </a:rPr>
              <a:t>new_owner:new_group</a:t>
            </a:r>
            <a:r>
              <a:rPr lang="en-US">
                <a:ea typeface="+mn-lt"/>
                <a:cs typeface="+mn-lt"/>
              </a:rPr>
              <a:t> filename</a:t>
            </a:r>
          </a:p>
          <a:p>
            <a:r>
              <a:rPr lang="en-US"/>
              <a:t>Change group:</a:t>
            </a:r>
          </a:p>
          <a:p>
            <a:pPr lvl="1">
              <a:buFont typeface="Courier New" panose="020B0604020202020204" pitchFamily="34" charset="0"/>
              <a:buChar char="o"/>
            </a:pPr>
            <a:r>
              <a:rPr lang="en-US" err="1">
                <a:ea typeface="+mn-lt"/>
                <a:cs typeface="+mn-lt"/>
              </a:rPr>
              <a:t>chgrp</a:t>
            </a:r>
            <a:r>
              <a:rPr lang="en-US">
                <a:ea typeface="+mn-lt"/>
                <a:cs typeface="+mn-lt"/>
              </a:rPr>
              <a:t> </a:t>
            </a:r>
            <a:r>
              <a:rPr lang="en-US" err="1">
                <a:ea typeface="+mn-lt"/>
                <a:cs typeface="+mn-lt"/>
              </a:rPr>
              <a:t>new_group</a:t>
            </a:r>
            <a:r>
              <a:rPr lang="en-US">
                <a:ea typeface="+mn-lt"/>
                <a:cs typeface="+mn-lt"/>
              </a:rPr>
              <a:t> filename</a:t>
            </a:r>
            <a:endParaRPr lang="en-US"/>
          </a:p>
        </p:txBody>
      </p:sp>
    </p:spTree>
    <p:extLst>
      <p:ext uri="{BB962C8B-B14F-4D97-AF65-F5344CB8AC3E}">
        <p14:creationId xmlns:p14="http://schemas.microsoft.com/office/powerpoint/2010/main" val="39372359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5B007-6B4A-FE60-9850-CD9EA3BF56E7}"/>
              </a:ext>
            </a:extLst>
          </p:cNvPr>
          <p:cNvSpPr>
            <a:spLocks noGrp="1"/>
          </p:cNvSpPr>
          <p:nvPr>
            <p:ph type="title"/>
          </p:nvPr>
        </p:nvSpPr>
        <p:spPr/>
        <p:txBody>
          <a:bodyPr/>
          <a:lstStyle/>
          <a:p>
            <a:r>
              <a:rPr lang="en-US"/>
              <a:t>Special permission  types</a:t>
            </a:r>
          </a:p>
        </p:txBody>
      </p:sp>
      <p:sp>
        <p:nvSpPr>
          <p:cNvPr id="3" name="Content Placeholder 2">
            <a:extLst>
              <a:ext uri="{FF2B5EF4-FFF2-40B4-BE49-F238E27FC236}">
                <a16:creationId xmlns:a16="http://schemas.microsoft.com/office/drawing/2014/main" id="{FEE5552F-D401-877B-0CD5-4A148CF3D33F}"/>
              </a:ext>
            </a:extLst>
          </p:cNvPr>
          <p:cNvSpPr>
            <a:spLocks noGrp="1"/>
          </p:cNvSpPr>
          <p:nvPr>
            <p:ph idx="1"/>
          </p:nvPr>
        </p:nvSpPr>
        <p:spPr/>
        <p:txBody>
          <a:bodyPr vert="horz" lIns="91440" tIns="45720" rIns="91440" bIns="45720" rtlCol="0" anchor="t">
            <a:normAutofit fontScale="92500" lnSpcReduction="10000"/>
          </a:bodyPr>
          <a:lstStyle/>
          <a:p>
            <a:r>
              <a:rPr lang="en-US" dirty="0"/>
              <a:t>Set User ID (SUID):</a:t>
            </a:r>
          </a:p>
          <a:p>
            <a:pPr lvl="1">
              <a:buFont typeface="Courier New" panose="020B0604020202020204" pitchFamily="34" charset="0"/>
              <a:buChar char="o"/>
            </a:pPr>
            <a:r>
              <a:rPr lang="en-US" dirty="0">
                <a:ea typeface="+mn-lt"/>
                <a:cs typeface="+mn-lt"/>
              </a:rPr>
              <a:t>Allows a program to run with the permissions of the file's owner, rather than the permissions of the user executing the file.</a:t>
            </a:r>
          </a:p>
          <a:p>
            <a:pPr lvl="1">
              <a:buFont typeface="Courier New" panose="020B0604020202020204" pitchFamily="34" charset="0"/>
              <a:buChar char="o"/>
            </a:pPr>
            <a:r>
              <a:rPr lang="en-US" sz="2100" dirty="0" err="1">
                <a:ea typeface="+mn-lt"/>
                <a:cs typeface="+mn-lt"/>
              </a:rPr>
              <a:t>chmod</a:t>
            </a:r>
            <a:r>
              <a:rPr lang="en-US" sz="2100" dirty="0">
                <a:ea typeface="+mn-lt"/>
                <a:cs typeface="+mn-lt"/>
              </a:rPr>
              <a:t> 4755 file  # SUID</a:t>
            </a:r>
            <a:endParaRPr lang="en-US" dirty="0">
              <a:ea typeface="+mn-lt"/>
              <a:cs typeface="+mn-lt"/>
            </a:endParaRPr>
          </a:p>
          <a:p>
            <a:r>
              <a:rPr lang="en-US" dirty="0">
                <a:ea typeface="+mn-lt"/>
                <a:cs typeface="+mn-lt"/>
              </a:rPr>
              <a:t>Set Group ID (SGID):</a:t>
            </a:r>
          </a:p>
          <a:p>
            <a:pPr lvl="1">
              <a:buFont typeface="Courier New" panose="020B0604020202020204" pitchFamily="34" charset="0"/>
              <a:buChar char="o"/>
            </a:pPr>
            <a:r>
              <a:rPr lang="en-US" dirty="0"/>
              <a:t>Allows a program to run with the permissions of the file's group.</a:t>
            </a:r>
          </a:p>
          <a:p>
            <a:pPr lvl="1">
              <a:buFont typeface="Courier New" panose="020B0604020202020204" pitchFamily="34" charset="0"/>
              <a:buChar char="o"/>
            </a:pPr>
            <a:r>
              <a:rPr lang="en-US" sz="2100" dirty="0" err="1">
                <a:ea typeface="+mn-lt"/>
                <a:cs typeface="+mn-lt"/>
              </a:rPr>
              <a:t>chmod</a:t>
            </a:r>
            <a:r>
              <a:rPr lang="en-US" sz="2100" dirty="0">
                <a:ea typeface="+mn-lt"/>
                <a:cs typeface="+mn-lt"/>
              </a:rPr>
              <a:t> 2755 file # SGID</a:t>
            </a:r>
            <a:endParaRPr lang="en-US" dirty="0">
              <a:ea typeface="+mn-lt"/>
              <a:cs typeface="+mn-lt"/>
            </a:endParaRPr>
          </a:p>
          <a:p>
            <a:r>
              <a:rPr lang="en-US" dirty="0">
                <a:ea typeface="+mn-lt"/>
                <a:cs typeface="+mn-lt"/>
              </a:rPr>
              <a:t>Sticky Bit:</a:t>
            </a:r>
          </a:p>
          <a:p>
            <a:pPr lvl="1">
              <a:buFont typeface="Courier New" panose="020B0604020202020204" pitchFamily="34" charset="0"/>
              <a:buChar char="o"/>
            </a:pPr>
            <a:r>
              <a:rPr lang="en-US" dirty="0">
                <a:ea typeface="+mn-lt"/>
                <a:cs typeface="+mn-lt"/>
              </a:rPr>
              <a:t>Prevents users from deleting or renaming files within a shared directory unless they are the owner of the file, the owner of the directory, or the root user.</a:t>
            </a:r>
          </a:p>
          <a:p>
            <a:pPr lvl="1">
              <a:buFont typeface="Courier New" panose="020B0604020202020204" pitchFamily="34" charset="0"/>
              <a:buChar char="o"/>
            </a:pPr>
            <a:r>
              <a:rPr lang="en-US" sz="1700" dirty="0" err="1"/>
              <a:t>chmod</a:t>
            </a:r>
            <a:r>
              <a:rPr lang="en-US" sz="1700" dirty="0"/>
              <a:t> 1755 directory  # Sticky Bit</a:t>
            </a:r>
            <a:endParaRPr lang="en-US" dirty="0"/>
          </a:p>
          <a:p>
            <a:pPr>
              <a:buNone/>
            </a:pPr>
            <a:endParaRPr lang="en-US"/>
          </a:p>
          <a:p>
            <a:pPr marL="0" indent="0">
              <a:buNone/>
            </a:pPr>
            <a:endParaRPr lang="en-US"/>
          </a:p>
        </p:txBody>
      </p:sp>
    </p:spTree>
    <p:extLst>
      <p:ext uri="{BB962C8B-B14F-4D97-AF65-F5344CB8AC3E}">
        <p14:creationId xmlns:p14="http://schemas.microsoft.com/office/powerpoint/2010/main" val="27606054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68B2C62-7648-4430-90D5-AE0F252AF1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852001-3C45-E653-6113-046164DD6299}"/>
              </a:ext>
            </a:extLst>
          </p:cNvPr>
          <p:cNvSpPr>
            <a:spLocks noGrp="1"/>
          </p:cNvSpPr>
          <p:nvPr>
            <p:ph type="title"/>
          </p:nvPr>
        </p:nvSpPr>
        <p:spPr>
          <a:xfrm>
            <a:off x="700087" y="909638"/>
            <a:ext cx="10691813" cy="1155618"/>
          </a:xfrm>
        </p:spPr>
        <p:txBody>
          <a:bodyPr>
            <a:normAutofit/>
          </a:bodyPr>
          <a:lstStyle/>
          <a:p>
            <a:r>
              <a:rPr lang="en-US"/>
              <a:t>Memory and storage</a:t>
            </a:r>
          </a:p>
        </p:txBody>
      </p:sp>
      <p:cxnSp>
        <p:nvCxnSpPr>
          <p:cNvPr id="15" name="Straight Connector 14">
            <a:extLst>
              <a:ext uri="{FF2B5EF4-FFF2-40B4-BE49-F238E27FC236}">
                <a16:creationId xmlns:a16="http://schemas.microsoft.com/office/drawing/2014/main" id="{AAD0195E-7F27-4D06-9427-0C121D721A1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723900"/>
            <a:ext cx="10591800" cy="0"/>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D74C2FC-3228-4FC1-B97B-87AD35508D9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00100" y="6142781"/>
            <a:ext cx="105918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8" name="Content Placeholder 7">
            <a:extLst>
              <a:ext uri="{FF2B5EF4-FFF2-40B4-BE49-F238E27FC236}">
                <a16:creationId xmlns:a16="http://schemas.microsoft.com/office/drawing/2014/main" id="{C8E92052-1D91-BA23-0336-5F65DCF0CB9F}"/>
              </a:ext>
            </a:extLst>
          </p:cNvPr>
          <p:cNvGraphicFramePr>
            <a:graphicFrameLocks noGrp="1"/>
          </p:cNvGraphicFramePr>
          <p:nvPr>
            <p:ph idx="1"/>
            <p:extLst>
              <p:ext uri="{D42A27DB-BD31-4B8C-83A1-F6EECF244321}">
                <p14:modId xmlns:p14="http://schemas.microsoft.com/office/powerpoint/2010/main" val="1698096552"/>
              </p:ext>
            </p:extLst>
          </p:nvPr>
        </p:nvGraphicFramePr>
        <p:xfrm>
          <a:off x="700216" y="1699054"/>
          <a:ext cx="10691812" cy="4228717"/>
        </p:xfrm>
        <a:graphic>
          <a:graphicData uri="http://schemas.openxmlformats.org/drawingml/2006/table">
            <a:tbl>
              <a:tblPr bandRow="1">
                <a:tableStyleId>{5C22544A-7EE6-4342-B048-85BDC9FD1C3A}</a:tableStyleId>
              </a:tblPr>
              <a:tblGrid>
                <a:gridCol w="5345906">
                  <a:extLst>
                    <a:ext uri="{9D8B030D-6E8A-4147-A177-3AD203B41FA5}">
                      <a16:colId xmlns:a16="http://schemas.microsoft.com/office/drawing/2014/main" val="2952949178"/>
                    </a:ext>
                  </a:extLst>
                </a:gridCol>
                <a:gridCol w="5345906">
                  <a:extLst>
                    <a:ext uri="{9D8B030D-6E8A-4147-A177-3AD203B41FA5}">
                      <a16:colId xmlns:a16="http://schemas.microsoft.com/office/drawing/2014/main" val="2069541974"/>
                    </a:ext>
                  </a:extLst>
                </a:gridCol>
              </a:tblGrid>
              <a:tr h="331664">
                <a:tc>
                  <a:txBody>
                    <a:bodyPr/>
                    <a:lstStyle/>
                    <a:p>
                      <a:pPr algn="ctr">
                        <a:buNone/>
                      </a:pPr>
                      <a:r>
                        <a:rPr lang="en-US" sz="1300"/>
                        <a:t>Memory</a:t>
                      </a:r>
                    </a:p>
                  </a:txBody>
                  <a:tcPr marL="68191" marR="68191" marT="34095" marB="34095" anchor="ctr">
                    <a:lnL>
                      <a:noFill/>
                    </a:lnL>
                    <a:lnR>
                      <a:noFill/>
                    </a:lnR>
                    <a:lnT>
                      <a:noFill/>
                    </a:lnT>
                    <a:lnB>
                      <a:noFill/>
                    </a:lnB>
                    <a:noFill/>
                  </a:tcPr>
                </a:tc>
                <a:tc>
                  <a:txBody>
                    <a:bodyPr/>
                    <a:lstStyle/>
                    <a:p>
                      <a:pPr algn="ctr">
                        <a:buNone/>
                      </a:pPr>
                      <a:r>
                        <a:rPr lang="en-US" sz="1300"/>
                        <a:t>Storage</a:t>
                      </a:r>
                    </a:p>
                  </a:txBody>
                  <a:tcPr marL="68191" marR="68191" marT="34095" marB="34095" anchor="ctr">
                    <a:lnL>
                      <a:noFill/>
                    </a:lnL>
                    <a:lnR>
                      <a:noFill/>
                    </a:lnR>
                    <a:lnT>
                      <a:noFill/>
                    </a:lnT>
                    <a:lnB>
                      <a:noFill/>
                    </a:lnB>
                    <a:noFill/>
                  </a:tcPr>
                </a:tc>
                <a:extLst>
                  <a:ext uri="{0D108BD9-81ED-4DB2-BD59-A6C34878D82A}">
                    <a16:rowId xmlns:a16="http://schemas.microsoft.com/office/drawing/2014/main" val="226269203"/>
                  </a:ext>
                </a:extLst>
              </a:tr>
              <a:tr h="713077">
                <a:tc>
                  <a:txBody>
                    <a:bodyPr/>
                    <a:lstStyle/>
                    <a:p>
                      <a:pPr>
                        <a:buNone/>
                      </a:pPr>
                      <a:r>
                        <a:rPr lang="en-US" sz="1300"/>
                        <a:t>Memory is an electronic component that can store data and information on a temporary basis.</a:t>
                      </a:r>
                    </a:p>
                  </a:txBody>
                  <a:tcPr marL="68191" marR="68191" marT="34095" marB="34095" anchor="ctr">
                    <a:lnL>
                      <a:noFill/>
                    </a:lnL>
                    <a:lnR>
                      <a:noFill/>
                    </a:lnR>
                    <a:lnT>
                      <a:noFill/>
                    </a:lnT>
                    <a:lnB>
                      <a:noFill/>
                    </a:lnB>
                    <a:noFill/>
                  </a:tcPr>
                </a:tc>
                <a:tc>
                  <a:txBody>
                    <a:bodyPr/>
                    <a:lstStyle/>
                    <a:p>
                      <a:pPr>
                        <a:buNone/>
                      </a:pPr>
                      <a:r>
                        <a:rPr lang="en-US" sz="1300"/>
                        <a:t>Storage refers to physical storage devices.</a:t>
                      </a:r>
                    </a:p>
                  </a:txBody>
                  <a:tcPr marL="68191" marR="68191" marT="34095" marB="34095" anchor="ctr">
                    <a:lnL>
                      <a:noFill/>
                    </a:lnL>
                    <a:lnR>
                      <a:noFill/>
                    </a:lnR>
                    <a:lnT>
                      <a:noFill/>
                    </a:lnT>
                    <a:lnB>
                      <a:noFill/>
                    </a:lnB>
                    <a:noFill/>
                  </a:tcPr>
                </a:tc>
                <a:extLst>
                  <a:ext uri="{0D108BD9-81ED-4DB2-BD59-A6C34878D82A}">
                    <a16:rowId xmlns:a16="http://schemas.microsoft.com/office/drawing/2014/main" val="4019366985"/>
                  </a:ext>
                </a:extLst>
              </a:tr>
              <a:tr h="397997">
                <a:tc>
                  <a:txBody>
                    <a:bodyPr/>
                    <a:lstStyle/>
                    <a:p>
                      <a:pPr>
                        <a:buNone/>
                      </a:pPr>
                      <a:r>
                        <a:rPr lang="en-US" sz="1300"/>
                        <a:t>It is temporary data storage.</a:t>
                      </a:r>
                    </a:p>
                  </a:txBody>
                  <a:tcPr marL="68191" marR="68191" marT="34095" marB="34095" anchor="ctr">
                    <a:lnL>
                      <a:noFill/>
                    </a:lnL>
                    <a:lnR>
                      <a:noFill/>
                    </a:lnR>
                    <a:lnT>
                      <a:noFill/>
                    </a:lnT>
                    <a:lnB>
                      <a:noFill/>
                    </a:lnB>
                    <a:noFill/>
                  </a:tcPr>
                </a:tc>
                <a:tc>
                  <a:txBody>
                    <a:bodyPr/>
                    <a:lstStyle/>
                    <a:p>
                      <a:pPr>
                        <a:buNone/>
                      </a:pPr>
                      <a:r>
                        <a:rPr lang="en-US" sz="1300"/>
                        <a:t>Data is stored both temporarily and permanently.</a:t>
                      </a:r>
                    </a:p>
                  </a:txBody>
                  <a:tcPr marL="68191" marR="68191" marT="34095" marB="34095" anchor="ctr">
                    <a:lnL>
                      <a:noFill/>
                    </a:lnL>
                    <a:lnR>
                      <a:noFill/>
                    </a:lnR>
                    <a:lnT>
                      <a:noFill/>
                    </a:lnT>
                    <a:lnB>
                      <a:noFill/>
                    </a:lnB>
                    <a:noFill/>
                  </a:tcPr>
                </a:tc>
                <a:extLst>
                  <a:ext uri="{0D108BD9-81ED-4DB2-BD59-A6C34878D82A}">
                    <a16:rowId xmlns:a16="http://schemas.microsoft.com/office/drawing/2014/main" val="148469138"/>
                  </a:ext>
                </a:extLst>
              </a:tr>
              <a:tr h="397997">
                <a:tc>
                  <a:txBody>
                    <a:bodyPr/>
                    <a:lstStyle/>
                    <a:p>
                      <a:pPr>
                        <a:buNone/>
                      </a:pPr>
                      <a:r>
                        <a:rPr lang="en-US" sz="1300"/>
                        <a:t>Memory is faster than storage.</a:t>
                      </a:r>
                    </a:p>
                  </a:txBody>
                  <a:tcPr marL="68191" marR="68191" marT="34095" marB="34095" anchor="ctr">
                    <a:lnL>
                      <a:noFill/>
                    </a:lnL>
                    <a:lnR>
                      <a:noFill/>
                    </a:lnR>
                    <a:lnT>
                      <a:noFill/>
                    </a:lnT>
                    <a:lnB>
                      <a:noFill/>
                    </a:lnB>
                    <a:noFill/>
                  </a:tcPr>
                </a:tc>
                <a:tc>
                  <a:txBody>
                    <a:bodyPr/>
                    <a:lstStyle/>
                    <a:p>
                      <a:pPr>
                        <a:buNone/>
                      </a:pPr>
                      <a:r>
                        <a:rPr lang="en-US" sz="1300"/>
                        <a:t>Storage is slower than memory. </a:t>
                      </a:r>
                    </a:p>
                  </a:txBody>
                  <a:tcPr marL="68191" marR="68191" marT="34095" marB="34095" anchor="ctr">
                    <a:lnL>
                      <a:noFill/>
                    </a:lnL>
                    <a:lnR>
                      <a:noFill/>
                    </a:lnR>
                    <a:lnT>
                      <a:noFill/>
                    </a:lnT>
                    <a:lnB>
                      <a:noFill/>
                    </a:lnB>
                    <a:noFill/>
                  </a:tcPr>
                </a:tc>
                <a:extLst>
                  <a:ext uri="{0D108BD9-81ED-4DB2-BD59-A6C34878D82A}">
                    <a16:rowId xmlns:a16="http://schemas.microsoft.com/office/drawing/2014/main" val="4182948575"/>
                  </a:ext>
                </a:extLst>
              </a:tr>
              <a:tr h="397997">
                <a:tc>
                  <a:txBody>
                    <a:bodyPr/>
                    <a:lstStyle/>
                    <a:p>
                      <a:pPr>
                        <a:buNone/>
                      </a:pPr>
                      <a:r>
                        <a:rPr lang="en-US" sz="1300"/>
                        <a:t>Memory can access data and information instantly.</a:t>
                      </a:r>
                    </a:p>
                  </a:txBody>
                  <a:tcPr marL="68191" marR="68191" marT="34095" marB="34095" anchor="ctr">
                    <a:lnL>
                      <a:noFill/>
                    </a:lnL>
                    <a:lnR>
                      <a:noFill/>
                    </a:lnR>
                    <a:lnT>
                      <a:noFill/>
                    </a:lnT>
                    <a:lnB>
                      <a:noFill/>
                    </a:lnB>
                    <a:noFill/>
                  </a:tcPr>
                </a:tc>
                <a:tc>
                  <a:txBody>
                    <a:bodyPr/>
                    <a:lstStyle/>
                    <a:p>
                      <a:pPr>
                        <a:buNone/>
                      </a:pPr>
                      <a:r>
                        <a:rPr lang="en-US" sz="1300"/>
                        <a:t>Storage cannot access or modify data as fast as the memory.</a:t>
                      </a:r>
                    </a:p>
                  </a:txBody>
                  <a:tcPr marL="68191" marR="68191" marT="34095" marB="34095" anchor="ctr">
                    <a:lnL>
                      <a:noFill/>
                    </a:lnL>
                    <a:lnR>
                      <a:noFill/>
                    </a:lnR>
                    <a:lnT>
                      <a:noFill/>
                    </a:lnT>
                    <a:lnB>
                      <a:noFill/>
                    </a:lnB>
                    <a:noFill/>
                  </a:tcPr>
                </a:tc>
                <a:extLst>
                  <a:ext uri="{0D108BD9-81ED-4DB2-BD59-A6C34878D82A}">
                    <a16:rowId xmlns:a16="http://schemas.microsoft.com/office/drawing/2014/main" val="534672352"/>
                  </a:ext>
                </a:extLst>
              </a:tr>
              <a:tr h="397997">
                <a:tc>
                  <a:txBody>
                    <a:bodyPr/>
                    <a:lstStyle/>
                    <a:p>
                      <a:pPr>
                        <a:buNone/>
                      </a:pPr>
                      <a:r>
                        <a:rPr lang="en-US" sz="1300"/>
                        <a:t>It is a collection of computer chips installed in memory modules.</a:t>
                      </a:r>
                    </a:p>
                  </a:txBody>
                  <a:tcPr marL="68191" marR="68191" marT="34095" marB="34095" anchor="ctr">
                    <a:lnL>
                      <a:noFill/>
                    </a:lnL>
                    <a:lnR>
                      <a:noFill/>
                    </a:lnR>
                    <a:lnT>
                      <a:noFill/>
                    </a:lnT>
                    <a:lnB>
                      <a:noFill/>
                    </a:lnB>
                    <a:noFill/>
                  </a:tcPr>
                </a:tc>
                <a:tc>
                  <a:txBody>
                    <a:bodyPr/>
                    <a:lstStyle/>
                    <a:p>
                      <a:pPr>
                        <a:buNone/>
                      </a:pPr>
                      <a:r>
                        <a:rPr lang="en-US" sz="1300"/>
                        <a:t>It is a technology consisting of core components of a computer.</a:t>
                      </a:r>
                    </a:p>
                  </a:txBody>
                  <a:tcPr marL="68191" marR="68191" marT="34095" marB="34095" anchor="ctr">
                    <a:lnL>
                      <a:noFill/>
                    </a:lnL>
                    <a:lnR>
                      <a:noFill/>
                    </a:lnR>
                    <a:lnT>
                      <a:noFill/>
                    </a:lnT>
                    <a:lnB>
                      <a:noFill/>
                    </a:lnB>
                    <a:noFill/>
                  </a:tcPr>
                </a:tc>
                <a:extLst>
                  <a:ext uri="{0D108BD9-81ED-4DB2-BD59-A6C34878D82A}">
                    <a16:rowId xmlns:a16="http://schemas.microsoft.com/office/drawing/2014/main" val="529656223"/>
                  </a:ext>
                </a:extLst>
              </a:tr>
              <a:tr h="397997">
                <a:tc>
                  <a:txBody>
                    <a:bodyPr/>
                    <a:lstStyle/>
                    <a:p>
                      <a:pPr>
                        <a:buNone/>
                      </a:pPr>
                      <a:r>
                        <a:rPr lang="en-US" sz="1300"/>
                        <a:t>When the computer loses the power, Data is lost .</a:t>
                      </a:r>
                    </a:p>
                  </a:txBody>
                  <a:tcPr marL="68191" marR="68191" marT="34095" marB="34095" anchor="ctr">
                    <a:lnL>
                      <a:noFill/>
                    </a:lnL>
                    <a:lnR>
                      <a:noFill/>
                    </a:lnR>
                    <a:lnT>
                      <a:noFill/>
                    </a:lnT>
                    <a:lnB>
                      <a:noFill/>
                    </a:lnB>
                    <a:noFill/>
                  </a:tcPr>
                </a:tc>
                <a:tc>
                  <a:txBody>
                    <a:bodyPr/>
                    <a:lstStyle/>
                    <a:p>
                      <a:pPr>
                        <a:buNone/>
                      </a:pPr>
                      <a:r>
                        <a:rPr lang="en-US" sz="1300"/>
                        <a:t>No data is lost.</a:t>
                      </a:r>
                    </a:p>
                  </a:txBody>
                  <a:tcPr marL="68191" marR="68191" marT="34095" marB="34095" anchor="ctr">
                    <a:lnL>
                      <a:noFill/>
                    </a:lnL>
                    <a:lnR>
                      <a:noFill/>
                    </a:lnR>
                    <a:lnT>
                      <a:noFill/>
                    </a:lnT>
                    <a:lnB>
                      <a:noFill/>
                    </a:lnB>
                    <a:noFill/>
                  </a:tcPr>
                </a:tc>
                <a:extLst>
                  <a:ext uri="{0D108BD9-81ED-4DB2-BD59-A6C34878D82A}">
                    <a16:rowId xmlns:a16="http://schemas.microsoft.com/office/drawing/2014/main" val="1697517720"/>
                  </a:ext>
                </a:extLst>
              </a:tr>
              <a:tr h="397997">
                <a:tc>
                  <a:txBody>
                    <a:bodyPr/>
                    <a:lstStyle/>
                    <a:p>
                      <a:pPr>
                        <a:buNone/>
                      </a:pPr>
                      <a:r>
                        <a:rPr lang="en-US" sz="1300"/>
                        <a:t>The memory module are expensive than storage.</a:t>
                      </a:r>
                    </a:p>
                  </a:txBody>
                  <a:tcPr marL="68191" marR="68191" marT="34095" marB="34095" anchor="ctr">
                    <a:lnL>
                      <a:noFill/>
                    </a:lnL>
                    <a:lnR>
                      <a:noFill/>
                    </a:lnR>
                    <a:lnT>
                      <a:noFill/>
                    </a:lnT>
                    <a:lnB>
                      <a:noFill/>
                    </a:lnB>
                    <a:noFill/>
                  </a:tcPr>
                </a:tc>
                <a:tc>
                  <a:txBody>
                    <a:bodyPr/>
                    <a:lstStyle/>
                    <a:p>
                      <a:pPr>
                        <a:buNone/>
                      </a:pPr>
                      <a:r>
                        <a:rPr lang="en-US" sz="1300"/>
                        <a:t>Storage devices are cheaper.</a:t>
                      </a:r>
                    </a:p>
                  </a:txBody>
                  <a:tcPr marL="68191" marR="68191" marT="34095" marB="34095" anchor="ctr">
                    <a:lnL>
                      <a:noFill/>
                    </a:lnL>
                    <a:lnR>
                      <a:noFill/>
                    </a:lnR>
                    <a:lnT>
                      <a:noFill/>
                    </a:lnT>
                    <a:lnB>
                      <a:noFill/>
                    </a:lnB>
                    <a:noFill/>
                  </a:tcPr>
                </a:tc>
                <a:extLst>
                  <a:ext uri="{0D108BD9-81ED-4DB2-BD59-A6C34878D82A}">
                    <a16:rowId xmlns:a16="http://schemas.microsoft.com/office/drawing/2014/main" val="1947664503"/>
                  </a:ext>
                </a:extLst>
              </a:tr>
              <a:tr h="397997">
                <a:tc>
                  <a:txBody>
                    <a:bodyPr/>
                    <a:lstStyle/>
                    <a:p>
                      <a:pPr>
                        <a:buNone/>
                      </a:pPr>
                      <a:r>
                        <a:rPr lang="en-US" sz="1300"/>
                        <a:t>Their size are not much larger and goes upto GBs.</a:t>
                      </a:r>
                    </a:p>
                  </a:txBody>
                  <a:tcPr marL="68191" marR="68191" marT="34095" marB="34095" anchor="ctr">
                    <a:lnL>
                      <a:noFill/>
                    </a:lnL>
                    <a:lnR>
                      <a:noFill/>
                    </a:lnR>
                    <a:lnT>
                      <a:noFill/>
                    </a:lnT>
                    <a:lnB>
                      <a:noFill/>
                    </a:lnB>
                    <a:noFill/>
                  </a:tcPr>
                </a:tc>
                <a:tc>
                  <a:txBody>
                    <a:bodyPr/>
                    <a:lstStyle/>
                    <a:p>
                      <a:pPr>
                        <a:buNone/>
                      </a:pPr>
                      <a:r>
                        <a:rPr lang="en-US" sz="1300"/>
                        <a:t>Their size are much larger than memory and goes </a:t>
                      </a:r>
                      <a:r>
                        <a:rPr lang="en-US" sz="1300" err="1"/>
                        <a:t>upto</a:t>
                      </a:r>
                      <a:r>
                        <a:rPr lang="en-US" sz="1300"/>
                        <a:t> </a:t>
                      </a:r>
                      <a:r>
                        <a:rPr lang="en-US" sz="1300" err="1"/>
                        <a:t>TBs.</a:t>
                      </a:r>
                    </a:p>
                  </a:txBody>
                  <a:tcPr marL="68191" marR="68191" marT="34095" marB="34095" anchor="ctr">
                    <a:lnL>
                      <a:noFill/>
                    </a:lnL>
                    <a:lnR>
                      <a:noFill/>
                    </a:lnR>
                    <a:lnT>
                      <a:noFill/>
                    </a:lnT>
                    <a:lnB>
                      <a:noFill/>
                    </a:lnB>
                    <a:noFill/>
                  </a:tcPr>
                </a:tc>
                <a:extLst>
                  <a:ext uri="{0D108BD9-81ED-4DB2-BD59-A6C34878D82A}">
                    <a16:rowId xmlns:a16="http://schemas.microsoft.com/office/drawing/2014/main" val="1894446775"/>
                  </a:ext>
                </a:extLst>
              </a:tr>
              <a:tr h="397997">
                <a:tc>
                  <a:txBody>
                    <a:bodyPr/>
                    <a:lstStyle/>
                    <a:p>
                      <a:pPr>
                        <a:buNone/>
                      </a:pPr>
                      <a:r>
                        <a:rPr lang="en-US" sz="1300"/>
                        <a:t>It is used when data is stored for short time.</a:t>
                      </a:r>
                    </a:p>
                  </a:txBody>
                  <a:tcPr marL="68191" marR="68191" marT="34095" marB="34095" anchor="ctr">
                    <a:lnL>
                      <a:noFill/>
                    </a:lnL>
                    <a:lnR>
                      <a:noFill/>
                    </a:lnR>
                    <a:lnT>
                      <a:noFill/>
                    </a:lnT>
                    <a:lnB>
                      <a:noFill/>
                    </a:lnB>
                    <a:noFill/>
                  </a:tcPr>
                </a:tc>
                <a:tc>
                  <a:txBody>
                    <a:bodyPr/>
                    <a:lstStyle/>
                    <a:p>
                      <a:pPr>
                        <a:buNone/>
                      </a:pPr>
                      <a:r>
                        <a:rPr lang="en-US" sz="1300"/>
                        <a:t>It is used when data is stored for long term.</a:t>
                      </a:r>
                    </a:p>
                  </a:txBody>
                  <a:tcPr marL="68191" marR="68191" marT="34095" marB="34095" anchor="ctr">
                    <a:lnL>
                      <a:noFill/>
                    </a:lnL>
                    <a:lnR>
                      <a:noFill/>
                    </a:lnR>
                    <a:lnT>
                      <a:noFill/>
                    </a:lnT>
                    <a:lnB>
                      <a:noFill/>
                    </a:lnB>
                    <a:noFill/>
                  </a:tcPr>
                </a:tc>
                <a:extLst>
                  <a:ext uri="{0D108BD9-81ED-4DB2-BD59-A6C34878D82A}">
                    <a16:rowId xmlns:a16="http://schemas.microsoft.com/office/drawing/2014/main" val="691198009"/>
                  </a:ext>
                </a:extLst>
              </a:tr>
            </a:tbl>
          </a:graphicData>
        </a:graphic>
      </p:graphicFrame>
    </p:spTree>
    <p:extLst>
      <p:ext uri="{BB962C8B-B14F-4D97-AF65-F5344CB8AC3E}">
        <p14:creationId xmlns:p14="http://schemas.microsoft.com/office/powerpoint/2010/main" val="2838295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059BF4-94AF-F30F-4AEA-D68C5AA92200}"/>
              </a:ext>
            </a:extLst>
          </p:cNvPr>
          <p:cNvSpPr>
            <a:spLocks noGrp="1"/>
          </p:cNvSpPr>
          <p:nvPr>
            <p:ph type="title"/>
          </p:nvPr>
        </p:nvSpPr>
        <p:spPr/>
        <p:txBody>
          <a:bodyPr/>
          <a:lstStyle/>
          <a:p>
            <a:r>
              <a:rPr lang="en-US"/>
              <a:t>Processes</a:t>
            </a:r>
          </a:p>
        </p:txBody>
      </p:sp>
      <p:sp>
        <p:nvSpPr>
          <p:cNvPr id="3" name="Content Placeholder 2">
            <a:extLst>
              <a:ext uri="{FF2B5EF4-FFF2-40B4-BE49-F238E27FC236}">
                <a16:creationId xmlns:a16="http://schemas.microsoft.com/office/drawing/2014/main" id="{4AB61314-E85D-369B-E593-8177C46E97F8}"/>
              </a:ext>
            </a:extLst>
          </p:cNvPr>
          <p:cNvSpPr>
            <a:spLocks noGrp="1"/>
          </p:cNvSpPr>
          <p:nvPr>
            <p:ph idx="1"/>
          </p:nvPr>
        </p:nvSpPr>
        <p:spPr/>
        <p:txBody>
          <a:bodyPr vert="horz" lIns="91440" tIns="45720" rIns="91440" bIns="45720" rtlCol="0" anchor="t">
            <a:normAutofit fontScale="92500"/>
          </a:bodyPr>
          <a:lstStyle/>
          <a:p>
            <a:r>
              <a:rPr lang="en-US">
                <a:ea typeface="+mn-lt"/>
                <a:cs typeface="+mn-lt"/>
              </a:rPr>
              <a:t>In Linux, a process is any active (running) instance of a program. A program is any executable file held in storage on your machine. Anytime you run a program, you have created a process.</a:t>
            </a:r>
          </a:p>
          <a:p>
            <a:r>
              <a:rPr lang="en-US">
                <a:ea typeface="+mn-lt"/>
                <a:cs typeface="+mn-lt"/>
              </a:rPr>
              <a:t>Whenever a command is issued in Unix/Linux, it creates/starts a new process. For example, pwd when issued which is used to list the current directory location the user is in, a process starts.</a:t>
            </a:r>
            <a:endParaRPr lang="en-US"/>
          </a:p>
          <a:p>
            <a:r>
              <a:rPr lang="en-US">
                <a:ea typeface="+mn-lt"/>
                <a:cs typeface="+mn-lt"/>
              </a:rPr>
              <a:t>Through a 5 digit ID number Unix/Linux keeps an account of the processes, this number is called process ID or PID. Each process in the system has a unique PID.</a:t>
            </a:r>
            <a:endParaRPr lang="en-US"/>
          </a:p>
          <a:p>
            <a:r>
              <a:rPr lang="en-US">
                <a:ea typeface="+mn-lt"/>
                <a:cs typeface="+mn-lt"/>
              </a:rPr>
              <a:t>Used up </a:t>
            </a:r>
            <a:r>
              <a:rPr lang="en-US" err="1">
                <a:ea typeface="+mn-lt"/>
                <a:cs typeface="+mn-lt"/>
              </a:rPr>
              <a:t>pid’s</a:t>
            </a:r>
            <a:r>
              <a:rPr lang="en-US">
                <a:ea typeface="+mn-lt"/>
                <a:cs typeface="+mn-lt"/>
              </a:rPr>
              <a:t> can be used in again for a newer process since all the possible combinations are used.</a:t>
            </a:r>
            <a:endParaRPr lang="en-US"/>
          </a:p>
          <a:p>
            <a:r>
              <a:rPr lang="en-US">
                <a:ea typeface="+mn-lt"/>
                <a:cs typeface="+mn-lt"/>
              </a:rPr>
              <a:t>At any point of time, no two processes with the same </a:t>
            </a:r>
            <a:r>
              <a:rPr lang="en-US" err="1">
                <a:ea typeface="+mn-lt"/>
                <a:cs typeface="+mn-lt"/>
              </a:rPr>
              <a:t>pid</a:t>
            </a:r>
            <a:r>
              <a:rPr lang="en-US">
                <a:ea typeface="+mn-lt"/>
                <a:cs typeface="+mn-lt"/>
              </a:rPr>
              <a:t> exist in the system because it is the </a:t>
            </a:r>
            <a:r>
              <a:rPr lang="en-US" err="1">
                <a:ea typeface="+mn-lt"/>
                <a:cs typeface="+mn-lt"/>
              </a:rPr>
              <a:t>pid</a:t>
            </a:r>
            <a:r>
              <a:rPr lang="en-US">
                <a:ea typeface="+mn-lt"/>
                <a:cs typeface="+mn-lt"/>
              </a:rPr>
              <a:t> that Unix uses to track each process.</a:t>
            </a:r>
            <a:endParaRPr lang="en-US"/>
          </a:p>
        </p:txBody>
      </p:sp>
    </p:spTree>
    <p:extLst>
      <p:ext uri="{BB962C8B-B14F-4D97-AF65-F5344CB8AC3E}">
        <p14:creationId xmlns:p14="http://schemas.microsoft.com/office/powerpoint/2010/main" val="160046882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502A7-2ACD-C495-EB2A-97233217AA0E}"/>
              </a:ext>
            </a:extLst>
          </p:cNvPr>
          <p:cNvSpPr>
            <a:spLocks noGrp="1"/>
          </p:cNvSpPr>
          <p:nvPr>
            <p:ph type="title"/>
          </p:nvPr>
        </p:nvSpPr>
        <p:spPr/>
        <p:txBody>
          <a:bodyPr/>
          <a:lstStyle/>
          <a:p>
            <a:r>
              <a:rPr lang="en-US">
                <a:ea typeface="+mj-lt"/>
                <a:cs typeface="+mj-lt"/>
              </a:rPr>
              <a:t>Foreground Process</a:t>
            </a:r>
            <a:endParaRPr lang="en-US"/>
          </a:p>
        </p:txBody>
      </p:sp>
      <p:sp>
        <p:nvSpPr>
          <p:cNvPr id="3" name="Content Placeholder 2">
            <a:extLst>
              <a:ext uri="{FF2B5EF4-FFF2-40B4-BE49-F238E27FC236}">
                <a16:creationId xmlns:a16="http://schemas.microsoft.com/office/drawing/2014/main" id="{A17E3C66-96AB-AE71-960A-CCDCBC9E81D1}"/>
              </a:ext>
            </a:extLst>
          </p:cNvPr>
          <p:cNvSpPr>
            <a:spLocks noGrp="1"/>
          </p:cNvSpPr>
          <p:nvPr>
            <p:ph idx="1"/>
          </p:nvPr>
        </p:nvSpPr>
        <p:spPr/>
        <p:txBody>
          <a:bodyPr vert="horz" lIns="91440" tIns="45720" rIns="91440" bIns="45720" rtlCol="0" anchor="t">
            <a:normAutofit/>
          </a:bodyPr>
          <a:lstStyle/>
          <a:p>
            <a:r>
              <a:rPr lang="en-US">
                <a:ea typeface="+mn-lt"/>
                <a:cs typeface="+mn-lt"/>
              </a:rPr>
              <a:t>Every process when started runs in foreground by default, receives input from the keyboard, and sends output to the screen.</a:t>
            </a:r>
          </a:p>
          <a:p>
            <a:r>
              <a:rPr lang="en-US">
                <a:ea typeface="+mn-lt"/>
                <a:cs typeface="+mn-lt"/>
              </a:rPr>
              <a:t>When a command or process runs in the foreground, it occupies the terminal until it finishes executing.</a:t>
            </a:r>
            <a:endParaRPr lang="en-US"/>
          </a:p>
          <a:p>
            <a:r>
              <a:rPr lang="en-US">
                <a:ea typeface="+mn-lt"/>
                <a:cs typeface="+mn-lt"/>
              </a:rPr>
              <a:t>This means no other commands or processes can be started during that time.</a:t>
            </a:r>
            <a:endParaRPr lang="en-US"/>
          </a:p>
          <a:p>
            <a:r>
              <a:rPr lang="en-US">
                <a:ea typeface="+mn-lt"/>
                <a:cs typeface="+mn-lt"/>
              </a:rPr>
              <a:t>The terminal prompt becomes available only after the current process completes.</a:t>
            </a:r>
          </a:p>
          <a:p>
            <a:r>
              <a:rPr lang="en-US"/>
              <a:t>Eg: tail -f &lt;log file name&gt;</a:t>
            </a:r>
          </a:p>
        </p:txBody>
      </p:sp>
    </p:spTree>
    <p:extLst>
      <p:ext uri="{BB962C8B-B14F-4D97-AF65-F5344CB8AC3E}">
        <p14:creationId xmlns:p14="http://schemas.microsoft.com/office/powerpoint/2010/main" val="141016897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61A2F7-2F0F-4D20-F68A-647195F01EBB}"/>
              </a:ext>
            </a:extLst>
          </p:cNvPr>
          <p:cNvSpPr>
            <a:spLocks noGrp="1"/>
          </p:cNvSpPr>
          <p:nvPr>
            <p:ph type="title"/>
          </p:nvPr>
        </p:nvSpPr>
        <p:spPr/>
        <p:txBody>
          <a:bodyPr/>
          <a:lstStyle/>
          <a:p>
            <a:r>
              <a:rPr lang="en-US"/>
              <a:t>Background processes</a:t>
            </a:r>
          </a:p>
        </p:txBody>
      </p:sp>
      <p:sp>
        <p:nvSpPr>
          <p:cNvPr id="3" name="Content Placeholder 2">
            <a:extLst>
              <a:ext uri="{FF2B5EF4-FFF2-40B4-BE49-F238E27FC236}">
                <a16:creationId xmlns:a16="http://schemas.microsoft.com/office/drawing/2014/main" id="{AFB969FA-C9EF-FED7-48CE-FACD627DBD12}"/>
              </a:ext>
            </a:extLst>
          </p:cNvPr>
          <p:cNvSpPr>
            <a:spLocks noGrp="1"/>
          </p:cNvSpPr>
          <p:nvPr>
            <p:ph idx="1"/>
          </p:nvPr>
        </p:nvSpPr>
        <p:spPr/>
        <p:txBody>
          <a:bodyPr vert="horz" lIns="91440" tIns="45720" rIns="91440" bIns="45720" rtlCol="0" anchor="t">
            <a:normAutofit/>
          </a:bodyPr>
          <a:lstStyle/>
          <a:p>
            <a:r>
              <a:rPr lang="en-US">
                <a:ea typeface="+mn-lt"/>
                <a:cs typeface="+mn-lt"/>
              </a:rPr>
              <a:t>It runs independently of the terminal, allowing you to perform other tasks simultaneously.</a:t>
            </a:r>
            <a:endParaRPr lang="en-US"/>
          </a:p>
          <a:p>
            <a:r>
              <a:rPr lang="en-US">
                <a:ea typeface="+mn-lt"/>
                <a:cs typeface="+mn-lt"/>
              </a:rPr>
              <a:t>They do not require keyboard input while running.</a:t>
            </a:r>
            <a:endParaRPr lang="en-US"/>
          </a:p>
          <a:p>
            <a:r>
              <a:rPr lang="en-US">
                <a:ea typeface="+mn-lt"/>
                <a:cs typeface="+mn-lt"/>
              </a:rPr>
              <a:t>To start a process in the background, add &amp; at the end of the command.</a:t>
            </a:r>
          </a:p>
          <a:p>
            <a:r>
              <a:rPr lang="en-US"/>
              <a:t>Eg: </a:t>
            </a:r>
            <a:r>
              <a:rPr lang="en-US" err="1"/>
              <a:t>sudo</a:t>
            </a:r>
            <a:r>
              <a:rPr lang="en-US"/>
              <a:t> </a:t>
            </a:r>
            <a:r>
              <a:rPr lang="en-US" err="1"/>
              <a:t>dnf</a:t>
            </a:r>
            <a:r>
              <a:rPr lang="en-US"/>
              <a:t> update –y &amp;</a:t>
            </a:r>
          </a:p>
        </p:txBody>
      </p:sp>
    </p:spTree>
    <p:extLst>
      <p:ext uri="{BB962C8B-B14F-4D97-AF65-F5344CB8AC3E}">
        <p14:creationId xmlns:p14="http://schemas.microsoft.com/office/powerpoint/2010/main" val="199192012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0D898-B61D-ED3A-B9DC-43A20F7E2974}"/>
              </a:ext>
            </a:extLst>
          </p:cNvPr>
          <p:cNvSpPr>
            <a:spLocks noGrp="1"/>
          </p:cNvSpPr>
          <p:nvPr>
            <p:ph type="title"/>
          </p:nvPr>
        </p:nvSpPr>
        <p:spPr/>
        <p:txBody>
          <a:bodyPr/>
          <a:lstStyle/>
          <a:p>
            <a:r>
              <a:rPr lang="en-US"/>
              <a:t>Processes</a:t>
            </a:r>
          </a:p>
        </p:txBody>
      </p:sp>
      <p:sp>
        <p:nvSpPr>
          <p:cNvPr id="3" name="Content Placeholder 2">
            <a:extLst>
              <a:ext uri="{FF2B5EF4-FFF2-40B4-BE49-F238E27FC236}">
                <a16:creationId xmlns:a16="http://schemas.microsoft.com/office/drawing/2014/main" id="{BEAC7105-FE8A-2E65-EBC2-14BA1B3ACA87}"/>
              </a:ext>
            </a:extLst>
          </p:cNvPr>
          <p:cNvSpPr>
            <a:spLocks noGrp="1"/>
          </p:cNvSpPr>
          <p:nvPr>
            <p:ph idx="1"/>
          </p:nvPr>
        </p:nvSpPr>
        <p:spPr/>
        <p:txBody>
          <a:bodyPr vert="horz" lIns="91440" tIns="45720" rIns="91440" bIns="45720" rtlCol="0" anchor="t">
            <a:normAutofit lnSpcReduction="10000"/>
          </a:bodyPr>
          <a:lstStyle/>
          <a:p>
            <a:r>
              <a:rPr lang="en-US"/>
              <a:t>Tracking a process:</a:t>
            </a:r>
          </a:p>
          <a:p>
            <a:pPr lvl="1">
              <a:buFont typeface="Courier New" panose="020B0604020202020204" pitchFamily="34" charset="0"/>
              <a:buChar char="o"/>
            </a:pPr>
            <a:r>
              <a:rPr lang="en-US" err="1"/>
              <a:t>ps</a:t>
            </a:r>
          </a:p>
          <a:p>
            <a:pPr lvl="2">
              <a:buFont typeface="Wingdings" panose="020B0604020202020204" pitchFamily="34" charset="0"/>
              <a:buChar char="§"/>
            </a:pPr>
            <a:r>
              <a:rPr lang="en-US"/>
              <a:t>Flags that can be used:</a:t>
            </a:r>
          </a:p>
          <a:p>
            <a:pPr lvl="3"/>
            <a:r>
              <a:rPr lang="en-US">
                <a:ea typeface="+mn-lt"/>
                <a:cs typeface="+mn-lt"/>
              </a:rPr>
              <a:t>-a: Shows information about all users</a:t>
            </a:r>
            <a:endParaRPr lang="en-US"/>
          </a:p>
          <a:p>
            <a:pPr lvl="3"/>
            <a:r>
              <a:rPr lang="en-US">
                <a:ea typeface="+mn-lt"/>
                <a:cs typeface="+mn-lt"/>
              </a:rPr>
              <a:t>-x: Shows information about processes without terminals</a:t>
            </a:r>
            <a:endParaRPr lang="en-US"/>
          </a:p>
          <a:p>
            <a:pPr lvl="3"/>
            <a:r>
              <a:rPr lang="en-US">
                <a:ea typeface="+mn-lt"/>
                <a:cs typeface="+mn-lt"/>
              </a:rPr>
              <a:t>-u: Shows additional information like -f option</a:t>
            </a:r>
            <a:endParaRPr lang="en-US"/>
          </a:p>
          <a:p>
            <a:pPr lvl="3"/>
            <a:r>
              <a:rPr lang="en-US">
                <a:ea typeface="+mn-lt"/>
                <a:cs typeface="+mn-lt"/>
              </a:rPr>
              <a:t>-e: Displays extended information</a:t>
            </a:r>
          </a:p>
          <a:p>
            <a:pPr lvl="1">
              <a:buFont typeface="Courier New" panose="020B0604020202020204" pitchFamily="34" charset="0"/>
              <a:buChar char="o"/>
            </a:pPr>
            <a:r>
              <a:rPr lang="en-US">
                <a:ea typeface="+mn-lt"/>
                <a:cs typeface="+mn-lt"/>
              </a:rPr>
              <a:t>top</a:t>
            </a:r>
          </a:p>
          <a:p>
            <a:r>
              <a:rPr lang="en-US">
                <a:ea typeface="+mn-lt"/>
                <a:cs typeface="+mn-lt"/>
              </a:rPr>
              <a:t>Killing a process:</a:t>
            </a:r>
          </a:p>
          <a:p>
            <a:pPr lvl="1">
              <a:buFont typeface="Courier New" panose="020B0604020202020204" pitchFamily="34" charset="0"/>
              <a:buChar char="o"/>
            </a:pPr>
            <a:r>
              <a:rPr lang="en-US">
                <a:ea typeface="+mn-lt"/>
                <a:cs typeface="+mn-lt"/>
              </a:rPr>
              <a:t>kill &lt;process id&gt; or kill –9 &lt;process id&gt;</a:t>
            </a:r>
          </a:p>
          <a:p>
            <a:pPr marL="1371600" lvl="3" indent="0">
              <a:buNone/>
            </a:pPr>
            <a:r>
              <a:rPr lang="en-US">
                <a:ea typeface="+mn-lt"/>
                <a:cs typeface="+mn-lt"/>
              </a:rPr>
              <a:t> </a:t>
            </a:r>
          </a:p>
        </p:txBody>
      </p:sp>
    </p:spTree>
    <p:extLst>
      <p:ext uri="{BB962C8B-B14F-4D97-AF65-F5344CB8AC3E}">
        <p14:creationId xmlns:p14="http://schemas.microsoft.com/office/powerpoint/2010/main" val="20134932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DCE074-90F8-A3CE-24A9-2CEE860FCBA5}"/>
              </a:ext>
            </a:extLst>
          </p:cNvPr>
          <p:cNvSpPr>
            <a:spLocks noGrp="1"/>
          </p:cNvSpPr>
          <p:nvPr>
            <p:ph type="title"/>
          </p:nvPr>
        </p:nvSpPr>
        <p:spPr/>
        <p:txBody>
          <a:bodyPr/>
          <a:lstStyle/>
          <a:p>
            <a:r>
              <a:rPr lang="en-US" err="1"/>
              <a:t>Posix</a:t>
            </a:r>
            <a:r>
              <a:rPr lang="en-US"/>
              <a:t> Standard</a:t>
            </a:r>
          </a:p>
        </p:txBody>
      </p:sp>
      <p:sp>
        <p:nvSpPr>
          <p:cNvPr id="3" name="Content Placeholder 2">
            <a:extLst>
              <a:ext uri="{FF2B5EF4-FFF2-40B4-BE49-F238E27FC236}">
                <a16:creationId xmlns:a16="http://schemas.microsoft.com/office/drawing/2014/main" id="{F31C29E5-402D-8287-A122-289E1DB36BD4}"/>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POSIX stands for Portable Operating System Interface. </a:t>
            </a:r>
          </a:p>
          <a:p>
            <a:r>
              <a:rPr lang="en-US">
                <a:ea typeface="+mn-lt"/>
                <a:cs typeface="+mn-lt"/>
              </a:rPr>
              <a:t>Defines a set of standard operating system interfaces based on the UNIX OS. These standards are specified by the IEEE (Institute of Electrical and Electronics Engineers) society which maintains the compatibility between different operating systems. </a:t>
            </a:r>
          </a:p>
          <a:p>
            <a:r>
              <a:rPr lang="en-US">
                <a:ea typeface="+mn-lt"/>
                <a:cs typeface="+mn-lt"/>
              </a:rPr>
              <a:t>POSIX systems are theorized in such a way that data or code can be transferred seamlessly between any two systems that are POSIX compliant</a:t>
            </a:r>
            <a:endParaRPr lang="en-US"/>
          </a:p>
          <a:p>
            <a:r>
              <a:rPr lang="en-US">
                <a:ea typeface="+mn-lt"/>
                <a:cs typeface="+mn-lt"/>
              </a:rPr>
              <a:t>POSIX standards define application programming interfaces (API) at both the system and user levels and command-line shells and utility interfaces for software compatibility and/or portability with various distributions of the Unix Operating System and other operating systems as well. </a:t>
            </a:r>
          </a:p>
          <a:p>
            <a:r>
              <a:rPr lang="en-US">
                <a:ea typeface="+mn-lt"/>
                <a:cs typeface="+mn-lt"/>
              </a:rPr>
              <a:t>Developers are encouraged to use POSIX as it saves time for developers all around the world along with providing easier means for portability.</a:t>
            </a:r>
            <a:endParaRPr lang="en-US"/>
          </a:p>
        </p:txBody>
      </p:sp>
    </p:spTree>
    <p:extLst>
      <p:ext uri="{BB962C8B-B14F-4D97-AF65-F5344CB8AC3E}">
        <p14:creationId xmlns:p14="http://schemas.microsoft.com/office/powerpoint/2010/main" val="8995984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72D6C6-75B5-3BC8-73A4-8F073294F463}"/>
              </a:ext>
            </a:extLst>
          </p:cNvPr>
          <p:cNvSpPr>
            <a:spLocks noGrp="1"/>
          </p:cNvSpPr>
          <p:nvPr>
            <p:ph type="title"/>
          </p:nvPr>
        </p:nvSpPr>
        <p:spPr/>
        <p:txBody>
          <a:bodyPr/>
          <a:lstStyle/>
          <a:p>
            <a:r>
              <a:rPr lang="en-US"/>
              <a:t>Systems and services</a:t>
            </a:r>
          </a:p>
        </p:txBody>
      </p:sp>
      <p:sp>
        <p:nvSpPr>
          <p:cNvPr id="3" name="Content Placeholder 2">
            <a:extLst>
              <a:ext uri="{FF2B5EF4-FFF2-40B4-BE49-F238E27FC236}">
                <a16:creationId xmlns:a16="http://schemas.microsoft.com/office/drawing/2014/main" id="{AC8ED19A-32FE-3707-80C0-C74F1099163E}"/>
              </a:ext>
            </a:extLst>
          </p:cNvPr>
          <p:cNvSpPr>
            <a:spLocks noGrp="1"/>
          </p:cNvSpPr>
          <p:nvPr>
            <p:ph idx="1"/>
          </p:nvPr>
        </p:nvSpPr>
        <p:spPr/>
        <p:txBody>
          <a:bodyPr vert="horz" lIns="91440" tIns="45720" rIns="91440" bIns="45720" rtlCol="0" anchor="t">
            <a:normAutofit fontScale="92500" lnSpcReduction="20000"/>
          </a:bodyPr>
          <a:lstStyle/>
          <a:p>
            <a:r>
              <a:rPr lang="en-US">
                <a:ea typeface="+mn-lt"/>
                <a:cs typeface="+mn-lt"/>
              </a:rPr>
              <a:t>Linux services are background processes that start during boot and keep running to provide various functionalities.</a:t>
            </a:r>
          </a:p>
          <a:p>
            <a:r>
              <a:rPr lang="en-US" err="1">
                <a:ea typeface="+mn-lt"/>
                <a:cs typeface="+mn-lt"/>
              </a:rPr>
              <a:t>Systemd</a:t>
            </a:r>
            <a:r>
              <a:rPr lang="en-US">
                <a:ea typeface="+mn-lt"/>
                <a:cs typeface="+mn-lt"/>
              </a:rPr>
              <a:t> is a modern system and service manager for Linux that serves as the core initialization process (PID 1). It controls system startup, manages background services, and ensures efficient system operation.</a:t>
            </a:r>
            <a:endParaRPr lang="en-US"/>
          </a:p>
          <a:p>
            <a:r>
              <a:rPr lang="en-US">
                <a:ea typeface="+mn-lt"/>
                <a:cs typeface="+mn-lt"/>
              </a:rPr>
              <a:t>Starts automatically as the first process when the Linux kernel boots.</a:t>
            </a:r>
            <a:endParaRPr lang="en-US"/>
          </a:p>
          <a:p>
            <a:r>
              <a:rPr lang="en-US">
                <a:ea typeface="+mn-lt"/>
                <a:cs typeface="+mn-lt"/>
              </a:rPr>
              <a:t>Manages all other processes during system runtime.</a:t>
            </a:r>
            <a:endParaRPr lang="en-US"/>
          </a:p>
          <a:p>
            <a:r>
              <a:rPr lang="en-US">
                <a:ea typeface="+mn-lt"/>
                <a:cs typeface="+mn-lt"/>
              </a:rPr>
              <a:t>Uses parallelization to launch multiple services simultaneously, speeding up boot time.</a:t>
            </a:r>
            <a:endParaRPr lang="en-US"/>
          </a:p>
          <a:p>
            <a:r>
              <a:rPr lang="en-US">
                <a:ea typeface="+mn-lt"/>
                <a:cs typeface="+mn-lt"/>
              </a:rPr>
              <a:t>Organizes system components into “units” such as services, sockets, devices, mounts, and timers.</a:t>
            </a:r>
            <a:endParaRPr lang="en-US"/>
          </a:p>
          <a:p>
            <a:r>
              <a:rPr lang="en-US">
                <a:ea typeface="+mn-lt"/>
                <a:cs typeface="+mn-lt"/>
              </a:rPr>
              <a:t>Controlled via the </a:t>
            </a:r>
            <a:r>
              <a:rPr lang="en-US" err="1">
                <a:ea typeface="+mn-lt"/>
                <a:cs typeface="+mn-lt"/>
              </a:rPr>
              <a:t>systemctl</a:t>
            </a:r>
            <a:r>
              <a:rPr lang="en-US">
                <a:ea typeface="+mn-lt"/>
                <a:cs typeface="+mn-lt"/>
              </a:rPr>
              <a:t> command-line tool (start, stop, enable, disable, and check services).</a:t>
            </a:r>
            <a:endParaRPr lang="en-US"/>
          </a:p>
        </p:txBody>
      </p:sp>
    </p:spTree>
    <p:extLst>
      <p:ext uri="{BB962C8B-B14F-4D97-AF65-F5344CB8AC3E}">
        <p14:creationId xmlns:p14="http://schemas.microsoft.com/office/powerpoint/2010/main" val="39341220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1B6E1-89D9-87C0-679A-ACCD85BE1682}"/>
              </a:ext>
            </a:extLst>
          </p:cNvPr>
          <p:cNvSpPr>
            <a:spLocks noGrp="1"/>
          </p:cNvSpPr>
          <p:nvPr>
            <p:ph type="title"/>
          </p:nvPr>
        </p:nvSpPr>
        <p:spPr/>
        <p:txBody>
          <a:bodyPr/>
          <a:lstStyle/>
          <a:p>
            <a:r>
              <a:rPr lang="en-US" err="1"/>
              <a:t>Systemd</a:t>
            </a:r>
          </a:p>
        </p:txBody>
      </p:sp>
      <p:sp>
        <p:nvSpPr>
          <p:cNvPr id="3" name="Content Placeholder 2">
            <a:extLst>
              <a:ext uri="{FF2B5EF4-FFF2-40B4-BE49-F238E27FC236}">
                <a16:creationId xmlns:a16="http://schemas.microsoft.com/office/drawing/2014/main" id="{2615398E-8682-065C-0A5F-BE3619595098}"/>
              </a:ext>
            </a:extLst>
          </p:cNvPr>
          <p:cNvSpPr>
            <a:spLocks noGrp="1"/>
          </p:cNvSpPr>
          <p:nvPr>
            <p:ph idx="1"/>
          </p:nvPr>
        </p:nvSpPr>
        <p:spPr/>
        <p:txBody>
          <a:bodyPr vert="horz" lIns="91440" tIns="45720" rIns="91440" bIns="45720" rtlCol="0" anchor="t">
            <a:normAutofit fontScale="85000" lnSpcReduction="10000"/>
          </a:bodyPr>
          <a:lstStyle/>
          <a:p>
            <a:r>
              <a:rPr lang="en-US"/>
              <a:t>Start service: </a:t>
            </a:r>
            <a:r>
              <a:rPr lang="en-US" err="1"/>
              <a:t>systemctl</a:t>
            </a:r>
            <a:r>
              <a:rPr lang="en-US"/>
              <a:t> start &lt;service name&gt;</a:t>
            </a:r>
          </a:p>
          <a:p>
            <a:r>
              <a:rPr lang="en-US"/>
              <a:t>Stop service: </a:t>
            </a:r>
            <a:r>
              <a:rPr lang="en-US" err="1"/>
              <a:t>systemctl</a:t>
            </a:r>
            <a:r>
              <a:rPr lang="en-US"/>
              <a:t> stop &lt;service name&gt;</a:t>
            </a:r>
          </a:p>
          <a:p>
            <a:r>
              <a:rPr lang="en-US"/>
              <a:t>Enable service: </a:t>
            </a:r>
            <a:r>
              <a:rPr lang="en-US" err="1"/>
              <a:t>systemctl</a:t>
            </a:r>
            <a:r>
              <a:rPr lang="en-US"/>
              <a:t> enable &lt;service name&gt; (start service automatically on boot)</a:t>
            </a:r>
          </a:p>
          <a:p>
            <a:r>
              <a:rPr lang="en-US"/>
              <a:t>Disable service: </a:t>
            </a:r>
            <a:r>
              <a:rPr lang="en-US" err="1"/>
              <a:t>systemctl</a:t>
            </a:r>
            <a:r>
              <a:rPr lang="en-US"/>
              <a:t> disable &lt;service name&gt; </a:t>
            </a:r>
            <a:r>
              <a:rPr lang="en-US">
                <a:ea typeface="+mn-lt"/>
                <a:cs typeface="+mn-lt"/>
              </a:rPr>
              <a:t>(disable starting service automatically on boot)</a:t>
            </a:r>
          </a:p>
          <a:p>
            <a:r>
              <a:rPr lang="en-US">
                <a:ea typeface="+mn-lt"/>
                <a:cs typeface="+mn-lt"/>
              </a:rPr>
              <a:t>Restart service: </a:t>
            </a:r>
            <a:r>
              <a:rPr lang="en-US" err="1">
                <a:ea typeface="+mn-lt"/>
                <a:cs typeface="+mn-lt"/>
              </a:rPr>
              <a:t>systemctl</a:t>
            </a:r>
            <a:r>
              <a:rPr lang="en-US">
                <a:ea typeface="+mn-lt"/>
                <a:cs typeface="+mn-lt"/>
              </a:rPr>
              <a:t> restart &lt;service name&gt;</a:t>
            </a:r>
          </a:p>
          <a:p>
            <a:r>
              <a:rPr lang="en-US"/>
              <a:t>Reload service: </a:t>
            </a:r>
            <a:r>
              <a:rPr lang="en-US" err="1"/>
              <a:t>systemctl</a:t>
            </a:r>
            <a:r>
              <a:rPr lang="en-US"/>
              <a:t> reload &lt;service name&gt;</a:t>
            </a:r>
          </a:p>
          <a:p>
            <a:r>
              <a:rPr lang="en-US"/>
              <a:t>Mask service: </a:t>
            </a:r>
            <a:r>
              <a:rPr lang="en-US" err="1"/>
              <a:t>systemctl</a:t>
            </a:r>
            <a:r>
              <a:rPr lang="en-US"/>
              <a:t> mask &lt;service name&gt; (</a:t>
            </a:r>
            <a:r>
              <a:rPr lang="en-US">
                <a:ea typeface="+mn-lt"/>
                <a:cs typeface="+mn-lt"/>
              </a:rPr>
              <a:t>Prevents the service from being started manually or automatically, even if required by other services)</a:t>
            </a:r>
            <a:endParaRPr lang="en-US"/>
          </a:p>
          <a:p>
            <a:r>
              <a:rPr lang="en-US"/>
              <a:t>Unmask service: </a:t>
            </a:r>
            <a:r>
              <a:rPr lang="en-US" err="1"/>
              <a:t>systemctl</a:t>
            </a:r>
            <a:r>
              <a:rPr lang="en-US"/>
              <a:t> unmask &lt;service name&gt; (</a:t>
            </a:r>
            <a:r>
              <a:rPr lang="en-US">
                <a:ea typeface="+mn-lt"/>
                <a:cs typeface="+mn-lt"/>
              </a:rPr>
              <a:t>Allows the service to be started or enabled again.</a:t>
            </a:r>
            <a:r>
              <a:rPr lang="en-US"/>
              <a:t>)</a:t>
            </a:r>
          </a:p>
          <a:p>
            <a:r>
              <a:rPr lang="en-US"/>
              <a:t>Check status of service: </a:t>
            </a:r>
            <a:r>
              <a:rPr lang="en-US" err="1"/>
              <a:t>systemctl</a:t>
            </a:r>
            <a:r>
              <a:rPr lang="en-US"/>
              <a:t> status &lt;service name&gt;</a:t>
            </a:r>
          </a:p>
          <a:p>
            <a:endParaRPr lang="en-US"/>
          </a:p>
          <a:p>
            <a:endParaRPr lang="en-US"/>
          </a:p>
        </p:txBody>
      </p:sp>
    </p:spTree>
    <p:extLst>
      <p:ext uri="{BB962C8B-B14F-4D97-AF65-F5344CB8AC3E}">
        <p14:creationId xmlns:p14="http://schemas.microsoft.com/office/powerpoint/2010/main" val="13448943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09FE0E-EFCD-D29A-F1BA-D73CC23F9E14}"/>
              </a:ext>
            </a:extLst>
          </p:cNvPr>
          <p:cNvSpPr>
            <a:spLocks noGrp="1"/>
          </p:cNvSpPr>
          <p:nvPr>
            <p:ph type="title"/>
          </p:nvPr>
        </p:nvSpPr>
        <p:spPr/>
        <p:txBody>
          <a:bodyPr/>
          <a:lstStyle/>
          <a:p>
            <a:r>
              <a:rPr lang="en-US"/>
              <a:t>Linux Shell</a:t>
            </a:r>
          </a:p>
        </p:txBody>
      </p:sp>
      <p:sp>
        <p:nvSpPr>
          <p:cNvPr id="3" name="Content Placeholder 2">
            <a:extLst>
              <a:ext uri="{FF2B5EF4-FFF2-40B4-BE49-F238E27FC236}">
                <a16:creationId xmlns:a16="http://schemas.microsoft.com/office/drawing/2014/main" id="{8546DFD3-B947-EBBA-3E8C-6FC13ADD137C}"/>
              </a:ext>
            </a:extLst>
          </p:cNvPr>
          <p:cNvSpPr>
            <a:spLocks noGrp="1"/>
          </p:cNvSpPr>
          <p:nvPr>
            <p:ph idx="1"/>
          </p:nvPr>
        </p:nvSpPr>
        <p:spPr/>
        <p:txBody>
          <a:bodyPr vert="horz" lIns="91440" tIns="45720" rIns="91440" bIns="45720" rtlCol="0" anchor="t">
            <a:normAutofit/>
          </a:bodyPr>
          <a:lstStyle/>
          <a:p>
            <a:r>
              <a:rPr lang="en-US">
                <a:ea typeface="+mn-lt"/>
                <a:cs typeface="+mn-lt"/>
              </a:rPr>
              <a:t>A shell is a special user program that provides an interface for the user to use operating system services. </a:t>
            </a:r>
          </a:p>
          <a:p>
            <a:r>
              <a:rPr lang="en-US">
                <a:ea typeface="+mn-lt"/>
                <a:cs typeface="+mn-lt"/>
              </a:rPr>
              <a:t>Shell accepts human-readable commands from users and converts them into something which the kernel can understand. </a:t>
            </a:r>
          </a:p>
          <a:p>
            <a:r>
              <a:rPr lang="en-US">
                <a:ea typeface="+mn-lt"/>
                <a:cs typeface="+mn-lt"/>
              </a:rPr>
              <a:t>It is a command language interpreter that executes commands read from input devices such as keyboards or from files. </a:t>
            </a:r>
          </a:p>
          <a:p>
            <a:r>
              <a:rPr lang="en-US">
                <a:ea typeface="+mn-lt"/>
                <a:cs typeface="+mn-lt"/>
              </a:rPr>
              <a:t>The shell gets started when the user logs in or starts the terminal.</a:t>
            </a:r>
            <a:endParaRPr lang="en-US"/>
          </a:p>
          <a:p>
            <a:r>
              <a:rPr lang="en-US">
                <a:ea typeface="+mn-lt"/>
                <a:cs typeface="+mn-lt"/>
              </a:rPr>
              <a:t>A terminal window typically consists of a command prompt, which is where you enter commands, and a text area where the output of those commands is displayed.</a:t>
            </a:r>
            <a:endParaRPr lang="en-US"/>
          </a:p>
        </p:txBody>
      </p:sp>
    </p:spTree>
    <p:extLst>
      <p:ext uri="{BB962C8B-B14F-4D97-AF65-F5344CB8AC3E}">
        <p14:creationId xmlns:p14="http://schemas.microsoft.com/office/powerpoint/2010/main" val="1869470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35497-7FD6-F03E-BA6B-5E069C1643BF}"/>
              </a:ext>
            </a:extLst>
          </p:cNvPr>
          <p:cNvSpPr>
            <a:spLocks noGrp="1"/>
          </p:cNvSpPr>
          <p:nvPr>
            <p:ph type="title"/>
          </p:nvPr>
        </p:nvSpPr>
        <p:spPr/>
        <p:txBody>
          <a:bodyPr/>
          <a:lstStyle/>
          <a:p>
            <a:r>
              <a:rPr lang="en-US"/>
              <a:t>Bash vs shell</a:t>
            </a:r>
          </a:p>
        </p:txBody>
      </p:sp>
      <p:graphicFrame>
        <p:nvGraphicFramePr>
          <p:cNvPr id="5" name="Content Placeholder 4">
            <a:extLst>
              <a:ext uri="{FF2B5EF4-FFF2-40B4-BE49-F238E27FC236}">
                <a16:creationId xmlns:a16="http://schemas.microsoft.com/office/drawing/2014/main" id="{6912E438-85FC-4662-7400-A34E983FD573}"/>
              </a:ext>
            </a:extLst>
          </p:cNvPr>
          <p:cNvGraphicFramePr>
            <a:graphicFrameLocks noGrp="1"/>
          </p:cNvGraphicFramePr>
          <p:nvPr>
            <p:ph idx="1"/>
            <p:extLst>
              <p:ext uri="{D42A27DB-BD31-4B8C-83A1-F6EECF244321}">
                <p14:modId xmlns:p14="http://schemas.microsoft.com/office/powerpoint/2010/main" val="1905970887"/>
              </p:ext>
            </p:extLst>
          </p:nvPr>
        </p:nvGraphicFramePr>
        <p:xfrm>
          <a:off x="700088" y="1567962"/>
          <a:ext cx="10850566" cy="5170732"/>
        </p:xfrm>
        <a:graphic>
          <a:graphicData uri="http://schemas.openxmlformats.org/drawingml/2006/table">
            <a:tbl>
              <a:tblPr bandRow="1">
                <a:tableStyleId>{5C22544A-7EE6-4342-B048-85BDC9FD1C3A}</a:tableStyleId>
              </a:tblPr>
              <a:tblGrid>
                <a:gridCol w="5429250">
                  <a:extLst>
                    <a:ext uri="{9D8B030D-6E8A-4147-A177-3AD203B41FA5}">
                      <a16:colId xmlns:a16="http://schemas.microsoft.com/office/drawing/2014/main" val="2745533745"/>
                    </a:ext>
                  </a:extLst>
                </a:gridCol>
                <a:gridCol w="5421316">
                  <a:extLst>
                    <a:ext uri="{9D8B030D-6E8A-4147-A177-3AD203B41FA5}">
                      <a16:colId xmlns:a16="http://schemas.microsoft.com/office/drawing/2014/main" val="864429150"/>
                    </a:ext>
                  </a:extLst>
                </a:gridCol>
              </a:tblGrid>
              <a:tr h="265853">
                <a:tc>
                  <a:txBody>
                    <a:bodyPr/>
                    <a:lstStyle/>
                    <a:p>
                      <a:pPr algn="ctr" fontAlgn="base">
                        <a:spcAft>
                          <a:spcPts val="750"/>
                        </a:spcAft>
                        <a:buNone/>
                      </a:pPr>
                      <a:r>
                        <a:rPr lang="en-US" b="1">
                          <a:effectLst/>
                        </a:rPr>
                        <a:t>bash</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algn="ctr" fontAlgn="base">
                        <a:spcAft>
                          <a:spcPts val="750"/>
                        </a:spcAft>
                        <a:buNone/>
                      </a:pPr>
                      <a:r>
                        <a:rPr lang="en-US" b="1" err="1">
                          <a:effectLst/>
                        </a:rPr>
                        <a:t>sh</a:t>
                      </a:r>
                      <a:r>
                        <a:rPr lang="en-US" b="1">
                          <a:effectLst/>
                        </a:rPr>
                        <a:t>     </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565725528"/>
                  </a:ext>
                </a:extLst>
              </a:tr>
              <a:tr h="265853">
                <a:tc>
                  <a:txBody>
                    <a:bodyPr/>
                    <a:lstStyle/>
                    <a:p>
                      <a:pPr indent="0" algn="l" fontAlgn="base">
                        <a:buNone/>
                      </a:pPr>
                      <a:r>
                        <a:rPr lang="en-US" b="1">
                          <a:solidFill>
                            <a:srgbClr val="273239"/>
                          </a:solidFill>
                          <a:effectLst/>
                        </a:rPr>
                        <a:t>Bourne Again </a:t>
                      </a:r>
                      <a:r>
                        <a:rPr lang="en-US" b="1" err="1">
                          <a:solidFill>
                            <a:srgbClr val="273239"/>
                          </a:solidFill>
                          <a:effectLst/>
                        </a:rPr>
                        <a:t>SHell</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err="1">
                          <a:solidFill>
                            <a:srgbClr val="273239"/>
                          </a:solidFill>
                          <a:effectLst/>
                        </a:rPr>
                        <a:t>SHell</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076276924"/>
                  </a:ext>
                </a:extLst>
              </a:tr>
              <a:tr h="265853">
                <a:tc>
                  <a:txBody>
                    <a:bodyPr/>
                    <a:lstStyle/>
                    <a:p>
                      <a:pPr indent="0" algn="l" fontAlgn="base">
                        <a:buNone/>
                      </a:pPr>
                      <a:r>
                        <a:rPr lang="en-US" b="1">
                          <a:solidFill>
                            <a:srgbClr val="273239"/>
                          </a:solidFill>
                          <a:effectLst/>
                        </a:rPr>
                        <a:t>Developed by Brain Fox</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Developed by Stephen R. Bourne</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995772975"/>
                  </a:ext>
                </a:extLst>
              </a:tr>
              <a:tr h="265853">
                <a:tc>
                  <a:txBody>
                    <a:bodyPr/>
                    <a:lstStyle/>
                    <a:p>
                      <a:pPr indent="0" algn="l" fontAlgn="base">
                        <a:buNone/>
                      </a:pPr>
                      <a:r>
                        <a:rPr lang="en-US" b="1">
                          <a:solidFill>
                            <a:srgbClr val="273239"/>
                          </a:solidFill>
                          <a:effectLst/>
                        </a:rPr>
                        <a:t>Successor of </a:t>
                      </a:r>
                      <a:r>
                        <a:rPr lang="en-US" b="1" err="1">
                          <a:solidFill>
                            <a:srgbClr val="273239"/>
                          </a:solidFill>
                          <a:effectLst/>
                        </a:rPr>
                        <a:t>sh</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Predecessor of bash</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345123222"/>
                  </a:ext>
                </a:extLst>
              </a:tr>
              <a:tr h="265853">
                <a:tc>
                  <a:txBody>
                    <a:bodyPr/>
                    <a:lstStyle/>
                    <a:p>
                      <a:pPr indent="0" algn="l" fontAlgn="base">
                        <a:buNone/>
                      </a:pPr>
                      <a:r>
                        <a:rPr lang="en-US" b="1">
                          <a:solidFill>
                            <a:srgbClr val="273239"/>
                          </a:solidFill>
                          <a:effectLst/>
                        </a:rPr>
                        <a:t>Bash is the default SHELL</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Sh is the not default SHELL</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594628057"/>
                  </a:ext>
                </a:extLst>
              </a:tr>
              <a:tr h="265853">
                <a:tc>
                  <a:txBody>
                    <a:bodyPr/>
                    <a:lstStyle/>
                    <a:p>
                      <a:pPr indent="0" algn="l" fontAlgn="base">
                        <a:buNone/>
                      </a:pPr>
                      <a:r>
                        <a:rPr lang="en-US" b="1">
                          <a:solidFill>
                            <a:srgbClr val="273239"/>
                          </a:solidFill>
                          <a:effectLst/>
                        </a:rPr>
                        <a:t>#!/bin/bash</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#!/bin/sh</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672957161"/>
                  </a:ext>
                </a:extLst>
              </a:tr>
              <a:tr h="452668">
                <a:tc>
                  <a:txBody>
                    <a:bodyPr/>
                    <a:lstStyle/>
                    <a:p>
                      <a:pPr indent="0" algn="l" fontAlgn="base">
                        <a:buNone/>
                      </a:pPr>
                      <a:r>
                        <a:rPr lang="en-US" b="1">
                          <a:solidFill>
                            <a:srgbClr val="273239"/>
                          </a:solidFill>
                          <a:effectLst/>
                        </a:rPr>
                        <a:t>It has more Functionality with up-gradation.</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It has less functionality.</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3698560138"/>
                  </a:ext>
                </a:extLst>
              </a:tr>
              <a:tr h="265853">
                <a:tc>
                  <a:txBody>
                    <a:bodyPr/>
                    <a:lstStyle/>
                    <a:p>
                      <a:pPr indent="0" algn="l" fontAlgn="base">
                        <a:buNone/>
                      </a:pPr>
                      <a:r>
                        <a:rPr lang="en-US" b="1">
                          <a:solidFill>
                            <a:srgbClr val="273239"/>
                          </a:solidFill>
                          <a:effectLst/>
                        </a:rPr>
                        <a:t>Supports job controls.</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Does not support job control.</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53541392"/>
                  </a:ext>
                </a:extLst>
              </a:tr>
              <a:tr h="265853">
                <a:tc>
                  <a:txBody>
                    <a:bodyPr/>
                    <a:lstStyle/>
                    <a:p>
                      <a:pPr indent="0" algn="l" fontAlgn="base">
                        <a:buNone/>
                      </a:pPr>
                      <a:r>
                        <a:rPr lang="en-US" b="1">
                          <a:solidFill>
                            <a:srgbClr val="273239"/>
                          </a:solidFill>
                          <a:effectLst/>
                        </a:rPr>
                        <a:t>Bash is not a valid POSIX shell.</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Sh is a valid POSIX shell.</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313811307"/>
                  </a:ext>
                </a:extLst>
              </a:tr>
              <a:tr h="265853">
                <a:tc>
                  <a:txBody>
                    <a:bodyPr/>
                    <a:lstStyle/>
                    <a:p>
                      <a:pPr indent="0" algn="l" fontAlgn="base">
                        <a:buNone/>
                      </a:pPr>
                      <a:r>
                        <a:rPr lang="en-US" b="1">
                          <a:solidFill>
                            <a:srgbClr val="273239"/>
                          </a:solidFill>
                          <a:effectLst/>
                        </a:rPr>
                        <a:t>Easy to use</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Not as easy as bash</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840957437"/>
                  </a:ext>
                </a:extLst>
              </a:tr>
              <a:tr h="265853">
                <a:tc>
                  <a:txBody>
                    <a:bodyPr/>
                    <a:lstStyle/>
                    <a:p>
                      <a:pPr indent="0" algn="l" fontAlgn="base">
                        <a:buNone/>
                      </a:pPr>
                      <a:r>
                        <a:rPr lang="en-US" b="1">
                          <a:solidFill>
                            <a:srgbClr val="273239"/>
                          </a:solidFill>
                          <a:effectLst/>
                        </a:rPr>
                        <a:t>Less portable than sh.</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More portable than bash.</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2662469331"/>
                  </a:ext>
                </a:extLst>
              </a:tr>
              <a:tr h="265853">
                <a:tc>
                  <a:txBody>
                    <a:bodyPr/>
                    <a:lstStyle/>
                    <a:p>
                      <a:pPr indent="0" algn="l" fontAlgn="base">
                        <a:buNone/>
                      </a:pPr>
                      <a:r>
                        <a:rPr lang="en-US" b="1">
                          <a:solidFill>
                            <a:srgbClr val="273239"/>
                          </a:solidFill>
                          <a:effectLst/>
                        </a:rPr>
                        <a:t>Extended version of language</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Original language</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4107783751"/>
                  </a:ext>
                </a:extLst>
              </a:tr>
              <a:tr h="265853">
                <a:tc>
                  <a:txBody>
                    <a:bodyPr/>
                    <a:lstStyle/>
                    <a:p>
                      <a:pPr indent="0" algn="l" fontAlgn="base">
                        <a:buNone/>
                      </a:pPr>
                      <a:r>
                        <a:rPr lang="en-US" b="1">
                          <a:solidFill>
                            <a:srgbClr val="273239"/>
                          </a:solidFill>
                          <a:effectLst/>
                        </a:rPr>
                        <a:t>Supports command history.</a:t>
                      </a:r>
                    </a:p>
                  </a:txBody>
                  <a:tcPr marL="38100" marR="38100"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tc>
                  <a:txBody>
                    <a:bodyPr/>
                    <a:lstStyle/>
                    <a:p>
                      <a:pPr indent="0" algn="l" fontAlgn="base">
                        <a:buNone/>
                      </a:pPr>
                      <a:r>
                        <a:rPr lang="en-US" b="1">
                          <a:solidFill>
                            <a:srgbClr val="273239"/>
                          </a:solidFill>
                          <a:effectLst/>
                        </a:rPr>
                        <a:t>Does not support command history.</a:t>
                      </a:r>
                    </a:p>
                  </a:txBody>
                  <a:tcPr marL="59426" marR="59426" marT="59426" marB="59426" anchor="ctr">
                    <a:lnL w="2858" cap="flat" cmpd="sng" algn="ctr">
                      <a:solidFill>
                        <a:srgbClr val="DFDFDF"/>
                      </a:solidFill>
                      <a:prstDash val="solid"/>
                      <a:round/>
                      <a:headEnd type="none" w="med" len="med"/>
                      <a:tailEnd type="none" w="med" len="med"/>
                    </a:lnL>
                    <a:lnR w="2858" cap="flat" cmpd="sng" algn="ctr">
                      <a:solidFill>
                        <a:srgbClr val="DFDFDF"/>
                      </a:solidFill>
                      <a:prstDash val="solid"/>
                      <a:round/>
                      <a:headEnd type="none" w="med" len="med"/>
                      <a:tailEnd type="none" w="med" len="med"/>
                    </a:lnR>
                    <a:lnT w="2858" cap="flat" cmpd="sng" algn="ctr">
                      <a:solidFill>
                        <a:srgbClr val="DFDFDF"/>
                      </a:solidFill>
                      <a:prstDash val="solid"/>
                      <a:round/>
                      <a:headEnd type="none" w="med" len="med"/>
                      <a:tailEnd type="none" w="med" len="med"/>
                    </a:lnT>
                    <a:lnB w="2858" cap="flat" cmpd="sng" algn="ctr">
                      <a:solidFill>
                        <a:srgbClr val="DFDFDF"/>
                      </a:solidFill>
                      <a:prstDash val="solid"/>
                      <a:round/>
                      <a:headEnd type="none" w="med" len="med"/>
                      <a:tailEnd type="none" w="med" len="med"/>
                    </a:lnB>
                    <a:solidFill>
                      <a:srgbClr val="F9F9F9"/>
                    </a:solidFill>
                  </a:tcPr>
                </a:tc>
                <a:extLst>
                  <a:ext uri="{0D108BD9-81ED-4DB2-BD59-A6C34878D82A}">
                    <a16:rowId xmlns:a16="http://schemas.microsoft.com/office/drawing/2014/main" val="1617728605"/>
                  </a:ext>
                </a:extLst>
              </a:tr>
            </a:tbl>
          </a:graphicData>
        </a:graphic>
      </p:graphicFrame>
    </p:spTree>
    <p:extLst>
      <p:ext uri="{BB962C8B-B14F-4D97-AF65-F5344CB8AC3E}">
        <p14:creationId xmlns:p14="http://schemas.microsoft.com/office/powerpoint/2010/main" val="279592013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4C44B-7F24-A67C-0012-A2DFB0B6E565}"/>
              </a:ext>
            </a:extLst>
          </p:cNvPr>
          <p:cNvSpPr>
            <a:spLocks noGrp="1"/>
          </p:cNvSpPr>
          <p:nvPr>
            <p:ph type="title"/>
          </p:nvPr>
        </p:nvSpPr>
        <p:spPr/>
        <p:txBody>
          <a:bodyPr/>
          <a:lstStyle/>
          <a:p>
            <a:r>
              <a:rPr lang="en-US"/>
              <a:t>Basic </a:t>
            </a:r>
            <a:r>
              <a:rPr lang="en-US" err="1"/>
              <a:t>linux</a:t>
            </a:r>
            <a:r>
              <a:rPr lang="en-US"/>
              <a:t> commands</a:t>
            </a:r>
          </a:p>
        </p:txBody>
      </p:sp>
      <p:pic>
        <p:nvPicPr>
          <p:cNvPr id="4" name="Content Placeholder 3" descr="A yellow bell with black text&#10;&#10;AI-generated content may be incorrect.">
            <a:extLst>
              <a:ext uri="{FF2B5EF4-FFF2-40B4-BE49-F238E27FC236}">
                <a16:creationId xmlns:a16="http://schemas.microsoft.com/office/drawing/2014/main" id="{9484DD81-C885-2D6B-2138-AD4609A0B3CC}"/>
              </a:ext>
            </a:extLst>
          </p:cNvPr>
          <p:cNvPicPr>
            <a:picLocks noGrp="1" noChangeAspect="1"/>
          </p:cNvPicPr>
          <p:nvPr>
            <p:ph idx="1"/>
          </p:nvPr>
        </p:nvPicPr>
        <p:blipFill>
          <a:blip r:embed="rId2"/>
          <a:stretch>
            <a:fillRect/>
          </a:stretch>
        </p:blipFill>
        <p:spPr>
          <a:xfrm>
            <a:off x="2292311" y="1831223"/>
            <a:ext cx="7507912" cy="3739896"/>
          </a:xfrm>
          <a:prstGeom prst="rect">
            <a:avLst/>
          </a:prstGeom>
        </p:spPr>
      </p:pic>
      <p:sp>
        <p:nvSpPr>
          <p:cNvPr id="5" name="TextBox 4">
            <a:extLst>
              <a:ext uri="{FF2B5EF4-FFF2-40B4-BE49-F238E27FC236}">
                <a16:creationId xmlns:a16="http://schemas.microsoft.com/office/drawing/2014/main" id="{5E286BB9-86EC-EC08-59AC-DC6A946D815D}"/>
              </a:ext>
            </a:extLst>
          </p:cNvPr>
          <p:cNvSpPr txBox="1"/>
          <p:nvPr/>
        </p:nvSpPr>
        <p:spPr>
          <a:xfrm>
            <a:off x="2227386" y="5728025"/>
            <a:ext cx="76338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Source: </a:t>
            </a:r>
            <a:r>
              <a:rPr lang="en-US">
                <a:ea typeface="+mn-lt"/>
                <a:cs typeface="+mn-lt"/>
              </a:rPr>
              <a:t>https://www.geeksforgeeks.org/linux-unix/basic-linux-commands/</a:t>
            </a:r>
            <a:endParaRPr lang="en-US"/>
          </a:p>
        </p:txBody>
      </p:sp>
    </p:spTree>
    <p:extLst>
      <p:ext uri="{BB962C8B-B14F-4D97-AF65-F5344CB8AC3E}">
        <p14:creationId xmlns:p14="http://schemas.microsoft.com/office/powerpoint/2010/main" val="249931262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146EC-9E68-E2E9-D5A5-A4AD8EA4BFF0}"/>
              </a:ext>
            </a:extLst>
          </p:cNvPr>
          <p:cNvSpPr>
            <a:spLocks noGrp="1"/>
          </p:cNvSpPr>
          <p:nvPr>
            <p:ph type="title"/>
          </p:nvPr>
        </p:nvSpPr>
        <p:spPr/>
        <p:txBody>
          <a:bodyPr/>
          <a:lstStyle/>
          <a:p>
            <a:r>
              <a:rPr lang="en-US" dirty="0"/>
              <a:t>Text editor (vi)</a:t>
            </a:r>
          </a:p>
        </p:txBody>
      </p:sp>
      <p:sp>
        <p:nvSpPr>
          <p:cNvPr id="3" name="Content Placeholder 2">
            <a:extLst>
              <a:ext uri="{FF2B5EF4-FFF2-40B4-BE49-F238E27FC236}">
                <a16:creationId xmlns:a16="http://schemas.microsoft.com/office/drawing/2014/main" id="{1802E420-A4BF-A901-EB07-649329C1671C}"/>
              </a:ext>
            </a:extLst>
          </p:cNvPr>
          <p:cNvSpPr>
            <a:spLocks noGrp="1"/>
          </p:cNvSpPr>
          <p:nvPr>
            <p:ph idx="1"/>
          </p:nvPr>
        </p:nvSpPr>
        <p:spPr>
          <a:xfrm>
            <a:off x="700635" y="1977761"/>
            <a:ext cx="10691265" cy="4247896"/>
          </a:xfrm>
        </p:spPr>
        <p:txBody>
          <a:bodyPr vert="horz" lIns="91440" tIns="45720" rIns="91440" bIns="45720" rtlCol="0" anchor="t">
            <a:normAutofit fontScale="62500" lnSpcReduction="20000"/>
          </a:bodyPr>
          <a:lstStyle/>
          <a:p>
            <a:r>
              <a:rPr lang="en-US" dirty="0"/>
              <a:t>Edit/Create a file</a:t>
            </a:r>
          </a:p>
          <a:p>
            <a:pPr lvl="1">
              <a:buFont typeface="Courier New" panose="020B0604020202020204" pitchFamily="34" charset="0"/>
              <a:buChar char="o"/>
            </a:pPr>
            <a:r>
              <a:rPr lang="en-US" dirty="0"/>
              <a:t>Vi &lt;filename&gt;</a:t>
            </a:r>
          </a:p>
          <a:p>
            <a:r>
              <a:rPr lang="en-US" dirty="0"/>
              <a:t>Press "</a:t>
            </a:r>
            <a:r>
              <a:rPr lang="en-US" dirty="0" err="1"/>
              <a:t>i</a:t>
            </a:r>
            <a:r>
              <a:rPr lang="en-US" dirty="0"/>
              <a:t>" to enter insert mode and esc to go back to normal mode</a:t>
            </a:r>
          </a:p>
          <a:p>
            <a:r>
              <a:rPr lang="en-US" dirty="0"/>
              <a:t>Use "$" to go to the end of the line and "0" to go to the beginning in normal mode</a:t>
            </a:r>
          </a:p>
          <a:p>
            <a:r>
              <a:rPr lang="en-US" dirty="0"/>
              <a:t>Use ":&lt;line number&gt;" to go to a particular line in normal mode</a:t>
            </a:r>
          </a:p>
          <a:p>
            <a:r>
              <a:rPr lang="en-US" dirty="0"/>
              <a:t>Use "x" to delete a character before the cursor in normal mode</a:t>
            </a:r>
          </a:p>
          <a:p>
            <a:r>
              <a:rPr lang="en-US" dirty="0"/>
              <a:t>Use "dd" to delete an entire line in normal mode</a:t>
            </a:r>
          </a:p>
          <a:p>
            <a:r>
              <a:rPr lang="en-US" dirty="0"/>
              <a:t>Use "</a:t>
            </a:r>
            <a:r>
              <a:rPr lang="en-US" dirty="0">
                <a:ea typeface="+mn-lt"/>
                <a:cs typeface="+mn-lt"/>
              </a:rPr>
              <a:t>D" to delete from the cursor position to the end of the line in normal mode</a:t>
            </a:r>
          </a:p>
          <a:p>
            <a:r>
              <a:rPr lang="en-US" dirty="0"/>
              <a:t>Use "</a:t>
            </a:r>
            <a:r>
              <a:rPr lang="en-US" dirty="0" err="1"/>
              <a:t>yy</a:t>
            </a:r>
            <a:r>
              <a:rPr lang="en-US" dirty="0"/>
              <a:t>" to copy a line in normal mode</a:t>
            </a:r>
          </a:p>
          <a:p>
            <a:r>
              <a:rPr lang="en-US" dirty="0"/>
              <a:t>Use "p" to paste below cursor position in normal mode or "P" to paste above cursor position in normal mode</a:t>
            </a:r>
          </a:p>
          <a:p>
            <a:r>
              <a:rPr lang="en-US" dirty="0"/>
              <a:t>Use ":w" to save, ":w filename" to save to a new file, ":</a:t>
            </a:r>
            <a:r>
              <a:rPr lang="en-US" dirty="0" err="1"/>
              <a:t>wq</a:t>
            </a:r>
            <a:r>
              <a:rPr lang="en-US" dirty="0"/>
              <a:t>" to write and quit vi,  ":q" to quit vi, and ":q!" to quit without saving</a:t>
            </a:r>
          </a:p>
          <a:p>
            <a:r>
              <a:rPr lang="en-US" dirty="0"/>
              <a:t>Use "/string" to search, "Enter" to find next occurrence and "n" to go to repeat the search</a:t>
            </a:r>
          </a:p>
          <a:p>
            <a:r>
              <a:rPr lang="en-US" dirty="0"/>
              <a:t>Use "u" to undo the changes and "Ctrl + r" to redo</a:t>
            </a:r>
          </a:p>
          <a:p>
            <a:r>
              <a:rPr lang="en-US" dirty="0"/>
              <a:t>Use "</a:t>
            </a:r>
            <a:r>
              <a:rPr lang="en-US" dirty="0">
                <a:ea typeface="+mn-lt"/>
                <a:cs typeface="+mn-lt"/>
              </a:rPr>
              <a:t>:%s/foo/bar/g</a:t>
            </a:r>
            <a:r>
              <a:rPr lang="en-US" dirty="0"/>
              <a:t>" to find and replace throughout the file</a:t>
            </a:r>
          </a:p>
        </p:txBody>
      </p:sp>
    </p:spTree>
    <p:extLst>
      <p:ext uri="{BB962C8B-B14F-4D97-AF65-F5344CB8AC3E}">
        <p14:creationId xmlns:p14="http://schemas.microsoft.com/office/powerpoint/2010/main" val="12119992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E4E9A-776C-77D2-0634-F8A375AC203F}"/>
              </a:ext>
            </a:extLst>
          </p:cNvPr>
          <p:cNvSpPr>
            <a:spLocks noGrp="1"/>
          </p:cNvSpPr>
          <p:nvPr>
            <p:ph type="title"/>
          </p:nvPr>
        </p:nvSpPr>
        <p:spPr/>
        <p:txBody>
          <a:bodyPr/>
          <a:lstStyle/>
          <a:p>
            <a:r>
              <a:rPr lang="en-US" dirty="0" err="1"/>
              <a:t>manpages</a:t>
            </a:r>
          </a:p>
        </p:txBody>
      </p:sp>
      <p:sp>
        <p:nvSpPr>
          <p:cNvPr id="3" name="Content Placeholder 2">
            <a:extLst>
              <a:ext uri="{FF2B5EF4-FFF2-40B4-BE49-F238E27FC236}">
                <a16:creationId xmlns:a16="http://schemas.microsoft.com/office/drawing/2014/main" id="{05B4B2A3-1ECF-AC9C-F12C-A3C5AEBCC068}"/>
              </a:ext>
            </a:extLst>
          </p:cNvPr>
          <p:cNvSpPr>
            <a:spLocks noGrp="1"/>
          </p:cNvSpPr>
          <p:nvPr>
            <p:ph idx="1"/>
          </p:nvPr>
        </p:nvSpPr>
        <p:spPr/>
        <p:txBody>
          <a:bodyPr vert="horz" lIns="91440" tIns="45720" rIns="91440" bIns="45720" rtlCol="0" anchor="t">
            <a:normAutofit fontScale="77500" lnSpcReduction="20000"/>
          </a:bodyPr>
          <a:lstStyle/>
          <a:p>
            <a:r>
              <a:rPr lang="en-US" dirty="0">
                <a:ea typeface="+mn-lt"/>
                <a:cs typeface="+mn-lt"/>
              </a:rPr>
              <a:t>The "man" command, short for manual, is a powerful tool in the Linux operating system that allows users to access detailed information about various commands, utilities, and system calls. </a:t>
            </a:r>
          </a:p>
          <a:p>
            <a:r>
              <a:rPr lang="en-US" dirty="0">
                <a:ea typeface="+mn-lt"/>
                <a:cs typeface="+mn-lt"/>
              </a:rPr>
              <a:t>The "man" command provides comprehensive documentation, helping users understand how to use and configure different elements of the Linux environment.</a:t>
            </a:r>
          </a:p>
          <a:p>
            <a:r>
              <a:rPr lang="en-US" dirty="0"/>
              <a:t>Commands:</a:t>
            </a:r>
          </a:p>
          <a:p>
            <a:pPr lvl="1">
              <a:buFont typeface="Courier New" panose="020B0604020202020204" pitchFamily="34" charset="0"/>
              <a:buChar char="o"/>
            </a:pPr>
            <a:r>
              <a:rPr lang="en-US" dirty="0"/>
              <a:t>Man &lt;command&gt;</a:t>
            </a:r>
          </a:p>
          <a:p>
            <a:pPr lvl="1">
              <a:buFont typeface="Courier New" panose="020B0604020202020204" pitchFamily="34" charset="0"/>
              <a:buChar char="o"/>
            </a:pPr>
            <a:r>
              <a:rPr lang="en-US" dirty="0"/>
              <a:t>Check Sections:</a:t>
            </a:r>
          </a:p>
          <a:p>
            <a:pPr lvl="2">
              <a:buFont typeface="Wingdings" panose="020B0604020202020204" pitchFamily="34" charset="0"/>
              <a:buChar char="§"/>
            </a:pPr>
            <a:r>
              <a:rPr lang="en-US" dirty="0"/>
              <a:t>Man –f &lt;command&gt;</a:t>
            </a:r>
          </a:p>
          <a:p>
            <a:pPr lvl="1">
              <a:buFont typeface="Courier New" panose="020B0604020202020204" pitchFamily="34" charset="0"/>
              <a:buChar char="o"/>
            </a:pPr>
            <a:r>
              <a:rPr lang="en-US" dirty="0"/>
              <a:t>View all sections:</a:t>
            </a:r>
          </a:p>
          <a:p>
            <a:pPr lvl="2">
              <a:buFont typeface="Wingdings" panose="020B0604020202020204" pitchFamily="34" charset="0"/>
              <a:buChar char="§"/>
            </a:pPr>
            <a:r>
              <a:rPr lang="en-US" dirty="0"/>
              <a:t>Man –a &lt;command&gt;</a:t>
            </a:r>
          </a:p>
          <a:p>
            <a:pPr lvl="1">
              <a:buFont typeface="Courier New" panose="020B0604020202020204" pitchFamily="34" charset="0"/>
              <a:buChar char="o"/>
            </a:pPr>
            <a:r>
              <a:rPr lang="en-US" dirty="0"/>
              <a:t>View particular section:</a:t>
            </a:r>
          </a:p>
          <a:p>
            <a:pPr lvl="2">
              <a:buFont typeface="Wingdings" panose="020B0604020202020204" pitchFamily="34" charset="0"/>
              <a:buChar char="§"/>
            </a:pPr>
            <a:r>
              <a:rPr lang="en-US" dirty="0"/>
              <a:t>Man &lt;number&gt; &lt;command&gt;</a:t>
            </a:r>
          </a:p>
          <a:p>
            <a:pPr lvl="1">
              <a:buFont typeface="Courier New" panose="020B0604020202020204" pitchFamily="34" charset="0"/>
              <a:buChar char="o"/>
            </a:pPr>
            <a:r>
              <a:rPr lang="en-US" dirty="0"/>
              <a:t>Search for keywords:</a:t>
            </a:r>
          </a:p>
          <a:p>
            <a:pPr lvl="2">
              <a:buFont typeface="Wingdings" panose="020B0604020202020204" pitchFamily="34" charset="0"/>
              <a:buChar char="§"/>
            </a:pPr>
            <a:r>
              <a:rPr lang="en-US" dirty="0"/>
              <a:t>Man –k &lt;keyword&gt;</a:t>
            </a:r>
          </a:p>
        </p:txBody>
      </p:sp>
    </p:spTree>
    <p:extLst>
      <p:ext uri="{BB962C8B-B14F-4D97-AF65-F5344CB8AC3E}">
        <p14:creationId xmlns:p14="http://schemas.microsoft.com/office/powerpoint/2010/main" val="1190031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C2D27-45F2-51E0-41FB-08E63111957D}"/>
              </a:ext>
            </a:extLst>
          </p:cNvPr>
          <p:cNvSpPr>
            <a:spLocks noGrp="1"/>
          </p:cNvSpPr>
          <p:nvPr>
            <p:ph type="title"/>
          </p:nvPr>
        </p:nvSpPr>
        <p:spPr/>
        <p:txBody>
          <a:bodyPr/>
          <a:lstStyle/>
          <a:p>
            <a:r>
              <a:rPr lang="en-US" dirty="0"/>
              <a:t>Environment variables</a:t>
            </a:r>
          </a:p>
        </p:txBody>
      </p:sp>
      <p:sp>
        <p:nvSpPr>
          <p:cNvPr id="3" name="Content Placeholder 2">
            <a:extLst>
              <a:ext uri="{FF2B5EF4-FFF2-40B4-BE49-F238E27FC236}">
                <a16:creationId xmlns:a16="http://schemas.microsoft.com/office/drawing/2014/main" id="{1D96425D-4B29-9D7A-5210-C1FFABD57BC8}"/>
              </a:ext>
            </a:extLst>
          </p:cNvPr>
          <p:cNvSpPr>
            <a:spLocks noGrp="1"/>
          </p:cNvSpPr>
          <p:nvPr>
            <p:ph idx="1"/>
          </p:nvPr>
        </p:nvSpPr>
        <p:spPr/>
        <p:txBody>
          <a:bodyPr vert="horz" lIns="91440" tIns="45720" rIns="91440" bIns="45720" rtlCol="0" anchor="t">
            <a:normAutofit/>
          </a:bodyPr>
          <a:lstStyle/>
          <a:p>
            <a:r>
              <a:rPr lang="en-US" dirty="0">
                <a:ea typeface="+mn-lt"/>
                <a:cs typeface="+mn-lt"/>
              </a:rPr>
              <a:t>Environment variables, often referred to as ENVs, are dynamic values that wield significant influence over the behavior of programs and processes in the Linux operating system. </a:t>
            </a:r>
            <a:endParaRPr lang="en-US" dirty="0"/>
          </a:p>
          <a:p>
            <a:r>
              <a:rPr lang="en-US" dirty="0">
                <a:ea typeface="+mn-lt"/>
                <a:cs typeface="+mn-lt"/>
              </a:rPr>
              <a:t>These variables serve as a means to convey essential information to software and shape how they interact with the environment. </a:t>
            </a:r>
          </a:p>
          <a:p>
            <a:r>
              <a:rPr lang="en-US" dirty="0">
                <a:ea typeface="+mn-lt"/>
                <a:cs typeface="+mn-lt"/>
              </a:rPr>
              <a:t>Every Linux process is associated with a set of environment variables, which guide its behavior and interactions with other processes.</a:t>
            </a:r>
            <a:endParaRPr lang="en-US"/>
          </a:p>
        </p:txBody>
      </p:sp>
    </p:spTree>
    <p:extLst>
      <p:ext uri="{BB962C8B-B14F-4D97-AF65-F5344CB8AC3E}">
        <p14:creationId xmlns:p14="http://schemas.microsoft.com/office/powerpoint/2010/main" val="1353158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CBEF6-D86C-FABA-7BA3-354298F5FDD0}"/>
              </a:ext>
            </a:extLst>
          </p:cNvPr>
          <p:cNvSpPr>
            <a:spLocks noGrp="1"/>
          </p:cNvSpPr>
          <p:nvPr>
            <p:ph type="title"/>
          </p:nvPr>
        </p:nvSpPr>
        <p:spPr/>
        <p:txBody>
          <a:bodyPr/>
          <a:lstStyle/>
          <a:p>
            <a:r>
              <a:rPr lang="en-US" dirty="0"/>
              <a:t>Types of Environment variables</a:t>
            </a:r>
          </a:p>
        </p:txBody>
      </p:sp>
      <p:sp>
        <p:nvSpPr>
          <p:cNvPr id="3" name="Content Placeholder 2">
            <a:extLst>
              <a:ext uri="{FF2B5EF4-FFF2-40B4-BE49-F238E27FC236}">
                <a16:creationId xmlns:a16="http://schemas.microsoft.com/office/drawing/2014/main" id="{C2580F00-C22F-77BA-36A2-EBA3A3EC96F8}"/>
              </a:ext>
            </a:extLst>
          </p:cNvPr>
          <p:cNvSpPr>
            <a:spLocks noGrp="1"/>
          </p:cNvSpPr>
          <p:nvPr>
            <p:ph idx="1"/>
          </p:nvPr>
        </p:nvSpPr>
        <p:spPr/>
        <p:txBody>
          <a:bodyPr vert="horz" lIns="91440" tIns="45720" rIns="91440" bIns="45720" rtlCol="0" anchor="t">
            <a:normAutofit/>
          </a:bodyPr>
          <a:lstStyle/>
          <a:p>
            <a:r>
              <a:rPr lang="en-US" dirty="0">
                <a:ea typeface="+mn-lt"/>
                <a:cs typeface="+mn-lt"/>
              </a:rPr>
              <a:t>Global environment variables, when defined in a terminal, enjoys accessibility from anywhere within that terminal's environment. This means it can be employed by scripts, programs, or processes running within the scope of that terminal.</a:t>
            </a:r>
            <a:endParaRPr lang="en-US" dirty="0"/>
          </a:p>
          <a:p>
            <a:r>
              <a:rPr lang="en-US" dirty="0"/>
              <a:t>L</a:t>
            </a:r>
            <a:r>
              <a:rPr lang="en-US" dirty="0">
                <a:ea typeface="+mn-lt"/>
                <a:cs typeface="+mn-lt"/>
              </a:rPr>
              <a:t>ocal environment variables are confined to the specific terminal in which they are defined. They are isolated from external programs or processes, making their reach exclusive to the terminal that birthed them.</a:t>
            </a:r>
          </a:p>
          <a:p>
            <a:endParaRPr lang="en-US" dirty="0"/>
          </a:p>
        </p:txBody>
      </p:sp>
    </p:spTree>
    <p:extLst>
      <p:ext uri="{BB962C8B-B14F-4D97-AF65-F5344CB8AC3E}">
        <p14:creationId xmlns:p14="http://schemas.microsoft.com/office/powerpoint/2010/main" val="1903675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1FB74-865D-A283-5AF6-33F5DE2505E3}"/>
              </a:ext>
            </a:extLst>
          </p:cNvPr>
          <p:cNvSpPr>
            <a:spLocks noGrp="1"/>
          </p:cNvSpPr>
          <p:nvPr>
            <p:ph type="title"/>
          </p:nvPr>
        </p:nvSpPr>
        <p:spPr/>
        <p:txBody>
          <a:bodyPr/>
          <a:lstStyle/>
          <a:p>
            <a:r>
              <a:rPr lang="en-US" dirty="0">
                <a:ea typeface="+mj-lt"/>
                <a:cs typeface="+mj-lt"/>
              </a:rPr>
              <a:t>Shell Scripts - Basics of Bash Scripting</a:t>
            </a:r>
            <a:endParaRPr lang="en-US" dirty="0"/>
          </a:p>
        </p:txBody>
      </p:sp>
      <p:sp>
        <p:nvSpPr>
          <p:cNvPr id="3" name="Content Placeholder 2">
            <a:extLst>
              <a:ext uri="{FF2B5EF4-FFF2-40B4-BE49-F238E27FC236}">
                <a16:creationId xmlns:a16="http://schemas.microsoft.com/office/drawing/2014/main" id="{658C4920-6766-A03B-0A46-F5839C0DF228}"/>
              </a:ext>
            </a:extLst>
          </p:cNvPr>
          <p:cNvSpPr>
            <a:spLocks noGrp="1"/>
          </p:cNvSpPr>
          <p:nvPr>
            <p:ph idx="1"/>
          </p:nvPr>
        </p:nvSpPr>
        <p:spPr>
          <a:xfrm>
            <a:off x="700635" y="1635838"/>
            <a:ext cx="10691265" cy="4667972"/>
          </a:xfrm>
        </p:spPr>
        <p:txBody>
          <a:bodyPr vert="horz" lIns="91440" tIns="45720" rIns="91440" bIns="45720" rtlCol="0" anchor="t">
            <a:normAutofit fontScale="77500" lnSpcReduction="20000"/>
          </a:bodyPr>
          <a:lstStyle/>
          <a:p>
            <a:r>
              <a:rPr lang="en-US" dirty="0">
                <a:ea typeface="+mn-lt"/>
                <a:cs typeface="+mn-lt"/>
              </a:rPr>
              <a:t>Shells are interactive, meaning they take user input and execute commands. But typing multiple commands repeatedly is inefficient.</a:t>
            </a:r>
          </a:p>
          <a:p>
            <a:r>
              <a:rPr lang="en-US" dirty="0">
                <a:ea typeface="+mn-lt"/>
                <a:cs typeface="+mn-lt"/>
              </a:rPr>
              <a:t>Instead, you can store commands in a file a shell script and run them when needed. These scripts have .</a:t>
            </a:r>
            <a:r>
              <a:rPr lang="en-US" dirty="0" err="1">
                <a:ea typeface="+mn-lt"/>
                <a:cs typeface="+mn-lt"/>
              </a:rPr>
              <a:t>sh</a:t>
            </a:r>
            <a:r>
              <a:rPr lang="en-US" dirty="0">
                <a:ea typeface="+mn-lt"/>
                <a:cs typeface="+mn-lt"/>
              </a:rPr>
              <a:t> extension.</a:t>
            </a:r>
            <a:endParaRPr lang="en-US" dirty="0"/>
          </a:p>
          <a:p>
            <a:r>
              <a:rPr lang="en-US" dirty="0">
                <a:ea typeface="+mn-lt"/>
                <a:cs typeface="+mn-lt"/>
              </a:rPr>
              <a:t>A shell script includes:</a:t>
            </a:r>
            <a:endParaRPr lang="en-US"/>
          </a:p>
          <a:p>
            <a:pPr lvl="1">
              <a:buFont typeface="Courier New" panose="020B0604020202020204" pitchFamily="34" charset="0"/>
              <a:buChar char="o"/>
            </a:pPr>
            <a:r>
              <a:rPr lang="en-US" dirty="0">
                <a:ea typeface="+mn-lt"/>
                <a:cs typeface="+mn-lt"/>
              </a:rPr>
              <a:t>#!/bin/bash -&gt; shebang, what to use as command interpreter</a:t>
            </a:r>
          </a:p>
          <a:p>
            <a:pPr lvl="1">
              <a:buFont typeface="Courier New" panose="020B0604020202020204" pitchFamily="34" charset="0"/>
              <a:buChar char="o"/>
            </a:pPr>
            <a:r>
              <a:rPr lang="en-US" dirty="0">
                <a:ea typeface="+mn-lt"/>
                <a:cs typeface="+mn-lt"/>
              </a:rPr>
              <a:t>Shell Keywords: if, else, break, etc.</a:t>
            </a:r>
            <a:endParaRPr lang="en-US"/>
          </a:p>
          <a:p>
            <a:pPr lvl="1">
              <a:buFont typeface="Courier New" panose="020B0604020202020204" pitchFamily="34" charset="0"/>
              <a:buChar char="o"/>
            </a:pPr>
            <a:r>
              <a:rPr lang="en-US" dirty="0">
                <a:ea typeface="+mn-lt"/>
                <a:cs typeface="+mn-lt"/>
              </a:rPr>
              <a:t>Shell Commands: cd, ls, echo, </a:t>
            </a:r>
            <a:r>
              <a:rPr lang="en-US" dirty="0" err="1">
                <a:ea typeface="+mn-lt"/>
                <a:cs typeface="+mn-lt"/>
              </a:rPr>
              <a:t>pwd</a:t>
            </a:r>
            <a:r>
              <a:rPr lang="en-US" dirty="0">
                <a:ea typeface="+mn-lt"/>
                <a:cs typeface="+mn-lt"/>
              </a:rPr>
              <a:t>, touch, etc.</a:t>
            </a:r>
            <a:endParaRPr lang="en-US"/>
          </a:p>
          <a:p>
            <a:pPr lvl="1">
              <a:buFont typeface="Courier New" panose="020B0604020202020204" pitchFamily="34" charset="0"/>
              <a:buChar char="o"/>
            </a:pPr>
            <a:r>
              <a:rPr lang="en-US" dirty="0">
                <a:ea typeface="+mn-lt"/>
                <a:cs typeface="+mn-lt"/>
              </a:rPr>
              <a:t>Functions</a:t>
            </a:r>
            <a:endParaRPr lang="en-US"/>
          </a:p>
          <a:p>
            <a:pPr lvl="1">
              <a:buFont typeface="Courier New" panose="020B0604020202020204" pitchFamily="34" charset="0"/>
              <a:buChar char="o"/>
            </a:pPr>
            <a:r>
              <a:rPr lang="en-US" dirty="0">
                <a:ea typeface="+mn-lt"/>
                <a:cs typeface="+mn-lt"/>
              </a:rPr>
              <a:t>Control Flow: </a:t>
            </a:r>
            <a:r>
              <a:rPr lang="en-US" dirty="0" err="1">
                <a:ea typeface="+mn-lt"/>
                <a:cs typeface="+mn-lt"/>
              </a:rPr>
              <a:t>if..then..else</a:t>
            </a:r>
            <a:r>
              <a:rPr lang="en-US" dirty="0">
                <a:ea typeface="+mn-lt"/>
                <a:cs typeface="+mn-lt"/>
              </a:rPr>
              <a:t>, case, loops, etc.</a:t>
            </a:r>
            <a:endParaRPr lang="en-US" dirty="0"/>
          </a:p>
          <a:p>
            <a:r>
              <a:rPr lang="en-US" dirty="0">
                <a:ea typeface="+mn-lt"/>
                <a:cs typeface="+mn-lt"/>
              </a:rPr>
              <a:t>Below are some of the </a:t>
            </a:r>
            <a:r>
              <a:rPr lang="en-US" dirty="0" err="1">
                <a:ea typeface="+mn-lt"/>
                <a:cs typeface="+mn-lt"/>
              </a:rPr>
              <a:t>shebangs</a:t>
            </a:r>
            <a:r>
              <a:rPr lang="en-US" dirty="0">
                <a:ea typeface="+mn-lt"/>
                <a:cs typeface="+mn-lt"/>
              </a:rPr>
              <a:t> used for different purposes in shell scripts:</a:t>
            </a:r>
            <a:endParaRPr lang="en-US" dirty="0"/>
          </a:p>
          <a:p>
            <a:pPr lvl="1">
              <a:buFont typeface="Courier New" panose="020B0604020202020204" pitchFamily="34" charset="0"/>
              <a:buChar char="o"/>
            </a:pPr>
            <a:r>
              <a:rPr lang="en-US" dirty="0">
                <a:ea typeface="+mn-lt"/>
                <a:cs typeface="+mn-lt"/>
              </a:rPr>
              <a:t>#!/bin/sh: It is used to execute the file using sh, which is a Bourne shell, or a compatible shell</a:t>
            </a:r>
            <a:endParaRPr lang="en-US"/>
          </a:p>
          <a:p>
            <a:pPr lvl="1">
              <a:buFont typeface="Courier New" panose="020B0604020202020204" pitchFamily="34" charset="0"/>
              <a:buChar char="o"/>
            </a:pPr>
            <a:r>
              <a:rPr lang="en-US" dirty="0">
                <a:ea typeface="+mn-lt"/>
                <a:cs typeface="+mn-lt"/>
              </a:rPr>
              <a:t>#!/bin/csh: It is used to execute the file using csh, the C shell, or a compatible shell.</a:t>
            </a:r>
            <a:endParaRPr lang="en-US" dirty="0"/>
          </a:p>
          <a:p>
            <a:pPr lvl="1">
              <a:buFont typeface="Courier New" panose="020B0604020202020204" pitchFamily="34" charset="0"/>
              <a:buChar char="o"/>
            </a:pPr>
            <a:r>
              <a:rPr lang="en-US" dirty="0">
                <a:ea typeface="+mn-lt"/>
                <a:cs typeface="+mn-lt"/>
              </a:rPr>
              <a:t>#!/usr/bin/perl -T: It is used to execute using Perl with the option for taint checks.</a:t>
            </a:r>
            <a:endParaRPr lang="en-US"/>
          </a:p>
          <a:p>
            <a:pPr lvl="1">
              <a:buFont typeface="Courier New" panose="020B0604020202020204" pitchFamily="34" charset="0"/>
              <a:buChar char="o"/>
            </a:pPr>
            <a:r>
              <a:rPr lang="en-US" dirty="0">
                <a:ea typeface="+mn-lt"/>
                <a:cs typeface="+mn-lt"/>
              </a:rPr>
              <a:t>#!/usr/bin/php: It is used to execute the file using the PHP command-line interpreter.</a:t>
            </a:r>
            <a:endParaRPr lang="en-US"/>
          </a:p>
          <a:p>
            <a:pPr lvl="1">
              <a:buFont typeface="Courier New" panose="020B0604020202020204" pitchFamily="34" charset="0"/>
              <a:buChar char="o"/>
            </a:pPr>
            <a:r>
              <a:rPr lang="en-US" dirty="0">
                <a:ea typeface="+mn-lt"/>
                <a:cs typeface="+mn-lt"/>
              </a:rPr>
              <a:t>#!/usr/bin/python -O: It is used to execute using Python with optimizations to code.</a:t>
            </a:r>
            <a:endParaRPr lang="en-US" dirty="0"/>
          </a:p>
          <a:p>
            <a:pPr lvl="1">
              <a:buFont typeface="Courier New" panose="020B0604020202020204" pitchFamily="34" charset="0"/>
              <a:buChar char="o"/>
            </a:pPr>
            <a:r>
              <a:rPr lang="en-US" dirty="0">
                <a:ea typeface="+mn-lt"/>
                <a:cs typeface="+mn-lt"/>
              </a:rPr>
              <a:t>#!/usr/bin/ruby: It is used to execute using Ruby.</a:t>
            </a:r>
            <a:endParaRPr lang="en-US"/>
          </a:p>
        </p:txBody>
      </p:sp>
    </p:spTree>
    <p:extLst>
      <p:ext uri="{BB962C8B-B14F-4D97-AF65-F5344CB8AC3E}">
        <p14:creationId xmlns:p14="http://schemas.microsoft.com/office/powerpoint/2010/main" val="160322738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36E65-E96E-07CA-CD79-B58B956F9A9B}"/>
              </a:ext>
            </a:extLst>
          </p:cNvPr>
          <p:cNvSpPr>
            <a:spLocks noGrp="1"/>
          </p:cNvSpPr>
          <p:nvPr>
            <p:ph type="title"/>
          </p:nvPr>
        </p:nvSpPr>
        <p:spPr/>
        <p:txBody>
          <a:bodyPr/>
          <a:lstStyle/>
          <a:p>
            <a:r>
              <a:rPr lang="en-US" dirty="0"/>
              <a:t>Terminal multiplexing</a:t>
            </a:r>
          </a:p>
        </p:txBody>
      </p:sp>
      <p:sp>
        <p:nvSpPr>
          <p:cNvPr id="3" name="Content Placeholder 2">
            <a:extLst>
              <a:ext uri="{FF2B5EF4-FFF2-40B4-BE49-F238E27FC236}">
                <a16:creationId xmlns:a16="http://schemas.microsoft.com/office/drawing/2014/main" id="{5A98805F-C90E-8E1C-5818-14608D4CCBAA}"/>
              </a:ext>
            </a:extLst>
          </p:cNvPr>
          <p:cNvSpPr>
            <a:spLocks noGrp="1"/>
          </p:cNvSpPr>
          <p:nvPr>
            <p:ph idx="1"/>
          </p:nvPr>
        </p:nvSpPr>
        <p:spPr/>
        <p:txBody>
          <a:bodyPr vert="horz" lIns="91440" tIns="45720" rIns="91440" bIns="45720" rtlCol="0" anchor="t">
            <a:normAutofit/>
          </a:bodyPr>
          <a:lstStyle/>
          <a:p>
            <a:r>
              <a:rPr lang="en-US" dirty="0">
                <a:ea typeface="+mn-lt"/>
                <a:cs typeface="+mn-lt"/>
              </a:rPr>
              <a:t>A terminal multiplexer is a software application that can be used to multiplex several separate </a:t>
            </a:r>
            <a:r>
              <a:rPr lang="en-US" dirty="0" err="1">
                <a:ea typeface="+mn-lt"/>
                <a:cs typeface="+mn-lt"/>
              </a:rPr>
              <a:t>pseudoterminal</a:t>
            </a:r>
            <a:r>
              <a:rPr lang="en-US" dirty="0">
                <a:ea typeface="+mn-lt"/>
                <a:cs typeface="+mn-lt"/>
              </a:rPr>
              <a:t>-based login sessions inside a single terminal display, terminal emulator window, PC/workstation system console, or remote login session, or to detach and reattach sessions from a terminal.</a:t>
            </a:r>
            <a:endParaRPr lang="en-US" dirty="0"/>
          </a:p>
        </p:txBody>
      </p:sp>
    </p:spTree>
    <p:extLst>
      <p:ext uri="{BB962C8B-B14F-4D97-AF65-F5344CB8AC3E}">
        <p14:creationId xmlns:p14="http://schemas.microsoft.com/office/powerpoint/2010/main" val="204180446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957D7E-756E-0241-468A-4324F5D660D2}"/>
              </a:ext>
            </a:extLst>
          </p:cNvPr>
          <p:cNvSpPr>
            <a:spLocks noGrp="1"/>
          </p:cNvSpPr>
          <p:nvPr>
            <p:ph type="title"/>
          </p:nvPr>
        </p:nvSpPr>
        <p:spPr/>
        <p:txBody>
          <a:bodyPr/>
          <a:lstStyle/>
          <a:p>
            <a:r>
              <a:rPr lang="en-US" dirty="0"/>
              <a:t>Package management</a:t>
            </a:r>
          </a:p>
        </p:txBody>
      </p:sp>
      <p:sp>
        <p:nvSpPr>
          <p:cNvPr id="3" name="Content Placeholder 2">
            <a:extLst>
              <a:ext uri="{FF2B5EF4-FFF2-40B4-BE49-F238E27FC236}">
                <a16:creationId xmlns:a16="http://schemas.microsoft.com/office/drawing/2014/main" id="{8F8A0B95-C869-7681-FF1A-B1ECDFA74C8A}"/>
              </a:ext>
            </a:extLst>
          </p:cNvPr>
          <p:cNvSpPr>
            <a:spLocks noGrp="1"/>
          </p:cNvSpPr>
          <p:nvPr>
            <p:ph idx="1"/>
          </p:nvPr>
        </p:nvSpPr>
        <p:spPr/>
        <p:txBody>
          <a:bodyPr vert="horz" lIns="91440" tIns="45720" rIns="91440" bIns="45720" rtlCol="0" anchor="t">
            <a:normAutofit/>
          </a:bodyPr>
          <a:lstStyle/>
          <a:p>
            <a:r>
              <a:rPr lang="en-US" dirty="0">
                <a:ea typeface="+mn-lt"/>
                <a:cs typeface="+mn-lt"/>
              </a:rPr>
              <a:t>A package manager is a command-line or graphical tool used to automate the process of installing, updating, and removing software packages on a Linux system. </a:t>
            </a:r>
          </a:p>
          <a:p>
            <a:r>
              <a:rPr lang="en-US" dirty="0">
                <a:ea typeface="+mn-lt"/>
                <a:cs typeface="+mn-lt"/>
              </a:rPr>
              <a:t>Software packages are collections of files, including executables, libraries, configuration files, and documentation, that are bundled together for easy distribution and installation. </a:t>
            </a:r>
          </a:p>
          <a:p>
            <a:r>
              <a:rPr lang="en-US" dirty="0">
                <a:ea typeface="+mn-lt"/>
                <a:cs typeface="+mn-lt"/>
              </a:rPr>
              <a:t>Package managers keep track of these packages, making it easier to manage software on a Linux system.</a:t>
            </a:r>
            <a:endParaRPr lang="en-US"/>
          </a:p>
        </p:txBody>
      </p:sp>
    </p:spTree>
    <p:extLst>
      <p:ext uri="{BB962C8B-B14F-4D97-AF65-F5344CB8AC3E}">
        <p14:creationId xmlns:p14="http://schemas.microsoft.com/office/powerpoint/2010/main" val="331499804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9F5C3-C52C-2112-AA68-CA1D039D81E4}"/>
              </a:ext>
            </a:extLst>
          </p:cNvPr>
          <p:cNvSpPr>
            <a:spLocks noGrp="1"/>
          </p:cNvSpPr>
          <p:nvPr>
            <p:ph type="title"/>
          </p:nvPr>
        </p:nvSpPr>
        <p:spPr/>
        <p:txBody>
          <a:bodyPr/>
          <a:lstStyle/>
          <a:p>
            <a:r>
              <a:rPr lang="en-US" dirty="0"/>
              <a:t>Functionalities of package manager</a:t>
            </a:r>
          </a:p>
        </p:txBody>
      </p:sp>
      <p:sp>
        <p:nvSpPr>
          <p:cNvPr id="3" name="Content Placeholder 2">
            <a:extLst>
              <a:ext uri="{FF2B5EF4-FFF2-40B4-BE49-F238E27FC236}">
                <a16:creationId xmlns:a16="http://schemas.microsoft.com/office/drawing/2014/main" id="{C55E6AAF-DA39-E647-F593-E7A866DAD72D}"/>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Installation: Package managers facilitate the installation of software packages from repositories or local files. They automatically handle dependencies, ensuring that all required components are installed.</a:t>
            </a:r>
            <a:endParaRPr lang="en-US">
              <a:ea typeface="+mn-lt"/>
              <a:cs typeface="+mn-lt"/>
            </a:endParaRPr>
          </a:p>
          <a:p>
            <a:r>
              <a:rPr lang="en-US" dirty="0">
                <a:ea typeface="+mn-lt"/>
                <a:cs typeface="+mn-lt"/>
              </a:rPr>
              <a:t>Dependency Resolution: Linux software often relies on other packages. Package managers detect these dependencies and fetch and install them automatically.</a:t>
            </a:r>
            <a:endParaRPr lang="en-US">
              <a:ea typeface="+mn-lt"/>
              <a:cs typeface="+mn-lt"/>
            </a:endParaRPr>
          </a:p>
          <a:p>
            <a:r>
              <a:rPr lang="en-US" dirty="0">
                <a:ea typeface="+mn-lt"/>
                <a:cs typeface="+mn-lt"/>
              </a:rPr>
              <a:t>Upgrading: Package managers allow users to update installed software to the latest versions. This helps in keeping the system secure and up-to-date.</a:t>
            </a:r>
            <a:endParaRPr lang="en-US">
              <a:ea typeface="+mn-lt"/>
              <a:cs typeface="+mn-lt"/>
            </a:endParaRPr>
          </a:p>
          <a:p>
            <a:r>
              <a:rPr lang="en-US" dirty="0">
                <a:ea typeface="+mn-lt"/>
                <a:cs typeface="+mn-lt"/>
              </a:rPr>
              <a:t>Removal: Uninstalling software is straightforward with package managers. They ensure that all related files and dependencies are removed, preventing conflicts.</a:t>
            </a:r>
            <a:endParaRPr lang="en-US">
              <a:ea typeface="+mn-lt"/>
              <a:cs typeface="+mn-lt"/>
            </a:endParaRPr>
          </a:p>
          <a:p>
            <a:r>
              <a:rPr lang="en-US" dirty="0">
                <a:ea typeface="+mn-lt"/>
                <a:cs typeface="+mn-lt"/>
              </a:rPr>
              <a:t>Querying: Users can query the package manager to get information about installed packages, available updates, and package details.</a:t>
            </a:r>
          </a:p>
        </p:txBody>
      </p:sp>
    </p:spTree>
    <p:extLst>
      <p:ext uri="{BB962C8B-B14F-4D97-AF65-F5344CB8AC3E}">
        <p14:creationId xmlns:p14="http://schemas.microsoft.com/office/powerpoint/2010/main" val="40249282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E48D7-4A7C-664A-48AF-05EE597F6FF2}"/>
              </a:ext>
            </a:extLst>
          </p:cNvPr>
          <p:cNvSpPr>
            <a:spLocks noGrp="1"/>
          </p:cNvSpPr>
          <p:nvPr>
            <p:ph type="title"/>
          </p:nvPr>
        </p:nvSpPr>
        <p:spPr/>
        <p:txBody>
          <a:bodyPr>
            <a:normAutofit fontScale="90000"/>
          </a:bodyPr>
          <a:lstStyle/>
          <a:p>
            <a:r>
              <a:rPr lang="en-US" dirty="0"/>
              <a:t>Package manager commands (</a:t>
            </a:r>
            <a:r>
              <a:rPr lang="en-US" dirty="0" err="1"/>
              <a:t>dnf</a:t>
            </a:r>
            <a:r>
              <a:rPr lang="en-US" dirty="0"/>
              <a:t> and rpm)</a:t>
            </a:r>
          </a:p>
        </p:txBody>
      </p:sp>
      <p:sp>
        <p:nvSpPr>
          <p:cNvPr id="3" name="Content Placeholder 2">
            <a:extLst>
              <a:ext uri="{FF2B5EF4-FFF2-40B4-BE49-F238E27FC236}">
                <a16:creationId xmlns:a16="http://schemas.microsoft.com/office/drawing/2014/main" id="{E3264877-9AD6-39D2-CD87-41B6B44EBA9C}"/>
              </a:ext>
            </a:extLst>
          </p:cNvPr>
          <p:cNvSpPr>
            <a:spLocks noGrp="1"/>
          </p:cNvSpPr>
          <p:nvPr>
            <p:ph idx="1"/>
          </p:nvPr>
        </p:nvSpPr>
        <p:spPr/>
        <p:txBody>
          <a:bodyPr vert="horz" lIns="91440" tIns="45720" rIns="91440" bIns="45720" rtlCol="0" anchor="t">
            <a:normAutofit lnSpcReduction="10000"/>
          </a:bodyPr>
          <a:lstStyle/>
          <a:p>
            <a:r>
              <a:rPr lang="en-US" dirty="0"/>
              <a:t>Installing a package</a:t>
            </a:r>
          </a:p>
          <a:p>
            <a:pPr lvl="1">
              <a:buFont typeface="Courier New" panose="020B0604020202020204" pitchFamily="34" charset="0"/>
              <a:buChar char="o"/>
            </a:pPr>
            <a:r>
              <a:rPr lang="en-US" dirty="0"/>
              <a:t>Sudo </a:t>
            </a:r>
            <a:r>
              <a:rPr lang="en-US" dirty="0" err="1"/>
              <a:t>dnf</a:t>
            </a:r>
            <a:r>
              <a:rPr lang="en-US" dirty="0"/>
              <a:t> install &lt;package name&gt;</a:t>
            </a:r>
          </a:p>
          <a:p>
            <a:pPr lvl="1">
              <a:buFont typeface="Courier New" panose="020B0604020202020204" pitchFamily="34" charset="0"/>
              <a:buChar char="o"/>
            </a:pPr>
            <a:r>
              <a:rPr lang="en-US" dirty="0"/>
              <a:t>Sudo rpm –</a:t>
            </a:r>
            <a:r>
              <a:rPr lang="en-US" dirty="0" err="1"/>
              <a:t>ivh</a:t>
            </a:r>
            <a:r>
              <a:rPr lang="en-US" dirty="0"/>
              <a:t> or –</a:t>
            </a:r>
            <a:r>
              <a:rPr lang="en-US" dirty="0" err="1"/>
              <a:t>Uvh</a:t>
            </a:r>
            <a:r>
              <a:rPr lang="en-US" dirty="0"/>
              <a:t> &lt;package name&gt;</a:t>
            </a:r>
          </a:p>
          <a:p>
            <a:r>
              <a:rPr lang="en-US" dirty="0"/>
              <a:t>Upgrading packages</a:t>
            </a:r>
          </a:p>
          <a:p>
            <a:pPr lvl="1">
              <a:buFont typeface="Courier New" panose="020B0604020202020204" pitchFamily="34" charset="0"/>
              <a:buChar char="o"/>
            </a:pPr>
            <a:r>
              <a:rPr lang="en-US" dirty="0"/>
              <a:t>Sudo </a:t>
            </a:r>
            <a:r>
              <a:rPr lang="en-US" err="1"/>
              <a:t>dnf</a:t>
            </a:r>
            <a:r>
              <a:rPr lang="en-US" dirty="0"/>
              <a:t> update</a:t>
            </a:r>
          </a:p>
          <a:p>
            <a:r>
              <a:rPr lang="en-US" dirty="0"/>
              <a:t>Removing package</a:t>
            </a:r>
          </a:p>
          <a:p>
            <a:pPr lvl="1">
              <a:buFont typeface="Courier New" panose="020B0604020202020204" pitchFamily="34" charset="0"/>
              <a:buChar char="o"/>
            </a:pPr>
            <a:r>
              <a:rPr lang="en-US" dirty="0"/>
              <a:t>Sudo </a:t>
            </a:r>
            <a:r>
              <a:rPr lang="en-US" dirty="0" err="1"/>
              <a:t>dnf</a:t>
            </a:r>
            <a:r>
              <a:rPr lang="en-US" dirty="0"/>
              <a:t> remove &lt;package name&gt;</a:t>
            </a:r>
          </a:p>
          <a:p>
            <a:pPr lvl="1">
              <a:buFont typeface="Courier New" panose="020B0604020202020204" pitchFamily="34" charset="0"/>
              <a:buChar char="o"/>
            </a:pPr>
            <a:r>
              <a:rPr lang="en-US" dirty="0"/>
              <a:t>Sude rpm –e &lt;package name&gt;</a:t>
            </a:r>
          </a:p>
          <a:p>
            <a:r>
              <a:rPr lang="en-US" dirty="0"/>
              <a:t>List installed packages</a:t>
            </a:r>
          </a:p>
          <a:p>
            <a:pPr lvl="1">
              <a:buFont typeface="Courier New" panose="020B0604020202020204" pitchFamily="34" charset="0"/>
              <a:buChar char="o"/>
            </a:pPr>
            <a:r>
              <a:rPr lang="en-US" dirty="0">
                <a:ea typeface="+mn-lt"/>
                <a:cs typeface="+mn-lt"/>
              </a:rPr>
              <a:t>rpm –</a:t>
            </a:r>
            <a:r>
              <a:rPr lang="en-US" dirty="0" err="1">
                <a:ea typeface="+mn-lt"/>
                <a:cs typeface="+mn-lt"/>
              </a:rPr>
              <a:t>qa</a:t>
            </a:r>
          </a:p>
          <a:p>
            <a:endParaRPr lang="en-US" dirty="0">
              <a:ea typeface="+mn-lt"/>
              <a:cs typeface="+mn-lt"/>
            </a:endParaRPr>
          </a:p>
        </p:txBody>
      </p:sp>
    </p:spTree>
    <p:extLst>
      <p:ext uri="{BB962C8B-B14F-4D97-AF65-F5344CB8AC3E}">
        <p14:creationId xmlns:p14="http://schemas.microsoft.com/office/powerpoint/2010/main" val="425474914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8F877-2A38-F720-1664-4F76CDF27B2C}"/>
              </a:ext>
            </a:extLst>
          </p:cNvPr>
          <p:cNvSpPr>
            <a:spLocks noGrp="1"/>
          </p:cNvSpPr>
          <p:nvPr>
            <p:ph type="title"/>
          </p:nvPr>
        </p:nvSpPr>
        <p:spPr/>
        <p:txBody>
          <a:bodyPr/>
          <a:lstStyle/>
          <a:p>
            <a:r>
              <a:rPr lang="en-US" dirty="0">
                <a:ea typeface="+mj-lt"/>
                <a:cs typeface="+mj-lt"/>
              </a:rPr>
              <a:t>Scheduling Scripts / Tasks</a:t>
            </a:r>
            <a:endParaRPr lang="en-US" dirty="0"/>
          </a:p>
        </p:txBody>
      </p:sp>
      <p:sp>
        <p:nvSpPr>
          <p:cNvPr id="3" name="Content Placeholder 2">
            <a:extLst>
              <a:ext uri="{FF2B5EF4-FFF2-40B4-BE49-F238E27FC236}">
                <a16:creationId xmlns:a16="http://schemas.microsoft.com/office/drawing/2014/main" id="{68A1194D-45C3-DE64-ED4C-754CF96CCF6D}"/>
              </a:ext>
            </a:extLst>
          </p:cNvPr>
          <p:cNvSpPr>
            <a:spLocks noGrp="1"/>
          </p:cNvSpPr>
          <p:nvPr>
            <p:ph idx="1"/>
          </p:nvPr>
        </p:nvSpPr>
        <p:spPr/>
        <p:txBody>
          <a:bodyPr vert="horz" lIns="91440" tIns="45720" rIns="91440" bIns="45720" rtlCol="0" anchor="t">
            <a:normAutofit fontScale="92500" lnSpcReduction="20000"/>
          </a:bodyPr>
          <a:lstStyle/>
          <a:p>
            <a:r>
              <a:rPr lang="en-US" dirty="0">
                <a:ea typeface="+mn-lt"/>
                <a:cs typeface="+mn-lt"/>
              </a:rPr>
              <a:t>The crontab command in Linux is used to create, edit, and manage scheduled tasks (</a:t>
            </a:r>
            <a:r>
              <a:rPr lang="en-US" dirty="0" err="1">
                <a:ea typeface="+mn-lt"/>
                <a:cs typeface="+mn-lt"/>
              </a:rPr>
              <a:t>cron</a:t>
            </a:r>
            <a:r>
              <a:rPr lang="en-US" dirty="0">
                <a:ea typeface="+mn-lt"/>
                <a:cs typeface="+mn-lt"/>
              </a:rPr>
              <a:t> jobs) that run automatically at specified times or intervals. </a:t>
            </a:r>
          </a:p>
          <a:p>
            <a:r>
              <a:rPr lang="en-US" dirty="0">
                <a:ea typeface="+mn-lt"/>
                <a:cs typeface="+mn-lt"/>
              </a:rPr>
              <a:t>It allows users to automate repetitive system and administrative tasks without manual intervention.</a:t>
            </a:r>
          </a:p>
          <a:p>
            <a:r>
              <a:rPr lang="en-US" dirty="0"/>
              <a:t>Check if service is running: </a:t>
            </a:r>
            <a:r>
              <a:rPr lang="en-US" dirty="0" err="1">
                <a:ea typeface="+mn-lt"/>
                <a:cs typeface="+mn-lt"/>
              </a:rPr>
              <a:t>systemctl</a:t>
            </a:r>
            <a:r>
              <a:rPr lang="en-US" dirty="0">
                <a:ea typeface="+mn-lt"/>
                <a:cs typeface="+mn-lt"/>
              </a:rPr>
              <a:t> status </a:t>
            </a:r>
            <a:r>
              <a:rPr lang="en-US" dirty="0" err="1">
                <a:ea typeface="+mn-lt"/>
                <a:cs typeface="+mn-lt"/>
              </a:rPr>
              <a:t>crond</a:t>
            </a:r>
          </a:p>
          <a:p>
            <a:r>
              <a:rPr lang="en-US" dirty="0">
                <a:ea typeface="+mn-lt"/>
                <a:cs typeface="+mn-lt"/>
              </a:rPr>
              <a:t>Syntax of crontab: min </a:t>
            </a:r>
            <a:r>
              <a:rPr lang="en-US" dirty="0" err="1">
                <a:ea typeface="+mn-lt"/>
                <a:cs typeface="+mn-lt"/>
              </a:rPr>
              <a:t>hr</a:t>
            </a:r>
            <a:r>
              <a:rPr lang="en-US" dirty="0">
                <a:ea typeface="+mn-lt"/>
                <a:cs typeface="+mn-lt"/>
              </a:rPr>
              <a:t> day month weekday command , for </a:t>
            </a:r>
            <a:r>
              <a:rPr lang="en-US" dirty="0" err="1">
                <a:ea typeface="+mn-lt"/>
                <a:cs typeface="+mn-lt"/>
              </a:rPr>
              <a:t>cron</a:t>
            </a:r>
            <a:r>
              <a:rPr lang="en-US" dirty="0">
                <a:ea typeface="+mn-lt"/>
                <a:cs typeface="+mn-lt"/>
              </a:rPr>
              <a:t> schedule expression </a:t>
            </a:r>
            <a:r>
              <a:rPr lang="en-US" dirty="0">
                <a:ea typeface="+mn-lt"/>
                <a:cs typeface="+mn-lt"/>
                <a:hlinkClick r:id="rId2"/>
              </a:rPr>
              <a:t>https://crontab.guru/</a:t>
            </a:r>
            <a:endParaRPr lang="en-US" dirty="0">
              <a:ea typeface="+mn-lt"/>
              <a:cs typeface="+mn-lt"/>
            </a:endParaRPr>
          </a:p>
          <a:p>
            <a:r>
              <a:rPr lang="en-US" dirty="0">
                <a:ea typeface="+mn-lt"/>
                <a:cs typeface="+mn-lt"/>
              </a:rPr>
              <a:t>View crontab entries: crontab –l</a:t>
            </a:r>
          </a:p>
          <a:p>
            <a:r>
              <a:rPr lang="en-US" dirty="0">
                <a:ea typeface="+mn-lt"/>
                <a:cs typeface="+mn-lt"/>
              </a:rPr>
              <a:t>View crontab entries of other users (as root): crontab –u &lt;username&gt; -l</a:t>
            </a:r>
          </a:p>
          <a:p>
            <a:r>
              <a:rPr lang="en-US" dirty="0">
                <a:ea typeface="+mn-lt"/>
                <a:cs typeface="+mn-lt"/>
              </a:rPr>
              <a:t>Edit crontab entries: crontab –e</a:t>
            </a:r>
          </a:p>
          <a:p>
            <a:r>
              <a:rPr lang="en-US" dirty="0">
                <a:ea typeface="+mn-lt"/>
                <a:cs typeface="+mn-lt"/>
              </a:rPr>
              <a:t>Remove crontab entries: crontab -r</a:t>
            </a:r>
          </a:p>
          <a:p>
            <a:endParaRPr lang="en-US" dirty="0">
              <a:ea typeface="+mn-lt"/>
              <a:cs typeface="+mn-lt"/>
            </a:endParaRPr>
          </a:p>
        </p:txBody>
      </p:sp>
    </p:spTree>
    <p:extLst>
      <p:ext uri="{BB962C8B-B14F-4D97-AF65-F5344CB8AC3E}">
        <p14:creationId xmlns:p14="http://schemas.microsoft.com/office/powerpoint/2010/main" val="7642330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E4FC8-7FA5-0221-4325-B5198E0E7949}"/>
              </a:ext>
            </a:extLst>
          </p:cNvPr>
          <p:cNvSpPr>
            <a:spLocks noGrp="1"/>
          </p:cNvSpPr>
          <p:nvPr>
            <p:ph type="title"/>
          </p:nvPr>
        </p:nvSpPr>
        <p:spPr/>
        <p:txBody>
          <a:bodyPr/>
          <a:lstStyle/>
          <a:p>
            <a:r>
              <a:rPr lang="en-US" dirty="0"/>
              <a:t>Crontab – special strings</a:t>
            </a:r>
          </a:p>
        </p:txBody>
      </p:sp>
      <p:sp>
        <p:nvSpPr>
          <p:cNvPr id="3" name="Content Placeholder 2">
            <a:extLst>
              <a:ext uri="{FF2B5EF4-FFF2-40B4-BE49-F238E27FC236}">
                <a16:creationId xmlns:a16="http://schemas.microsoft.com/office/drawing/2014/main" id="{4FEA4C79-7FD9-8D06-3988-18AFA59F9CB7}"/>
              </a:ext>
            </a:extLst>
          </p:cNvPr>
          <p:cNvSpPr>
            <a:spLocks noGrp="1"/>
          </p:cNvSpPr>
          <p:nvPr>
            <p:ph idx="1"/>
          </p:nvPr>
        </p:nvSpPr>
        <p:spPr/>
        <p:txBody>
          <a:bodyPr vert="horz" lIns="91440" tIns="45720" rIns="91440" bIns="45720" rtlCol="0" anchor="t">
            <a:normAutofit/>
          </a:bodyPr>
          <a:lstStyle/>
          <a:p>
            <a:r>
              <a:rPr lang="en-US" dirty="0">
                <a:ea typeface="+mn-lt"/>
                <a:cs typeface="+mn-lt"/>
              </a:rPr>
              <a:t>@reboot: Run once after system startup.</a:t>
            </a:r>
            <a:endParaRPr lang="en-US" dirty="0"/>
          </a:p>
          <a:p>
            <a:r>
              <a:rPr lang="en-US" dirty="0">
                <a:ea typeface="+mn-lt"/>
                <a:cs typeface="+mn-lt"/>
              </a:rPr>
              <a:t>@yearly or @annually: Run once a year.</a:t>
            </a:r>
            <a:endParaRPr lang="en-US" dirty="0"/>
          </a:p>
          <a:p>
            <a:r>
              <a:rPr lang="en-US" dirty="0">
                <a:ea typeface="+mn-lt"/>
                <a:cs typeface="+mn-lt"/>
              </a:rPr>
              <a:t>@monthly: Run once a month (first day, 00:00).</a:t>
            </a:r>
            <a:endParaRPr lang="en-US" dirty="0"/>
          </a:p>
          <a:p>
            <a:r>
              <a:rPr lang="en-US" dirty="0">
                <a:ea typeface="+mn-lt"/>
                <a:cs typeface="+mn-lt"/>
              </a:rPr>
              <a:t>@weekly: Run once a week.</a:t>
            </a:r>
            <a:endParaRPr lang="en-US" dirty="0"/>
          </a:p>
          <a:p>
            <a:r>
              <a:rPr lang="en-US" dirty="0">
                <a:ea typeface="+mn-lt"/>
                <a:cs typeface="+mn-lt"/>
              </a:rPr>
              <a:t>@daily or @midnight: Run once a day (00:00).</a:t>
            </a:r>
            <a:endParaRPr lang="en-US" dirty="0"/>
          </a:p>
          <a:p>
            <a:r>
              <a:rPr lang="en-US" dirty="0">
                <a:ea typeface="+mn-lt"/>
                <a:cs typeface="+mn-lt"/>
              </a:rPr>
              <a:t>@hourly: Run once an hour (at the beginning of the hour). </a:t>
            </a:r>
            <a:endParaRPr lang="en-US" dirty="0"/>
          </a:p>
        </p:txBody>
      </p:sp>
    </p:spTree>
    <p:extLst>
      <p:ext uri="{BB962C8B-B14F-4D97-AF65-F5344CB8AC3E}">
        <p14:creationId xmlns:p14="http://schemas.microsoft.com/office/powerpoint/2010/main" val="8116566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8DAD7-323B-548E-0A31-0B0AC679E2DD}"/>
              </a:ext>
            </a:extLst>
          </p:cNvPr>
          <p:cNvSpPr>
            <a:spLocks noGrp="1"/>
          </p:cNvSpPr>
          <p:nvPr>
            <p:ph type="title"/>
          </p:nvPr>
        </p:nvSpPr>
        <p:spPr/>
        <p:txBody>
          <a:bodyPr/>
          <a:lstStyle/>
          <a:p>
            <a:r>
              <a:rPr lang="en-US" dirty="0"/>
              <a:t>Daemons</a:t>
            </a:r>
          </a:p>
        </p:txBody>
      </p:sp>
      <p:sp>
        <p:nvSpPr>
          <p:cNvPr id="3" name="Content Placeholder 2">
            <a:extLst>
              <a:ext uri="{FF2B5EF4-FFF2-40B4-BE49-F238E27FC236}">
                <a16:creationId xmlns:a16="http://schemas.microsoft.com/office/drawing/2014/main" id="{485F54E8-47CE-668D-FBAD-7707636FFFB7}"/>
              </a:ext>
            </a:extLst>
          </p:cNvPr>
          <p:cNvSpPr>
            <a:spLocks noGrp="1"/>
          </p:cNvSpPr>
          <p:nvPr>
            <p:ph idx="1"/>
          </p:nvPr>
        </p:nvSpPr>
        <p:spPr/>
        <p:txBody>
          <a:bodyPr vert="horz" lIns="91440" tIns="45720" rIns="91440" bIns="45720" rtlCol="0" anchor="t">
            <a:normAutofit/>
          </a:bodyPr>
          <a:lstStyle/>
          <a:p>
            <a:r>
              <a:rPr lang="en-US" dirty="0"/>
              <a:t>Processes that starts and boot and never stops or finishes.</a:t>
            </a:r>
          </a:p>
          <a:p>
            <a:r>
              <a:rPr lang="en-US" dirty="0"/>
              <a:t>Are services.</a:t>
            </a:r>
          </a:p>
          <a:p>
            <a:r>
              <a:rPr lang="en-US" dirty="0">
                <a:ea typeface="+mn-lt"/>
                <a:cs typeface="+mn-lt"/>
              </a:rPr>
              <a:t>A daemon is a process that:</a:t>
            </a:r>
            <a:endParaRPr lang="en-US" dirty="0"/>
          </a:p>
          <a:p>
            <a:pPr lvl="1">
              <a:buFont typeface="Courier New" panose="020B0604020202020204" pitchFamily="34" charset="0"/>
              <a:buChar char="o"/>
            </a:pPr>
            <a:r>
              <a:rPr lang="en-US" dirty="0">
                <a:ea typeface="+mn-lt"/>
                <a:cs typeface="+mn-lt"/>
              </a:rPr>
              <a:t>Has no controlling terminal — can’t read from stdin, can’t write to stdout/stderr</a:t>
            </a:r>
            <a:endParaRPr lang="en-US"/>
          </a:p>
          <a:p>
            <a:pPr lvl="1">
              <a:buFont typeface="Courier New" panose="020B0604020202020204" pitchFamily="34" charset="0"/>
              <a:buChar char="o"/>
            </a:pPr>
            <a:r>
              <a:rPr lang="en-US" dirty="0">
                <a:ea typeface="+mn-lt"/>
                <a:cs typeface="+mn-lt"/>
              </a:rPr>
              <a:t>Is detached from user sessions — keeps running even when users log out</a:t>
            </a:r>
            <a:endParaRPr lang="en-US"/>
          </a:p>
          <a:p>
            <a:pPr lvl="1">
              <a:buFont typeface="Courier New" panose="020B0604020202020204" pitchFamily="34" charset="0"/>
              <a:buChar char="o"/>
            </a:pPr>
            <a:r>
              <a:rPr lang="en-US" dirty="0">
                <a:ea typeface="+mn-lt"/>
                <a:cs typeface="+mn-lt"/>
              </a:rPr>
              <a:t>Is typically started at boot — launched by the </a:t>
            </a:r>
            <a:r>
              <a:rPr lang="en-US" err="1">
                <a:ea typeface="+mn-lt"/>
                <a:cs typeface="+mn-lt"/>
              </a:rPr>
              <a:t>init</a:t>
            </a:r>
            <a:r>
              <a:rPr lang="en-US" dirty="0">
                <a:ea typeface="+mn-lt"/>
                <a:cs typeface="+mn-lt"/>
              </a:rPr>
              <a:t> system</a:t>
            </a:r>
            <a:endParaRPr lang="en-US"/>
          </a:p>
          <a:p>
            <a:pPr lvl="1">
              <a:buFont typeface="Courier New" panose="020B0604020202020204" pitchFamily="34" charset="0"/>
              <a:buChar char="o"/>
            </a:pPr>
            <a:r>
              <a:rPr lang="en-US" dirty="0">
                <a:ea typeface="+mn-lt"/>
                <a:cs typeface="+mn-lt"/>
              </a:rPr>
              <a:t>Runs in the background — no direct user interaction</a:t>
            </a:r>
            <a:endParaRPr lang="en-US"/>
          </a:p>
          <a:p>
            <a:pPr lvl="1">
              <a:buFont typeface="Courier New" panose="020B0604020202020204" pitchFamily="34" charset="0"/>
              <a:buChar char="o"/>
            </a:pPr>
            <a:r>
              <a:rPr lang="en-US" dirty="0">
                <a:ea typeface="+mn-lt"/>
                <a:cs typeface="+mn-lt"/>
              </a:rPr>
              <a:t>Performs system services — handles requests or scheduled tasks</a:t>
            </a:r>
            <a:endParaRPr lang="en-US" dirty="0"/>
          </a:p>
        </p:txBody>
      </p:sp>
    </p:spTree>
    <p:extLst>
      <p:ext uri="{BB962C8B-B14F-4D97-AF65-F5344CB8AC3E}">
        <p14:creationId xmlns:p14="http://schemas.microsoft.com/office/powerpoint/2010/main" val="229781481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74837-E7EF-F7CC-79A3-597641E0C0CA}"/>
              </a:ext>
            </a:extLst>
          </p:cNvPr>
          <p:cNvSpPr>
            <a:spLocks noGrp="1"/>
          </p:cNvSpPr>
          <p:nvPr>
            <p:ph type="title"/>
          </p:nvPr>
        </p:nvSpPr>
        <p:spPr/>
        <p:txBody>
          <a:bodyPr/>
          <a:lstStyle/>
          <a:p>
            <a:r>
              <a:rPr lang="en-US" dirty="0"/>
              <a:t>SSH</a:t>
            </a:r>
          </a:p>
        </p:txBody>
      </p:sp>
      <p:sp>
        <p:nvSpPr>
          <p:cNvPr id="3" name="Content Placeholder 2">
            <a:extLst>
              <a:ext uri="{FF2B5EF4-FFF2-40B4-BE49-F238E27FC236}">
                <a16:creationId xmlns:a16="http://schemas.microsoft.com/office/drawing/2014/main" id="{50CD69D8-479A-3B4C-7ACA-E191D5DB7B24}"/>
              </a:ext>
            </a:extLst>
          </p:cNvPr>
          <p:cNvSpPr>
            <a:spLocks noGrp="1"/>
          </p:cNvSpPr>
          <p:nvPr>
            <p:ph idx="1"/>
          </p:nvPr>
        </p:nvSpPr>
        <p:spPr/>
        <p:txBody>
          <a:bodyPr vert="horz" lIns="91440" tIns="45720" rIns="91440" bIns="45720" rtlCol="0" anchor="t">
            <a:normAutofit/>
          </a:bodyPr>
          <a:lstStyle/>
          <a:p>
            <a:r>
              <a:rPr lang="en-US" dirty="0">
                <a:ea typeface="+mn-lt"/>
                <a:cs typeface="+mn-lt"/>
              </a:rPr>
              <a:t>It is a transport layer that is used for secure logins and share of information between two secured endpoints. </a:t>
            </a:r>
          </a:p>
          <a:p>
            <a:r>
              <a:rPr lang="en-US" dirty="0">
                <a:ea typeface="+mn-lt"/>
                <a:cs typeface="+mn-lt"/>
              </a:rPr>
              <a:t>It secures the exchange through public and private keys. </a:t>
            </a:r>
          </a:p>
          <a:p>
            <a:r>
              <a:rPr lang="en-US" dirty="0">
                <a:ea typeface="+mn-lt"/>
                <a:cs typeface="+mn-lt"/>
              </a:rPr>
              <a:t>Used for secure communications between an organization and a remote server.</a:t>
            </a:r>
            <a:endParaRPr lang="en-US">
              <a:ea typeface="+mn-lt"/>
              <a:cs typeface="+mn-lt"/>
            </a:endParaRPr>
          </a:p>
          <a:p>
            <a:r>
              <a:rPr lang="en-US" dirty="0"/>
              <a:t>Example: </a:t>
            </a:r>
            <a:r>
              <a:rPr lang="en-US" dirty="0">
                <a:ea typeface="+mn-lt"/>
                <a:cs typeface="+mn-lt"/>
              </a:rPr>
              <a:t>ssh –p &lt;port&gt; -</a:t>
            </a:r>
            <a:r>
              <a:rPr lang="en-US" dirty="0" err="1">
                <a:ea typeface="+mn-lt"/>
                <a:cs typeface="+mn-lt"/>
              </a:rPr>
              <a:t>i</a:t>
            </a:r>
            <a:r>
              <a:rPr lang="en-US" dirty="0">
                <a:ea typeface="+mn-lt"/>
                <a:cs typeface="+mn-lt"/>
              </a:rPr>
              <a:t> &lt;path to private key&gt; </a:t>
            </a:r>
            <a:r>
              <a:rPr lang="en-US" dirty="0" err="1">
                <a:ea typeface="+mn-lt"/>
                <a:cs typeface="+mn-lt"/>
              </a:rPr>
              <a:t>username@remote_host_address</a:t>
            </a:r>
          </a:p>
        </p:txBody>
      </p:sp>
    </p:spTree>
    <p:extLst>
      <p:ext uri="{BB962C8B-B14F-4D97-AF65-F5344CB8AC3E}">
        <p14:creationId xmlns:p14="http://schemas.microsoft.com/office/powerpoint/2010/main" val="17307807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691AF8-43F6-78CC-C8CB-59BF96B959A2}"/>
              </a:ext>
            </a:extLst>
          </p:cNvPr>
          <p:cNvSpPr>
            <a:spLocks noGrp="1"/>
          </p:cNvSpPr>
          <p:nvPr>
            <p:ph type="title"/>
          </p:nvPr>
        </p:nvSpPr>
        <p:spPr/>
        <p:txBody>
          <a:bodyPr/>
          <a:lstStyle/>
          <a:p>
            <a:r>
              <a:rPr lang="en-US" dirty="0"/>
              <a:t>SFTP</a:t>
            </a:r>
          </a:p>
        </p:txBody>
      </p:sp>
      <p:sp>
        <p:nvSpPr>
          <p:cNvPr id="3" name="Content Placeholder 2">
            <a:extLst>
              <a:ext uri="{FF2B5EF4-FFF2-40B4-BE49-F238E27FC236}">
                <a16:creationId xmlns:a16="http://schemas.microsoft.com/office/drawing/2014/main" id="{FBBC99C2-17FB-6C16-A2D0-63302B00F9FA}"/>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It is a protocol build over SSH to efficiently transfer files in a secured way. </a:t>
            </a:r>
          </a:p>
          <a:p>
            <a:r>
              <a:rPr lang="en-US" dirty="0">
                <a:ea typeface="+mn-lt"/>
                <a:cs typeface="+mn-lt"/>
              </a:rPr>
              <a:t>With the use of this protocol, it can easily move large amounts of data securely over an internet connection.  </a:t>
            </a:r>
          </a:p>
          <a:p>
            <a:r>
              <a:rPr lang="en-US" dirty="0">
                <a:ea typeface="+mn-lt"/>
                <a:cs typeface="+mn-lt"/>
              </a:rPr>
              <a:t>It utilizes the SSH and makes the information exchange with a higher level of protection.</a:t>
            </a:r>
          </a:p>
          <a:p>
            <a:r>
              <a:rPr lang="en-US" dirty="0"/>
              <a:t>Example: </a:t>
            </a:r>
            <a:r>
              <a:rPr lang="en-US" dirty="0">
                <a:ea typeface="+mn-lt"/>
                <a:cs typeface="+mn-lt"/>
              </a:rPr>
              <a:t>sftp root@192.168.56.2:/home/SGID-test.log . (To get file from server to PC)</a:t>
            </a:r>
          </a:p>
          <a:p>
            <a:r>
              <a:rPr lang="en-US" dirty="0"/>
              <a:t>Run sftp &lt;user&gt;@&lt;ip&gt;</a:t>
            </a:r>
          </a:p>
          <a:p>
            <a:r>
              <a:rPr lang="en-US" dirty="0"/>
              <a:t>Change directory using cd</a:t>
            </a:r>
          </a:p>
          <a:p>
            <a:r>
              <a:rPr lang="en-US" dirty="0"/>
              <a:t>Run get &lt;file name&gt; or </a:t>
            </a:r>
            <a:r>
              <a:rPr lang="en-US" dirty="0">
                <a:ea typeface="+mn-lt"/>
                <a:cs typeface="+mn-lt"/>
              </a:rPr>
              <a:t>put &lt;file name&gt;</a:t>
            </a:r>
            <a:endParaRPr lang="en-US" dirty="0"/>
          </a:p>
          <a:p>
            <a:r>
              <a:rPr lang="en-US" dirty="0"/>
              <a:t>Exit using ctrl + c</a:t>
            </a:r>
          </a:p>
          <a:p>
            <a:endParaRPr lang="en-US" dirty="0"/>
          </a:p>
        </p:txBody>
      </p:sp>
    </p:spTree>
    <p:extLst>
      <p:ext uri="{BB962C8B-B14F-4D97-AF65-F5344CB8AC3E}">
        <p14:creationId xmlns:p14="http://schemas.microsoft.com/office/powerpoint/2010/main" val="246144027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DAC21-4E8A-3A30-0888-6DA9C80D94C4}"/>
              </a:ext>
            </a:extLst>
          </p:cNvPr>
          <p:cNvSpPr>
            <a:spLocks noGrp="1"/>
          </p:cNvSpPr>
          <p:nvPr>
            <p:ph type="title"/>
          </p:nvPr>
        </p:nvSpPr>
        <p:spPr/>
        <p:txBody>
          <a:bodyPr/>
          <a:lstStyle/>
          <a:p>
            <a:r>
              <a:rPr lang="en-US" dirty="0"/>
              <a:t>SCP</a:t>
            </a:r>
          </a:p>
        </p:txBody>
      </p:sp>
      <p:sp>
        <p:nvSpPr>
          <p:cNvPr id="3" name="Content Placeholder 2">
            <a:extLst>
              <a:ext uri="{FF2B5EF4-FFF2-40B4-BE49-F238E27FC236}">
                <a16:creationId xmlns:a16="http://schemas.microsoft.com/office/drawing/2014/main" id="{CC5DBA47-E3FE-0124-E490-D5C4D92C16BC}"/>
              </a:ext>
            </a:extLst>
          </p:cNvPr>
          <p:cNvSpPr>
            <a:spLocks noGrp="1"/>
          </p:cNvSpPr>
          <p:nvPr>
            <p:ph idx="1"/>
          </p:nvPr>
        </p:nvSpPr>
        <p:spPr/>
        <p:txBody>
          <a:bodyPr vert="horz" lIns="91440" tIns="45720" rIns="91440" bIns="45720" rtlCol="0" anchor="t">
            <a:normAutofit/>
          </a:bodyPr>
          <a:lstStyle/>
          <a:p>
            <a:r>
              <a:rPr lang="en-US" dirty="0">
                <a:ea typeface="+mn-lt"/>
                <a:cs typeface="+mn-lt"/>
              </a:rPr>
              <a:t>SCP (Secure Copy Protocol) allows users to securely transfer files between systems. </a:t>
            </a:r>
            <a:endParaRPr lang="en-US" dirty="0"/>
          </a:p>
          <a:p>
            <a:r>
              <a:rPr lang="en-US" dirty="0">
                <a:ea typeface="+mn-lt"/>
                <a:cs typeface="+mn-lt"/>
              </a:rPr>
              <a:t>As it uses SSH, all transferred data is encrypted, making it a safe choice for transmitting sensitive files.</a:t>
            </a:r>
          </a:p>
          <a:p>
            <a:r>
              <a:rPr lang="en-US" dirty="0"/>
              <a:t>Send file to server:</a:t>
            </a:r>
          </a:p>
          <a:p>
            <a:pPr lvl="1">
              <a:buFont typeface="Courier New" panose="020B0604020202020204" pitchFamily="34" charset="0"/>
              <a:buChar char="o"/>
            </a:pPr>
            <a:r>
              <a:rPr lang="en-US" err="1">
                <a:ea typeface="+mn-lt"/>
                <a:cs typeface="+mn-lt"/>
              </a:rPr>
              <a:t>scp</a:t>
            </a:r>
            <a:r>
              <a:rPr lang="en-US">
                <a:ea typeface="+mn-lt"/>
                <a:cs typeface="+mn-lt"/>
              </a:rPr>
              <a:t> file.txt username@192.168.1.2:/home/username/</a:t>
            </a:r>
          </a:p>
          <a:p>
            <a:r>
              <a:rPr lang="en-US" dirty="0"/>
              <a:t>Get file from server:</a:t>
            </a:r>
          </a:p>
          <a:p>
            <a:pPr lvl="1">
              <a:buFont typeface="Courier New" panose="020B0604020202020204" pitchFamily="34" charset="0"/>
              <a:buChar char="o"/>
            </a:pPr>
            <a:r>
              <a:rPr lang="en-US" err="1">
                <a:ea typeface="+mn-lt"/>
                <a:cs typeface="+mn-lt"/>
              </a:rPr>
              <a:t>scp</a:t>
            </a:r>
            <a:r>
              <a:rPr lang="en-US">
                <a:ea typeface="+mn-lt"/>
                <a:cs typeface="+mn-lt"/>
              </a:rPr>
              <a:t> username@192.168.1.2:/home/username/file.txt .</a:t>
            </a:r>
            <a:endParaRPr lang="en-US" dirty="0">
              <a:ea typeface="+mn-lt"/>
              <a:cs typeface="+mn-lt"/>
            </a:endParaRPr>
          </a:p>
          <a:p>
            <a:r>
              <a:rPr lang="en-US" dirty="0"/>
              <a:t>User flag –r to copy directories</a:t>
            </a:r>
          </a:p>
        </p:txBody>
      </p:sp>
    </p:spTree>
    <p:extLst>
      <p:ext uri="{BB962C8B-B14F-4D97-AF65-F5344CB8AC3E}">
        <p14:creationId xmlns:p14="http://schemas.microsoft.com/office/powerpoint/2010/main" val="300674650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FE826-2E7D-07D4-7B08-1731F95ACED3}"/>
              </a:ext>
            </a:extLst>
          </p:cNvPr>
          <p:cNvSpPr>
            <a:spLocks noGrp="1"/>
          </p:cNvSpPr>
          <p:nvPr>
            <p:ph type="title"/>
          </p:nvPr>
        </p:nvSpPr>
        <p:spPr/>
        <p:txBody>
          <a:bodyPr/>
          <a:lstStyle/>
          <a:p>
            <a:r>
              <a:rPr lang="en-US" dirty="0" err="1"/>
              <a:t>rsync</a:t>
            </a:r>
          </a:p>
        </p:txBody>
      </p:sp>
      <p:sp>
        <p:nvSpPr>
          <p:cNvPr id="3" name="Content Placeholder 2">
            <a:extLst>
              <a:ext uri="{FF2B5EF4-FFF2-40B4-BE49-F238E27FC236}">
                <a16:creationId xmlns:a16="http://schemas.microsoft.com/office/drawing/2014/main" id="{3EBBF961-687D-409E-8789-2F93384E0264}"/>
              </a:ext>
            </a:extLst>
          </p:cNvPr>
          <p:cNvSpPr>
            <a:spLocks noGrp="1"/>
          </p:cNvSpPr>
          <p:nvPr>
            <p:ph idx="1"/>
          </p:nvPr>
        </p:nvSpPr>
        <p:spPr>
          <a:xfrm>
            <a:off x="700635" y="1713992"/>
            <a:ext cx="10691265" cy="4570279"/>
          </a:xfrm>
        </p:spPr>
        <p:txBody>
          <a:bodyPr vert="horz" lIns="91440" tIns="45720" rIns="91440" bIns="45720" rtlCol="0" anchor="t">
            <a:normAutofit fontScale="92500" lnSpcReduction="20000"/>
          </a:bodyPr>
          <a:lstStyle/>
          <a:p>
            <a:r>
              <a:rPr lang="en-US" err="1">
                <a:ea typeface="+mn-lt"/>
                <a:cs typeface="+mn-lt"/>
              </a:rPr>
              <a:t>rsync</a:t>
            </a:r>
            <a:r>
              <a:rPr lang="en-US" dirty="0">
                <a:ea typeface="+mn-lt"/>
                <a:cs typeface="+mn-lt"/>
              </a:rPr>
              <a:t> or remote synchronization is a software utility for Unix-Like systems that efficiently sync files and directories between two hosts or machines. One is the source or the local-host from which the files will be synced, the other is the remote-host, on which synchronization will take place. There are basically two ways in which </a:t>
            </a:r>
            <a:r>
              <a:rPr lang="en-US" err="1">
                <a:ea typeface="+mn-lt"/>
                <a:cs typeface="+mn-lt"/>
              </a:rPr>
              <a:t>rsync</a:t>
            </a:r>
            <a:r>
              <a:rPr lang="en-US" dirty="0">
                <a:ea typeface="+mn-lt"/>
                <a:cs typeface="+mn-lt"/>
              </a:rPr>
              <a:t> can copy/sync data:</a:t>
            </a:r>
            <a:endParaRPr lang="en-US" dirty="0"/>
          </a:p>
          <a:p>
            <a:pPr lvl="1">
              <a:buFont typeface="Courier New" panose="020B0604020202020204" pitchFamily="34" charset="0"/>
              <a:buChar char="o"/>
            </a:pPr>
            <a:r>
              <a:rPr lang="en-US" dirty="0">
                <a:ea typeface="+mn-lt"/>
                <a:cs typeface="+mn-lt"/>
              </a:rPr>
              <a:t>Copying/syncing to/from another host over any remote shell like ssh, </a:t>
            </a:r>
            <a:r>
              <a:rPr lang="en-US" err="1">
                <a:ea typeface="+mn-lt"/>
                <a:cs typeface="+mn-lt"/>
              </a:rPr>
              <a:t>rsh</a:t>
            </a:r>
            <a:r>
              <a:rPr lang="en-US" dirty="0">
                <a:ea typeface="+mn-lt"/>
                <a:cs typeface="+mn-lt"/>
              </a:rPr>
              <a:t>.</a:t>
            </a:r>
            <a:endParaRPr lang="en-US"/>
          </a:p>
          <a:p>
            <a:pPr lvl="1">
              <a:buFont typeface="Courier New" panose="020B0604020202020204" pitchFamily="34" charset="0"/>
              <a:buChar char="o"/>
            </a:pPr>
            <a:r>
              <a:rPr lang="en-US" dirty="0">
                <a:ea typeface="+mn-lt"/>
                <a:cs typeface="+mn-lt"/>
              </a:rPr>
              <a:t>Copying/Syncing through </a:t>
            </a:r>
            <a:r>
              <a:rPr lang="en-US" err="1">
                <a:ea typeface="+mn-lt"/>
                <a:cs typeface="+mn-lt"/>
              </a:rPr>
              <a:t>rsync</a:t>
            </a:r>
            <a:r>
              <a:rPr lang="en-US" dirty="0">
                <a:ea typeface="+mn-lt"/>
                <a:cs typeface="+mn-lt"/>
              </a:rPr>
              <a:t> daemon using TCP.</a:t>
            </a:r>
          </a:p>
          <a:p>
            <a:r>
              <a:rPr lang="en-US" dirty="0"/>
              <a:t>Install </a:t>
            </a:r>
            <a:r>
              <a:rPr lang="en-US" dirty="0" err="1"/>
              <a:t>rsync</a:t>
            </a:r>
            <a:r>
              <a:rPr lang="en-US" dirty="0"/>
              <a:t>: </a:t>
            </a:r>
            <a:r>
              <a:rPr lang="en-US" dirty="0" err="1"/>
              <a:t>dnf</a:t>
            </a:r>
            <a:r>
              <a:rPr lang="en-US" dirty="0"/>
              <a:t> install </a:t>
            </a:r>
            <a:r>
              <a:rPr lang="en-US" dirty="0" err="1"/>
              <a:t>rsync</a:t>
            </a:r>
            <a:r>
              <a:rPr lang="en-US" dirty="0"/>
              <a:t> –y (needed in both source and destination)</a:t>
            </a:r>
          </a:p>
          <a:p>
            <a:r>
              <a:rPr lang="en-US" dirty="0"/>
              <a:t>Sync to server: </a:t>
            </a:r>
            <a:r>
              <a:rPr lang="en-US" dirty="0" err="1">
                <a:ea typeface="+mn-lt"/>
                <a:cs typeface="+mn-lt"/>
              </a:rPr>
              <a:t>rsync</a:t>
            </a:r>
            <a:r>
              <a:rPr lang="en-US" dirty="0">
                <a:ea typeface="+mn-lt"/>
                <a:cs typeface="+mn-lt"/>
              </a:rPr>
              <a:t> local-file </a:t>
            </a:r>
            <a:r>
              <a:rPr lang="en-US" dirty="0" err="1">
                <a:ea typeface="+mn-lt"/>
                <a:cs typeface="+mn-lt"/>
              </a:rPr>
              <a:t>user@remote-host:remote-file</a:t>
            </a:r>
          </a:p>
          <a:p>
            <a:r>
              <a:rPr lang="en-US" dirty="0">
                <a:ea typeface="+mn-lt"/>
                <a:cs typeface="+mn-lt"/>
              </a:rPr>
              <a:t>Sync directory locally: </a:t>
            </a:r>
            <a:r>
              <a:rPr lang="en-US" dirty="0" err="1">
                <a:ea typeface="+mn-lt"/>
                <a:cs typeface="+mn-lt"/>
              </a:rPr>
              <a:t>rsync</a:t>
            </a:r>
            <a:r>
              <a:rPr lang="en-US" dirty="0">
                <a:ea typeface="+mn-lt"/>
                <a:cs typeface="+mn-lt"/>
              </a:rPr>
              <a:t> -</a:t>
            </a:r>
            <a:r>
              <a:rPr lang="en-US" dirty="0" err="1">
                <a:ea typeface="+mn-lt"/>
                <a:cs typeface="+mn-lt"/>
              </a:rPr>
              <a:t>avh</a:t>
            </a:r>
            <a:r>
              <a:rPr lang="en-US" dirty="0">
                <a:ea typeface="+mn-lt"/>
                <a:cs typeface="+mn-lt"/>
              </a:rPr>
              <a:t> foo/ bar/ </a:t>
            </a:r>
            <a:endParaRPr lang="en-US" dirty="0"/>
          </a:p>
          <a:p>
            <a:r>
              <a:rPr lang="en-US" dirty="0">
                <a:ea typeface="+mn-lt"/>
                <a:cs typeface="+mn-lt"/>
              </a:rPr>
              <a:t>Sync ignoring existing files: </a:t>
            </a:r>
            <a:r>
              <a:rPr lang="en-US" dirty="0" err="1">
                <a:ea typeface="+mn-lt"/>
                <a:cs typeface="+mn-lt"/>
              </a:rPr>
              <a:t>rsync</a:t>
            </a:r>
            <a:r>
              <a:rPr lang="en-US" dirty="0">
                <a:ea typeface="+mn-lt"/>
                <a:cs typeface="+mn-lt"/>
              </a:rPr>
              <a:t> --ignore-existing -</a:t>
            </a:r>
            <a:r>
              <a:rPr lang="en-US" dirty="0" err="1">
                <a:ea typeface="+mn-lt"/>
                <a:cs typeface="+mn-lt"/>
              </a:rPr>
              <a:t>avhe</a:t>
            </a:r>
            <a:r>
              <a:rPr lang="en-US" dirty="0">
                <a:ea typeface="+mn-lt"/>
                <a:cs typeface="+mn-lt"/>
              </a:rPr>
              <a:t> /foo </a:t>
            </a:r>
            <a:r>
              <a:rPr lang="en-US" dirty="0" err="1">
                <a:ea typeface="+mn-lt"/>
                <a:cs typeface="+mn-lt"/>
              </a:rPr>
              <a:t>user@remote-host</a:t>
            </a:r>
            <a:r>
              <a:rPr lang="en-US" dirty="0">
                <a:ea typeface="+mn-lt"/>
                <a:cs typeface="+mn-lt"/>
              </a:rPr>
              <a:t>:/</a:t>
            </a:r>
            <a:r>
              <a:rPr lang="en-US" dirty="0" err="1">
                <a:ea typeface="+mn-lt"/>
                <a:cs typeface="+mn-lt"/>
              </a:rPr>
              <a:t>tmp</a:t>
            </a:r>
            <a:r>
              <a:rPr lang="en-US" dirty="0">
                <a:ea typeface="+mn-lt"/>
                <a:cs typeface="+mn-lt"/>
              </a:rPr>
              <a:t>/</a:t>
            </a:r>
          </a:p>
          <a:p>
            <a:r>
              <a:rPr lang="en-US" dirty="0">
                <a:ea typeface="+mn-lt"/>
                <a:cs typeface="+mn-lt"/>
              </a:rPr>
              <a:t>Sync directory: </a:t>
            </a:r>
          </a:p>
          <a:p>
            <a:pPr lvl="1">
              <a:buFont typeface="Courier New" panose="020B0604020202020204" pitchFamily="34" charset="0"/>
              <a:buChar char="o"/>
            </a:pPr>
            <a:r>
              <a:rPr lang="en-US" err="1">
                <a:ea typeface="+mn-lt"/>
                <a:cs typeface="+mn-lt"/>
              </a:rPr>
              <a:t>rsync</a:t>
            </a:r>
            <a:r>
              <a:rPr lang="en-US" dirty="0">
                <a:ea typeface="+mn-lt"/>
                <a:cs typeface="+mn-lt"/>
              </a:rPr>
              <a:t> -</a:t>
            </a:r>
            <a:r>
              <a:rPr lang="en-US" err="1">
                <a:ea typeface="+mn-lt"/>
                <a:cs typeface="+mn-lt"/>
              </a:rPr>
              <a:t>avz</a:t>
            </a:r>
            <a:r>
              <a:rPr lang="en-US" dirty="0">
                <a:ea typeface="+mn-lt"/>
                <a:cs typeface="+mn-lt"/>
              </a:rPr>
              <a:t> /</a:t>
            </a:r>
            <a:r>
              <a:rPr lang="en-US" err="1">
                <a:ea typeface="+mn-lt"/>
                <a:cs typeface="+mn-lt"/>
              </a:rPr>
              <a:t>source_dir</a:t>
            </a:r>
            <a:r>
              <a:rPr lang="en-US" dirty="0">
                <a:ea typeface="+mn-lt"/>
                <a:cs typeface="+mn-lt"/>
              </a:rPr>
              <a:t>/ </a:t>
            </a:r>
            <a:r>
              <a:rPr lang="en-US" err="1">
                <a:ea typeface="+mn-lt"/>
                <a:cs typeface="+mn-lt"/>
              </a:rPr>
              <a:t>user@remote_host</a:t>
            </a:r>
            <a:r>
              <a:rPr lang="en-US" dirty="0">
                <a:ea typeface="+mn-lt"/>
                <a:cs typeface="+mn-lt"/>
              </a:rPr>
              <a:t>:/</a:t>
            </a:r>
            <a:r>
              <a:rPr lang="en-US" err="1">
                <a:ea typeface="+mn-lt"/>
                <a:cs typeface="+mn-lt"/>
              </a:rPr>
              <a:t>remote_dir</a:t>
            </a:r>
            <a:r>
              <a:rPr lang="en-US">
                <a:ea typeface="+mn-lt"/>
                <a:cs typeface="+mn-lt"/>
              </a:rPr>
              <a:t>/ (Push)</a:t>
            </a:r>
          </a:p>
          <a:p>
            <a:pPr lvl="1">
              <a:buFont typeface="Courier New" panose="020B0604020202020204" pitchFamily="34" charset="0"/>
              <a:buChar char="o"/>
            </a:pPr>
            <a:r>
              <a:rPr lang="en-US" dirty="0" err="1">
                <a:ea typeface="+mn-lt"/>
                <a:cs typeface="+mn-lt"/>
              </a:rPr>
              <a:t>rsync</a:t>
            </a:r>
            <a:r>
              <a:rPr lang="en-US" dirty="0">
                <a:ea typeface="+mn-lt"/>
                <a:cs typeface="+mn-lt"/>
              </a:rPr>
              <a:t> -</a:t>
            </a:r>
            <a:r>
              <a:rPr lang="en-US" dirty="0" err="1">
                <a:ea typeface="+mn-lt"/>
                <a:cs typeface="+mn-lt"/>
              </a:rPr>
              <a:t>avz</a:t>
            </a:r>
            <a:r>
              <a:rPr lang="en-US" dirty="0">
                <a:ea typeface="+mn-lt"/>
                <a:cs typeface="+mn-lt"/>
              </a:rPr>
              <a:t> </a:t>
            </a:r>
            <a:r>
              <a:rPr lang="en-US" dirty="0" err="1">
                <a:ea typeface="+mn-lt"/>
                <a:cs typeface="+mn-lt"/>
              </a:rPr>
              <a:t>user@remote_host</a:t>
            </a:r>
            <a:r>
              <a:rPr lang="en-US" dirty="0">
                <a:ea typeface="+mn-lt"/>
                <a:cs typeface="+mn-lt"/>
              </a:rPr>
              <a:t>:/</a:t>
            </a:r>
            <a:r>
              <a:rPr lang="en-US" dirty="0" err="1">
                <a:ea typeface="+mn-lt"/>
                <a:cs typeface="+mn-lt"/>
              </a:rPr>
              <a:t>remote_dir</a:t>
            </a:r>
            <a:r>
              <a:rPr lang="en-US" dirty="0">
                <a:ea typeface="+mn-lt"/>
                <a:cs typeface="+mn-lt"/>
              </a:rPr>
              <a:t>/ /</a:t>
            </a:r>
            <a:r>
              <a:rPr lang="en-US" dirty="0" err="1">
                <a:ea typeface="+mn-lt"/>
                <a:cs typeface="+mn-lt"/>
              </a:rPr>
              <a:t>local_dir</a:t>
            </a:r>
            <a:r>
              <a:rPr lang="en-US" dirty="0">
                <a:ea typeface="+mn-lt"/>
                <a:cs typeface="+mn-lt"/>
              </a:rPr>
              <a:t>/ (Pull)</a:t>
            </a:r>
            <a:endParaRPr lang="en-US"/>
          </a:p>
          <a:p>
            <a:pPr lvl="1">
              <a:buFont typeface="Courier New" panose="020B0604020202020204" pitchFamily="34" charset="0"/>
              <a:buChar char="o"/>
            </a:pPr>
            <a:endParaRPr lang="en-US" dirty="0">
              <a:ea typeface="+mn-lt"/>
              <a:cs typeface="+mn-lt"/>
            </a:endParaRPr>
          </a:p>
        </p:txBody>
      </p:sp>
    </p:spTree>
    <p:extLst>
      <p:ext uri="{BB962C8B-B14F-4D97-AF65-F5344CB8AC3E}">
        <p14:creationId xmlns:p14="http://schemas.microsoft.com/office/powerpoint/2010/main" val="17653495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8C8BE7-37DA-D8FE-3588-4C141748B6BE}"/>
              </a:ext>
            </a:extLst>
          </p:cNvPr>
          <p:cNvSpPr>
            <a:spLocks noGrp="1"/>
          </p:cNvSpPr>
          <p:nvPr>
            <p:ph type="title"/>
          </p:nvPr>
        </p:nvSpPr>
        <p:spPr/>
        <p:txBody>
          <a:bodyPr/>
          <a:lstStyle/>
          <a:p>
            <a:r>
              <a:rPr lang="en-US" dirty="0"/>
              <a:t>Archiving - tar</a:t>
            </a:r>
          </a:p>
        </p:txBody>
      </p:sp>
      <p:sp>
        <p:nvSpPr>
          <p:cNvPr id="3" name="Content Placeholder 2">
            <a:extLst>
              <a:ext uri="{FF2B5EF4-FFF2-40B4-BE49-F238E27FC236}">
                <a16:creationId xmlns:a16="http://schemas.microsoft.com/office/drawing/2014/main" id="{4B2DEEDB-6CE6-8B05-1A10-791A79EA2238}"/>
              </a:ext>
            </a:extLst>
          </p:cNvPr>
          <p:cNvSpPr>
            <a:spLocks noGrp="1"/>
          </p:cNvSpPr>
          <p:nvPr>
            <p:ph idx="1"/>
          </p:nvPr>
        </p:nvSpPr>
        <p:spPr/>
        <p:txBody>
          <a:bodyPr vert="horz" lIns="91440" tIns="45720" rIns="91440" bIns="45720" rtlCol="0" anchor="t">
            <a:normAutofit fontScale="92500" lnSpcReduction="10000"/>
          </a:bodyPr>
          <a:lstStyle/>
          <a:p>
            <a:r>
              <a:rPr lang="en-US" dirty="0">
                <a:ea typeface="+mn-lt"/>
                <a:cs typeface="+mn-lt"/>
              </a:rPr>
              <a:t>The tar command in Linux, short for Tape Archive, is a powerful and widely used tool for creating, viewing, and extracting files from archives. </a:t>
            </a:r>
          </a:p>
          <a:p>
            <a:r>
              <a:rPr lang="en-US" dirty="0">
                <a:ea typeface="+mn-lt"/>
                <a:cs typeface="+mn-lt"/>
              </a:rPr>
              <a:t>The tar command bundles multiple files into a single archive file, optionally compressing them using options like -z (</a:t>
            </a:r>
            <a:r>
              <a:rPr lang="en-US" dirty="0" err="1">
                <a:ea typeface="+mn-lt"/>
                <a:cs typeface="+mn-lt"/>
              </a:rPr>
              <a:t>gzip</a:t>
            </a:r>
            <a:r>
              <a:rPr lang="en-US" dirty="0">
                <a:ea typeface="+mn-lt"/>
                <a:cs typeface="+mn-lt"/>
              </a:rPr>
              <a:t>) or -j (bzip2), but they don't change the directory structures, which makes it ideal for backups or file distribution.</a:t>
            </a:r>
          </a:p>
          <a:p>
            <a:r>
              <a:rPr lang="en-US" dirty="0"/>
              <a:t>Creating an uncompressed tar archive</a:t>
            </a:r>
          </a:p>
          <a:p>
            <a:pPr lvl="1">
              <a:buFont typeface="Courier New" panose="020B0604020202020204" pitchFamily="34" charset="0"/>
              <a:buChar char="o"/>
            </a:pPr>
            <a:r>
              <a:rPr lang="en-US" dirty="0">
                <a:ea typeface="+mn-lt"/>
                <a:cs typeface="+mn-lt"/>
              </a:rPr>
              <a:t>tar -</a:t>
            </a:r>
            <a:r>
              <a:rPr lang="en-US" dirty="0" err="1">
                <a:ea typeface="+mn-lt"/>
                <a:cs typeface="+mn-lt"/>
              </a:rPr>
              <a:t>cvf</a:t>
            </a:r>
            <a:r>
              <a:rPr lang="en-US" dirty="0">
                <a:ea typeface="+mn-lt"/>
                <a:cs typeface="+mn-lt"/>
              </a:rPr>
              <a:t> file.tar * or &lt;directory&gt;</a:t>
            </a:r>
          </a:p>
          <a:p>
            <a:pPr lvl="2">
              <a:buFont typeface="Wingdings" panose="020B0604020202020204" pitchFamily="34" charset="0"/>
              <a:buChar char="§"/>
            </a:pPr>
            <a:r>
              <a:rPr lang="en-US" dirty="0">
                <a:ea typeface="+mn-lt"/>
                <a:cs typeface="+mn-lt"/>
              </a:rPr>
              <a:t>'-c': Creates a new archive.</a:t>
            </a:r>
            <a:endParaRPr lang="en-US"/>
          </a:p>
          <a:p>
            <a:pPr lvl="2"/>
            <a:r>
              <a:rPr lang="en-US" dirty="0">
                <a:ea typeface="+mn-lt"/>
                <a:cs typeface="+mn-lt"/>
              </a:rPr>
              <a:t>'-v': Displays verbose output, showing the progress of the archiving process.</a:t>
            </a:r>
            <a:endParaRPr lang="en-US" dirty="0"/>
          </a:p>
          <a:p>
            <a:pPr lvl="2">
              <a:buFont typeface="Wingdings" panose="020B0604020202020204" pitchFamily="34" charset="0"/>
              <a:buChar char="§"/>
            </a:pPr>
            <a:r>
              <a:rPr lang="en-US" dirty="0">
                <a:ea typeface="+mn-lt"/>
                <a:cs typeface="+mn-lt"/>
              </a:rPr>
              <a:t>'-f': Specifies the filename of the archive</a:t>
            </a:r>
          </a:p>
          <a:p>
            <a:r>
              <a:rPr lang="en-US" dirty="0"/>
              <a:t>Extract from archive: tar –</a:t>
            </a:r>
            <a:r>
              <a:rPr lang="en-US" dirty="0" err="1"/>
              <a:t>xvf</a:t>
            </a:r>
            <a:r>
              <a:rPr lang="en-US" dirty="0"/>
              <a:t> file.tar</a:t>
            </a:r>
          </a:p>
        </p:txBody>
      </p:sp>
    </p:spTree>
    <p:extLst>
      <p:ext uri="{BB962C8B-B14F-4D97-AF65-F5344CB8AC3E}">
        <p14:creationId xmlns:p14="http://schemas.microsoft.com/office/powerpoint/2010/main" val="22240116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0E607-7B2C-C348-7B6C-E47686C34BB9}"/>
              </a:ext>
            </a:extLst>
          </p:cNvPr>
          <p:cNvSpPr>
            <a:spLocks noGrp="1"/>
          </p:cNvSpPr>
          <p:nvPr>
            <p:ph type="title"/>
          </p:nvPr>
        </p:nvSpPr>
        <p:spPr/>
        <p:txBody>
          <a:bodyPr/>
          <a:lstStyle/>
          <a:p>
            <a:r>
              <a:rPr lang="en-US" dirty="0"/>
              <a:t>Archiving - </a:t>
            </a:r>
            <a:r>
              <a:rPr lang="en-US" dirty="0" err="1"/>
              <a:t>gzip</a:t>
            </a:r>
          </a:p>
        </p:txBody>
      </p:sp>
      <p:sp>
        <p:nvSpPr>
          <p:cNvPr id="3" name="Content Placeholder 2">
            <a:extLst>
              <a:ext uri="{FF2B5EF4-FFF2-40B4-BE49-F238E27FC236}">
                <a16:creationId xmlns:a16="http://schemas.microsoft.com/office/drawing/2014/main" id="{1979184A-7A5B-DF44-3362-8A61C88E793B}"/>
              </a:ext>
            </a:extLst>
          </p:cNvPr>
          <p:cNvSpPr>
            <a:spLocks noGrp="1"/>
          </p:cNvSpPr>
          <p:nvPr>
            <p:ph idx="1"/>
          </p:nvPr>
        </p:nvSpPr>
        <p:spPr/>
        <p:txBody>
          <a:bodyPr vert="horz" lIns="91440" tIns="45720" rIns="91440" bIns="45720" rtlCol="0" anchor="t">
            <a:normAutofit/>
          </a:bodyPr>
          <a:lstStyle/>
          <a:p>
            <a:r>
              <a:rPr lang="en-US" dirty="0">
                <a:ea typeface="+mn-lt"/>
                <a:cs typeface="+mn-lt"/>
              </a:rPr>
              <a:t>The </a:t>
            </a:r>
            <a:r>
              <a:rPr lang="en-US" dirty="0" err="1">
                <a:ea typeface="+mn-lt"/>
                <a:cs typeface="+mn-lt"/>
              </a:rPr>
              <a:t>gzip</a:t>
            </a:r>
            <a:r>
              <a:rPr lang="en-US" dirty="0">
                <a:ea typeface="+mn-lt"/>
                <a:cs typeface="+mn-lt"/>
              </a:rPr>
              <a:t> command in Linux is used to compress files efficiently, reducing their size to save storage space and speed up file transfer without losing data.</a:t>
            </a:r>
          </a:p>
          <a:p>
            <a:pPr lvl="1">
              <a:buFont typeface="Courier New" panose="020B0604020202020204" pitchFamily="34" charset="0"/>
              <a:buChar char="o"/>
            </a:pPr>
            <a:r>
              <a:rPr lang="en-US" dirty="0">
                <a:ea typeface="+mn-lt"/>
                <a:cs typeface="+mn-lt"/>
              </a:rPr>
              <a:t>Uses the Lempel-Ziv (LZ77) compression algorithm for speed and efficiency.</a:t>
            </a:r>
          </a:p>
          <a:p>
            <a:pPr lvl="1">
              <a:buFont typeface="Courier New" panose="020B0604020202020204" pitchFamily="34" charset="0"/>
              <a:buChar char="o"/>
            </a:pPr>
            <a:r>
              <a:rPr lang="en-US" dirty="0">
                <a:ea typeface="+mn-lt"/>
                <a:cs typeface="+mn-lt"/>
              </a:rPr>
              <a:t>Replaces the original file with a compressed version ending in .</a:t>
            </a:r>
            <a:r>
              <a:rPr lang="en-US" dirty="0" err="1">
                <a:ea typeface="+mn-lt"/>
                <a:cs typeface="+mn-lt"/>
              </a:rPr>
              <a:t>gz</a:t>
            </a:r>
            <a:r>
              <a:rPr lang="en-US" dirty="0">
                <a:ea typeface="+mn-lt"/>
                <a:cs typeface="+mn-lt"/>
              </a:rPr>
              <a:t>.</a:t>
            </a:r>
          </a:p>
          <a:p>
            <a:pPr lvl="1">
              <a:buFont typeface="Courier New" panose="020B0604020202020204" pitchFamily="34" charset="0"/>
              <a:buChar char="o"/>
            </a:pPr>
            <a:r>
              <a:rPr lang="en-US" dirty="0">
                <a:ea typeface="+mn-lt"/>
                <a:cs typeface="+mn-lt"/>
              </a:rPr>
              <a:t>Can decompress files using the -d option or the </a:t>
            </a:r>
            <a:r>
              <a:rPr lang="en-US" dirty="0" err="1">
                <a:ea typeface="+mn-lt"/>
                <a:cs typeface="+mn-lt"/>
              </a:rPr>
              <a:t>gunzip</a:t>
            </a:r>
            <a:r>
              <a:rPr lang="en-US" dirty="0">
                <a:ea typeface="+mn-lt"/>
                <a:cs typeface="+mn-lt"/>
              </a:rPr>
              <a:t> command.</a:t>
            </a:r>
          </a:p>
          <a:p>
            <a:r>
              <a:rPr lang="en-US" dirty="0">
                <a:ea typeface="+mn-lt"/>
                <a:cs typeface="+mn-lt"/>
              </a:rPr>
              <a:t>Compress a file: </a:t>
            </a:r>
            <a:r>
              <a:rPr lang="en-US" dirty="0" err="1">
                <a:ea typeface="+mn-lt"/>
                <a:cs typeface="+mn-lt"/>
              </a:rPr>
              <a:t>gzip</a:t>
            </a:r>
            <a:r>
              <a:rPr lang="en-US" dirty="0">
                <a:ea typeface="+mn-lt"/>
                <a:cs typeface="+mn-lt"/>
              </a:rPr>
              <a:t> &lt;filename&gt; or &lt;filename 1&gt; &lt;filename 2&gt; … &lt;filename n&gt;</a:t>
            </a:r>
          </a:p>
          <a:p>
            <a:r>
              <a:rPr lang="en-US" dirty="0">
                <a:ea typeface="+mn-lt"/>
                <a:cs typeface="+mn-lt"/>
              </a:rPr>
              <a:t>Decompress a </a:t>
            </a:r>
            <a:r>
              <a:rPr lang="en-US" dirty="0" err="1">
                <a:ea typeface="+mn-lt"/>
                <a:cs typeface="+mn-lt"/>
              </a:rPr>
              <a:t>gzip</a:t>
            </a:r>
            <a:r>
              <a:rPr lang="en-US" dirty="0">
                <a:ea typeface="+mn-lt"/>
                <a:cs typeface="+mn-lt"/>
              </a:rPr>
              <a:t> file: </a:t>
            </a:r>
            <a:r>
              <a:rPr lang="en-US" dirty="0" err="1">
                <a:ea typeface="+mn-lt"/>
                <a:cs typeface="+mn-lt"/>
              </a:rPr>
              <a:t>gzip</a:t>
            </a:r>
            <a:r>
              <a:rPr lang="en-US" dirty="0">
                <a:ea typeface="+mn-lt"/>
                <a:cs typeface="+mn-lt"/>
              </a:rPr>
              <a:t> –d &lt;filename&gt;.</a:t>
            </a:r>
            <a:r>
              <a:rPr lang="en-US" dirty="0" err="1">
                <a:ea typeface="+mn-lt"/>
                <a:cs typeface="+mn-lt"/>
              </a:rPr>
              <a:t>gz</a:t>
            </a:r>
            <a:endParaRPr lang="en-US">
              <a:ea typeface="+mn-lt"/>
              <a:cs typeface="+mn-lt"/>
            </a:endParaRPr>
          </a:p>
          <a:p>
            <a:r>
              <a:rPr lang="en-US" dirty="0">
                <a:ea typeface="+mn-lt"/>
                <a:cs typeface="+mn-lt"/>
              </a:rPr>
              <a:t>Compress while keeping the file: </a:t>
            </a:r>
            <a:r>
              <a:rPr lang="en-US" dirty="0" err="1">
                <a:ea typeface="+mn-lt"/>
                <a:cs typeface="+mn-lt"/>
              </a:rPr>
              <a:t>gzip</a:t>
            </a:r>
            <a:r>
              <a:rPr lang="en-US" dirty="0">
                <a:ea typeface="+mn-lt"/>
                <a:cs typeface="+mn-lt"/>
              </a:rPr>
              <a:t> –k &lt;filename&gt;</a:t>
            </a:r>
          </a:p>
        </p:txBody>
      </p:sp>
    </p:spTree>
    <p:extLst>
      <p:ext uri="{BB962C8B-B14F-4D97-AF65-F5344CB8AC3E}">
        <p14:creationId xmlns:p14="http://schemas.microsoft.com/office/powerpoint/2010/main" val="3718500162"/>
      </p:ext>
    </p:extLst>
  </p:cSld>
  <p:clrMapOvr>
    <a:masterClrMapping/>
  </p:clrMapOvr>
</p:sld>
</file>

<file path=ppt/theme/theme1.xml><?xml version="1.0" encoding="utf-8"?>
<a:theme xmlns:a="http://schemas.openxmlformats.org/drawingml/2006/main" name="ChronicleVTI">
  <a:themeElements>
    <a:clrScheme name="Chronicle">
      <a:dk1>
        <a:srgbClr val="000000"/>
      </a:dk1>
      <a:lt1>
        <a:srgbClr val="FFFFFF"/>
      </a:lt1>
      <a:dk2>
        <a:srgbClr val="1C1C32"/>
      </a:dk2>
      <a:lt2>
        <a:srgbClr val="F8F4F1"/>
      </a:lt2>
      <a:accent1>
        <a:srgbClr val="734B67"/>
      </a:accent1>
      <a:accent2>
        <a:srgbClr val="959EBB"/>
      </a:accent2>
      <a:accent3>
        <a:srgbClr val="596781"/>
      </a:accent3>
      <a:accent4>
        <a:srgbClr val="7F6E8C"/>
      </a:accent4>
      <a:accent5>
        <a:srgbClr val="DB9A8F"/>
      </a:accent5>
      <a:accent6>
        <a:srgbClr val="C29AB1"/>
      </a:accent6>
      <a:hlink>
        <a:srgbClr val="778BA2"/>
      </a:hlink>
      <a:folHlink>
        <a:srgbClr val="A27C99"/>
      </a:folHlink>
    </a:clrScheme>
    <a:fontScheme name="Univers Calisto">
      <a:majorFont>
        <a:latin typeface="Univers Condensed"/>
        <a:ea typeface=""/>
        <a:cs typeface=""/>
      </a:majorFont>
      <a:minorFont>
        <a:latin typeface="Calisto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ChronicleVTI" id="{508E4D90-5116-4BF0-876B-3F422DD1F65F}" vid="{AA21DC3D-92A8-43A4-8358-ED428371CD55}"/>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50</Slides>
  <Notes>0</Notes>
  <HiddenSlides>0</HiddenSlides>
  <ScaleCrop>false</ScaleCrop>
  <HeadingPairs>
    <vt:vector size="4" baseType="variant">
      <vt:variant>
        <vt:lpstr>Theme</vt:lpstr>
      </vt:variant>
      <vt:variant>
        <vt:i4>1</vt:i4>
      </vt:variant>
      <vt:variant>
        <vt:lpstr>Slide Titles</vt:lpstr>
      </vt:variant>
      <vt:variant>
        <vt:i4>50</vt:i4>
      </vt:variant>
    </vt:vector>
  </HeadingPairs>
  <TitlesOfParts>
    <vt:vector size="51" baseType="lpstr">
      <vt:lpstr>ChronicleVTI</vt:lpstr>
      <vt:lpstr>Linux Fundamentals</vt:lpstr>
      <vt:lpstr>Operating System</vt:lpstr>
      <vt:lpstr>Linux operating system</vt:lpstr>
      <vt:lpstr>Linux distributions</vt:lpstr>
      <vt:lpstr>PowerPoint Presentation</vt:lpstr>
      <vt:lpstr>Comparison of Linux / Windows Operating systems</vt:lpstr>
      <vt:lpstr>Install linux os</vt:lpstr>
      <vt:lpstr>Operating System Concepts</vt:lpstr>
      <vt:lpstr>I/O Management</vt:lpstr>
      <vt:lpstr>Principles of I/o management</vt:lpstr>
      <vt:lpstr>Principles of I/o management</vt:lpstr>
      <vt:lpstr>File system</vt:lpstr>
      <vt:lpstr>File system</vt:lpstr>
      <vt:lpstr>File system https://www.linuxfoundation.org/blog/blog/classic-sysadmin-the-linux-filesystem-explained</vt:lpstr>
      <vt:lpstr>Users and groups</vt:lpstr>
      <vt:lpstr>Main and secondary groups</vt:lpstr>
      <vt:lpstr>Managing group members</vt:lpstr>
      <vt:lpstr>Deleting users and groups</vt:lpstr>
      <vt:lpstr>File permissions and ownership</vt:lpstr>
      <vt:lpstr>Chown and chgrp</vt:lpstr>
      <vt:lpstr>Special permission  types</vt:lpstr>
      <vt:lpstr>Memory and storage</vt:lpstr>
      <vt:lpstr>Processes</vt:lpstr>
      <vt:lpstr>Foreground Process</vt:lpstr>
      <vt:lpstr>Background processes</vt:lpstr>
      <vt:lpstr>Processes</vt:lpstr>
      <vt:lpstr>Posix Standard</vt:lpstr>
      <vt:lpstr>Systems and services</vt:lpstr>
      <vt:lpstr>Systemd</vt:lpstr>
      <vt:lpstr>Linux Shell</vt:lpstr>
      <vt:lpstr>Bash vs shell</vt:lpstr>
      <vt:lpstr>Basic linux commands</vt:lpstr>
      <vt:lpstr>Text editor (vi)</vt:lpstr>
      <vt:lpstr>manpages</vt:lpstr>
      <vt:lpstr>Environment variables</vt:lpstr>
      <vt:lpstr>Types of Environment variables</vt:lpstr>
      <vt:lpstr>Shell Scripts - Basics of Bash Scripting</vt:lpstr>
      <vt:lpstr>Terminal multiplexing</vt:lpstr>
      <vt:lpstr>Package management</vt:lpstr>
      <vt:lpstr>Functionalities of package manager</vt:lpstr>
      <vt:lpstr>Package manager commands (dnf and rpm)</vt:lpstr>
      <vt:lpstr>Scheduling Scripts / Tasks</vt:lpstr>
      <vt:lpstr>Crontab – special strings</vt:lpstr>
      <vt:lpstr>Daemons</vt:lpstr>
      <vt:lpstr>SSH</vt:lpstr>
      <vt:lpstr>SFTP</vt:lpstr>
      <vt:lpstr>SCP</vt:lpstr>
      <vt:lpstr>rsync</vt:lpstr>
      <vt:lpstr>Archiving - tar</vt:lpstr>
      <vt:lpstr>Archiving - gzip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386</cp:revision>
  <dcterms:created xsi:type="dcterms:W3CDTF">2025-12-17T23:53:50Z</dcterms:created>
  <dcterms:modified xsi:type="dcterms:W3CDTF">2026-04-13T14:22:08Z</dcterms:modified>
</cp:coreProperties>
</file>